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9"/>
  </p:notesMasterIdLst>
  <p:sldIdLst>
    <p:sldId id="263" r:id="rId5"/>
    <p:sldId id="553" r:id="rId6"/>
    <p:sldId id="554" r:id="rId7"/>
    <p:sldId id="533" r:id="rId8"/>
    <p:sldId id="540" r:id="rId9"/>
    <p:sldId id="541" r:id="rId10"/>
    <p:sldId id="542" r:id="rId11"/>
    <p:sldId id="543" r:id="rId12"/>
    <p:sldId id="539" r:id="rId13"/>
    <p:sldId id="461" r:id="rId14"/>
    <p:sldId id="549" r:id="rId15"/>
    <p:sldId id="546" r:id="rId16"/>
    <p:sldId id="545" r:id="rId17"/>
    <p:sldId id="547" r:id="rId18"/>
    <p:sldId id="550" r:id="rId19"/>
    <p:sldId id="575" r:id="rId20"/>
    <p:sldId id="551" r:id="rId21"/>
    <p:sldId id="538" r:id="rId22"/>
    <p:sldId id="535" r:id="rId23"/>
    <p:sldId id="562" r:id="rId24"/>
    <p:sldId id="563" r:id="rId25"/>
    <p:sldId id="564" r:id="rId26"/>
    <p:sldId id="557" r:id="rId27"/>
    <p:sldId id="574" r:id="rId28"/>
  </p:sldIdLst>
  <p:sldSz cx="12192000" cy="6858000"/>
  <p:notesSz cx="6858000" cy="9144000"/>
  <p:embeddedFontLst>
    <p:embeddedFont>
      <p:font typeface="Clash Display Medium"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F34"/>
    <a:srgbClr val="4FB9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3"/>
    <p:restoredTop sz="86404"/>
  </p:normalViewPr>
  <p:slideViewPr>
    <p:cSldViewPr snapToGrid="0">
      <p:cViewPr varScale="1">
        <p:scale>
          <a:sx n="75" d="100"/>
          <a:sy n="75" d="100"/>
        </p:scale>
        <p:origin x="101" y="16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0C87BD-76FF-4A89-AEE2-10CD35947F97}" type="doc">
      <dgm:prSet loTypeId="urn:microsoft.com/office/officeart/2005/8/layout/bProcess3" loCatId="process" qsTypeId="urn:microsoft.com/office/officeart/2005/8/quickstyle/simple1" qsCatId="simple" csTypeId="urn:microsoft.com/office/officeart/2005/8/colors/colorful4" csCatId="colorful" phldr="1"/>
      <dgm:spPr/>
      <dgm:t>
        <a:bodyPr/>
        <a:lstStyle/>
        <a:p>
          <a:endParaRPr lang="en-US"/>
        </a:p>
      </dgm:t>
    </dgm:pt>
    <dgm:pt modelId="{FE6B7783-111F-4B6D-A61B-BCF79D04BE4F}">
      <dgm:prSet phldrT="[Text]" custT="1"/>
      <dgm:spPr/>
      <dgm:t>
        <a:bodyPr/>
        <a:lstStyle/>
        <a:p>
          <a:r>
            <a:rPr lang="en-US" sz="1800" b="1" dirty="0"/>
            <a:t>Session 1</a:t>
          </a:r>
        </a:p>
      </dgm:t>
    </dgm:pt>
    <dgm:pt modelId="{E61784B1-D045-4AD3-8A85-B5CDE8260B5E}" type="parTrans" cxnId="{AEBB6ACF-87F9-4678-848E-3C43DA36C676}">
      <dgm:prSet/>
      <dgm:spPr/>
      <dgm:t>
        <a:bodyPr/>
        <a:lstStyle/>
        <a:p>
          <a:endParaRPr lang="en-US" sz="1600"/>
        </a:p>
      </dgm:t>
    </dgm:pt>
    <dgm:pt modelId="{7C2EA532-283C-4665-AC71-1A5F245B8B47}" type="sibTrans" cxnId="{AEBB6ACF-87F9-4678-848E-3C43DA36C676}">
      <dgm:prSet custT="1"/>
      <dgm:spPr/>
      <dgm:t>
        <a:bodyPr/>
        <a:lstStyle/>
        <a:p>
          <a:endParaRPr lang="en-US" sz="1600"/>
        </a:p>
      </dgm:t>
    </dgm:pt>
    <dgm:pt modelId="{B2538F92-A89B-4103-895A-A3DA85E8DA4F}">
      <dgm:prSet phldrT="[Text]" custT="1"/>
      <dgm:spPr/>
      <dgm:t>
        <a:bodyPr/>
        <a:lstStyle/>
        <a:p>
          <a:r>
            <a:rPr lang="en-US" sz="1600" dirty="0"/>
            <a:t>Options</a:t>
          </a:r>
        </a:p>
      </dgm:t>
    </dgm:pt>
    <dgm:pt modelId="{9D96547D-5E4F-4FFC-BFD2-16A4C1214BE3}" type="parTrans" cxnId="{5645D68C-74CB-4095-AE87-31A2ECC62AF6}">
      <dgm:prSet/>
      <dgm:spPr/>
      <dgm:t>
        <a:bodyPr/>
        <a:lstStyle/>
        <a:p>
          <a:endParaRPr lang="en-US" sz="1600"/>
        </a:p>
      </dgm:t>
    </dgm:pt>
    <dgm:pt modelId="{AF7C02C0-C09F-4529-BB4F-2EC8F6B82E58}" type="sibTrans" cxnId="{5645D68C-74CB-4095-AE87-31A2ECC62AF6}">
      <dgm:prSet/>
      <dgm:spPr/>
      <dgm:t>
        <a:bodyPr/>
        <a:lstStyle/>
        <a:p>
          <a:endParaRPr lang="en-US" sz="1600"/>
        </a:p>
      </dgm:t>
    </dgm:pt>
    <dgm:pt modelId="{DC6C252C-2CE1-4543-BD30-ED0998015DA2}">
      <dgm:prSet phldrT="[Text]" custT="1"/>
      <dgm:spPr/>
      <dgm:t>
        <a:bodyPr/>
        <a:lstStyle/>
        <a:p>
          <a:r>
            <a:rPr lang="en-US" sz="1800" b="1" dirty="0"/>
            <a:t>Session 2</a:t>
          </a:r>
        </a:p>
      </dgm:t>
    </dgm:pt>
    <dgm:pt modelId="{9C113365-2900-4F02-B037-CA8A8C00715D}" type="parTrans" cxnId="{09BF696B-FB59-4711-BCB0-29B76F28CC98}">
      <dgm:prSet/>
      <dgm:spPr/>
      <dgm:t>
        <a:bodyPr/>
        <a:lstStyle/>
        <a:p>
          <a:endParaRPr lang="en-US" sz="1600"/>
        </a:p>
      </dgm:t>
    </dgm:pt>
    <dgm:pt modelId="{BCB19C75-BFA2-4021-9EAF-0531CCCC7856}" type="sibTrans" cxnId="{09BF696B-FB59-4711-BCB0-29B76F28CC98}">
      <dgm:prSet custT="1"/>
      <dgm:spPr/>
      <dgm:t>
        <a:bodyPr/>
        <a:lstStyle/>
        <a:p>
          <a:endParaRPr lang="en-US" sz="1600"/>
        </a:p>
      </dgm:t>
    </dgm:pt>
    <dgm:pt modelId="{3BF0FEBA-7EF0-45A1-B865-D1017192808C}">
      <dgm:prSet phldrT="[Text]" custT="1"/>
      <dgm:spPr/>
      <dgm:t>
        <a:bodyPr/>
        <a:lstStyle/>
        <a:p>
          <a:r>
            <a:rPr lang="en-US" sz="1600" dirty="0"/>
            <a:t>Methodology</a:t>
          </a:r>
        </a:p>
      </dgm:t>
    </dgm:pt>
    <dgm:pt modelId="{CD95F407-AC6B-43CC-9231-5A3473856F1D}" type="parTrans" cxnId="{466031CB-A935-4053-82C5-265442CA147E}">
      <dgm:prSet/>
      <dgm:spPr/>
      <dgm:t>
        <a:bodyPr/>
        <a:lstStyle/>
        <a:p>
          <a:endParaRPr lang="en-US" sz="1600"/>
        </a:p>
      </dgm:t>
    </dgm:pt>
    <dgm:pt modelId="{BB378B0A-52FC-46BD-8575-46C375DC7DE1}" type="sibTrans" cxnId="{466031CB-A935-4053-82C5-265442CA147E}">
      <dgm:prSet/>
      <dgm:spPr/>
      <dgm:t>
        <a:bodyPr/>
        <a:lstStyle/>
        <a:p>
          <a:endParaRPr lang="en-US" sz="1600"/>
        </a:p>
      </dgm:t>
    </dgm:pt>
    <dgm:pt modelId="{67BE058C-3DB0-4C32-88E1-986EB61E2D23}">
      <dgm:prSet phldrT="[Text]" custT="1"/>
      <dgm:spPr/>
      <dgm:t>
        <a:bodyPr/>
        <a:lstStyle/>
        <a:p>
          <a:r>
            <a:rPr lang="en-US" sz="1800" b="1" dirty="0"/>
            <a:t>Session 3</a:t>
          </a:r>
        </a:p>
      </dgm:t>
    </dgm:pt>
    <dgm:pt modelId="{0C5B21AF-C39D-4E9E-A780-A62CA2D4B2BE}" type="parTrans" cxnId="{9C8221B5-CE7E-411B-8EC5-C2F307292320}">
      <dgm:prSet/>
      <dgm:spPr/>
      <dgm:t>
        <a:bodyPr/>
        <a:lstStyle/>
        <a:p>
          <a:endParaRPr lang="en-US" sz="1600"/>
        </a:p>
      </dgm:t>
    </dgm:pt>
    <dgm:pt modelId="{467AD228-53DC-4D9A-94E8-C053DDB98BC8}" type="sibTrans" cxnId="{9C8221B5-CE7E-411B-8EC5-C2F307292320}">
      <dgm:prSet custT="1"/>
      <dgm:spPr/>
      <dgm:t>
        <a:bodyPr/>
        <a:lstStyle/>
        <a:p>
          <a:endParaRPr lang="en-US" sz="1600"/>
        </a:p>
      </dgm:t>
    </dgm:pt>
    <dgm:pt modelId="{8F6E812D-34E8-40E0-82AB-AEEBCCB644CF}">
      <dgm:prSet phldrT="[Text]" custT="1"/>
      <dgm:spPr/>
      <dgm:t>
        <a:bodyPr/>
        <a:lstStyle/>
        <a:p>
          <a:r>
            <a:rPr lang="en-US" sz="1800" b="1" dirty="0"/>
            <a:t>Session 4</a:t>
          </a:r>
        </a:p>
      </dgm:t>
    </dgm:pt>
    <dgm:pt modelId="{2458AAFF-4B7B-4D6D-8EC4-8499FCFACBBF}" type="parTrans" cxnId="{7A22ABEC-34CE-41C5-BF38-EE59C7FDD4E0}">
      <dgm:prSet/>
      <dgm:spPr/>
      <dgm:t>
        <a:bodyPr/>
        <a:lstStyle/>
        <a:p>
          <a:endParaRPr lang="en-US" sz="1600"/>
        </a:p>
      </dgm:t>
    </dgm:pt>
    <dgm:pt modelId="{40E2A955-8B22-4815-A3FE-6BD4BCA9C49C}" type="sibTrans" cxnId="{7A22ABEC-34CE-41C5-BF38-EE59C7FDD4E0}">
      <dgm:prSet custT="1"/>
      <dgm:spPr/>
      <dgm:t>
        <a:bodyPr/>
        <a:lstStyle/>
        <a:p>
          <a:endParaRPr lang="en-US" sz="1600"/>
        </a:p>
      </dgm:t>
    </dgm:pt>
    <dgm:pt modelId="{8381BC10-539C-4620-AE89-A6ABB959378E}">
      <dgm:prSet phldrT="[Text]" custT="1"/>
      <dgm:spPr/>
      <dgm:t>
        <a:bodyPr/>
        <a:lstStyle/>
        <a:p>
          <a:r>
            <a:rPr lang="en-US" sz="1800" b="1" dirty="0"/>
            <a:t>Session 5</a:t>
          </a:r>
        </a:p>
      </dgm:t>
    </dgm:pt>
    <dgm:pt modelId="{94CB4E0A-864D-4CA1-8945-95BAF2BB6E0E}" type="parTrans" cxnId="{0DEBE495-3B6A-4AC7-A15A-FF2BD51ED7CB}">
      <dgm:prSet/>
      <dgm:spPr/>
      <dgm:t>
        <a:bodyPr/>
        <a:lstStyle/>
        <a:p>
          <a:endParaRPr lang="en-US" sz="1600"/>
        </a:p>
      </dgm:t>
    </dgm:pt>
    <dgm:pt modelId="{9D54DF3B-98AE-4FB7-9A9C-02D482D3CBDA}" type="sibTrans" cxnId="{0DEBE495-3B6A-4AC7-A15A-FF2BD51ED7CB}">
      <dgm:prSet custT="1"/>
      <dgm:spPr/>
      <dgm:t>
        <a:bodyPr/>
        <a:lstStyle/>
        <a:p>
          <a:endParaRPr lang="en-US" sz="1600"/>
        </a:p>
      </dgm:t>
    </dgm:pt>
    <dgm:pt modelId="{532F1067-0B34-4D34-A95F-DA3C42355F78}">
      <dgm:prSet custT="1"/>
      <dgm:spPr/>
      <dgm:t>
        <a:bodyPr/>
        <a:lstStyle/>
        <a:p>
          <a:r>
            <a:rPr lang="en-US" sz="1600" dirty="0"/>
            <a:t>Literature review /collecting sources</a:t>
          </a:r>
        </a:p>
      </dgm:t>
    </dgm:pt>
    <dgm:pt modelId="{673E9436-EB55-4DF3-9C8A-DFBA27539D36}" type="parTrans" cxnId="{47FBE6AC-6112-4085-860B-BD1EF16AB39B}">
      <dgm:prSet/>
      <dgm:spPr/>
      <dgm:t>
        <a:bodyPr/>
        <a:lstStyle/>
        <a:p>
          <a:endParaRPr lang="en-US" sz="1600"/>
        </a:p>
      </dgm:t>
    </dgm:pt>
    <dgm:pt modelId="{622381A8-88F0-4EBC-A306-C12485588B18}" type="sibTrans" cxnId="{47FBE6AC-6112-4085-860B-BD1EF16AB39B}">
      <dgm:prSet/>
      <dgm:spPr/>
      <dgm:t>
        <a:bodyPr/>
        <a:lstStyle/>
        <a:p>
          <a:endParaRPr lang="en-US" sz="1600"/>
        </a:p>
      </dgm:t>
    </dgm:pt>
    <dgm:pt modelId="{99164F79-CA33-4093-90B3-B1759DC6A1A0}">
      <dgm:prSet custT="1"/>
      <dgm:spPr/>
      <dgm:t>
        <a:bodyPr/>
        <a:lstStyle/>
        <a:p>
          <a:r>
            <a:rPr lang="en-US" sz="1400" dirty="0"/>
            <a:t>Results/Findings </a:t>
          </a:r>
        </a:p>
      </dgm:t>
    </dgm:pt>
    <dgm:pt modelId="{B7B416E2-D4E8-4A2C-83BB-AEEAD0ED1A04}" type="parTrans" cxnId="{DB0E9DDE-2958-4346-BD00-F5F971708AA9}">
      <dgm:prSet/>
      <dgm:spPr/>
      <dgm:t>
        <a:bodyPr/>
        <a:lstStyle/>
        <a:p>
          <a:endParaRPr lang="en-US" sz="1600"/>
        </a:p>
      </dgm:t>
    </dgm:pt>
    <dgm:pt modelId="{3E1A37BA-5559-4CF5-BFD8-DF37C5B9C3FB}" type="sibTrans" cxnId="{DB0E9DDE-2958-4346-BD00-F5F971708AA9}">
      <dgm:prSet/>
      <dgm:spPr/>
      <dgm:t>
        <a:bodyPr/>
        <a:lstStyle/>
        <a:p>
          <a:endParaRPr lang="en-US" sz="1600"/>
        </a:p>
      </dgm:t>
    </dgm:pt>
    <dgm:pt modelId="{C4C6D70B-24A1-4204-86FA-715A203636F7}">
      <dgm:prSet custT="1"/>
      <dgm:spPr/>
      <dgm:t>
        <a:bodyPr/>
        <a:lstStyle/>
        <a:p>
          <a:r>
            <a:rPr lang="en-US" sz="1600" dirty="0"/>
            <a:t>Introduction</a:t>
          </a:r>
        </a:p>
      </dgm:t>
    </dgm:pt>
    <dgm:pt modelId="{9B4604C8-D7E1-4310-B127-00A72BD4850B}" type="parTrans" cxnId="{66902BE4-3962-484A-8430-091C8C96163E}">
      <dgm:prSet/>
      <dgm:spPr/>
      <dgm:t>
        <a:bodyPr/>
        <a:lstStyle/>
        <a:p>
          <a:endParaRPr lang="en-US" sz="1600"/>
        </a:p>
      </dgm:t>
    </dgm:pt>
    <dgm:pt modelId="{5281010C-F69A-404E-95D2-4D93C33A588C}" type="sibTrans" cxnId="{66902BE4-3962-484A-8430-091C8C96163E}">
      <dgm:prSet/>
      <dgm:spPr/>
      <dgm:t>
        <a:bodyPr/>
        <a:lstStyle/>
        <a:p>
          <a:endParaRPr lang="en-US" sz="1600"/>
        </a:p>
      </dgm:t>
    </dgm:pt>
    <dgm:pt modelId="{D23176F8-5C44-4C05-A984-D2A0D7C71485}">
      <dgm:prSet custT="1"/>
      <dgm:spPr/>
      <dgm:t>
        <a:bodyPr/>
        <a:lstStyle/>
        <a:p>
          <a:r>
            <a:rPr lang="en-US" sz="1600" dirty="0"/>
            <a:t>Research instrument</a:t>
          </a:r>
        </a:p>
      </dgm:t>
    </dgm:pt>
    <dgm:pt modelId="{C628F322-D69B-481B-8E66-CFAAAF2BE7CC}" type="parTrans" cxnId="{85E786BF-D7C1-4EAE-BC24-3359AAAE28B1}">
      <dgm:prSet/>
      <dgm:spPr/>
      <dgm:t>
        <a:bodyPr/>
        <a:lstStyle/>
        <a:p>
          <a:endParaRPr lang="en-US"/>
        </a:p>
      </dgm:t>
    </dgm:pt>
    <dgm:pt modelId="{A6485A29-D1F2-4BC5-9241-B2AB010261C5}" type="sibTrans" cxnId="{85E786BF-D7C1-4EAE-BC24-3359AAAE28B1}">
      <dgm:prSet/>
      <dgm:spPr/>
      <dgm:t>
        <a:bodyPr/>
        <a:lstStyle/>
        <a:p>
          <a:endParaRPr lang="en-US"/>
        </a:p>
      </dgm:t>
    </dgm:pt>
    <dgm:pt modelId="{5262C5A7-ED96-4F73-835F-364F68CA0257}">
      <dgm:prSet custT="1"/>
      <dgm:spPr/>
      <dgm:t>
        <a:bodyPr/>
        <a:lstStyle/>
        <a:p>
          <a:r>
            <a:rPr lang="en-US" sz="1400" dirty="0"/>
            <a:t>Discussion </a:t>
          </a:r>
        </a:p>
      </dgm:t>
    </dgm:pt>
    <dgm:pt modelId="{63615404-DCE6-42BA-85C5-745001127747}" type="parTrans" cxnId="{E5CD0458-42C4-4EA8-B2A1-B8F2D911EC2D}">
      <dgm:prSet/>
      <dgm:spPr/>
      <dgm:t>
        <a:bodyPr/>
        <a:lstStyle/>
        <a:p>
          <a:endParaRPr lang="en-US"/>
        </a:p>
      </dgm:t>
    </dgm:pt>
    <dgm:pt modelId="{36628300-D0C0-43E3-AD8A-9D500590F430}" type="sibTrans" cxnId="{E5CD0458-42C4-4EA8-B2A1-B8F2D911EC2D}">
      <dgm:prSet/>
      <dgm:spPr/>
      <dgm:t>
        <a:bodyPr/>
        <a:lstStyle/>
        <a:p>
          <a:endParaRPr lang="en-US"/>
        </a:p>
      </dgm:t>
    </dgm:pt>
    <dgm:pt modelId="{DC0C2942-2EE2-41B6-8652-41CA13896B8D}">
      <dgm:prSet custT="1"/>
      <dgm:spPr/>
      <dgm:t>
        <a:bodyPr/>
        <a:lstStyle/>
        <a:p>
          <a:r>
            <a:rPr lang="en-US" sz="1400" dirty="0"/>
            <a:t>Conclusion</a:t>
          </a:r>
        </a:p>
      </dgm:t>
    </dgm:pt>
    <dgm:pt modelId="{E30E09B9-29F2-48A4-8B1C-C82DB2EE089B}" type="parTrans" cxnId="{4BEEDD01-B4F6-4401-8F5C-7557147964DC}">
      <dgm:prSet/>
      <dgm:spPr/>
      <dgm:t>
        <a:bodyPr/>
        <a:lstStyle/>
        <a:p>
          <a:endParaRPr lang="en-US"/>
        </a:p>
      </dgm:t>
    </dgm:pt>
    <dgm:pt modelId="{7E266C2A-DC70-444C-AF59-EE50AC908759}" type="sibTrans" cxnId="{4BEEDD01-B4F6-4401-8F5C-7557147964DC}">
      <dgm:prSet/>
      <dgm:spPr/>
      <dgm:t>
        <a:bodyPr/>
        <a:lstStyle/>
        <a:p>
          <a:endParaRPr lang="en-US"/>
        </a:p>
      </dgm:t>
    </dgm:pt>
    <dgm:pt modelId="{32149DC9-86C0-427F-BB66-F1B58ED73FC5}">
      <dgm:prSet phldrT="[Text]" custT="1"/>
      <dgm:spPr/>
      <dgm:t>
        <a:bodyPr/>
        <a:lstStyle/>
        <a:p>
          <a:r>
            <a:rPr lang="en-US" sz="1600" dirty="0"/>
            <a:t>Ethics approval</a:t>
          </a:r>
        </a:p>
      </dgm:t>
    </dgm:pt>
    <dgm:pt modelId="{6A5CAF6A-585B-45D2-B650-0AE79DFD1397}" type="parTrans" cxnId="{E7C3836B-A4C8-4406-98B8-6EC425DEAAF2}">
      <dgm:prSet/>
      <dgm:spPr/>
      <dgm:t>
        <a:bodyPr/>
        <a:lstStyle/>
        <a:p>
          <a:endParaRPr lang="en-US"/>
        </a:p>
      </dgm:t>
    </dgm:pt>
    <dgm:pt modelId="{57C507AB-AEAF-4AE0-91D5-881B81ED831A}" type="sibTrans" cxnId="{E7C3836B-A4C8-4406-98B8-6EC425DEAAF2}">
      <dgm:prSet/>
      <dgm:spPr/>
      <dgm:t>
        <a:bodyPr/>
        <a:lstStyle/>
        <a:p>
          <a:endParaRPr lang="en-US"/>
        </a:p>
      </dgm:t>
    </dgm:pt>
    <dgm:pt modelId="{51377A8F-561F-4F8E-8F4A-7F68DC837098}">
      <dgm:prSet custT="1"/>
      <dgm:spPr/>
      <dgm:t>
        <a:bodyPr/>
        <a:lstStyle/>
        <a:p>
          <a:r>
            <a:rPr lang="en-US" sz="1600" dirty="0"/>
            <a:t>Submission Requirements</a:t>
          </a:r>
        </a:p>
      </dgm:t>
    </dgm:pt>
    <dgm:pt modelId="{C73096C6-89C7-4718-9094-B373F39EDDFC}" type="parTrans" cxnId="{27931B52-C0C3-4BA2-9F4E-BCFFE98E09FA}">
      <dgm:prSet/>
      <dgm:spPr/>
      <dgm:t>
        <a:bodyPr/>
        <a:lstStyle/>
        <a:p>
          <a:endParaRPr lang="en-US"/>
        </a:p>
      </dgm:t>
    </dgm:pt>
    <dgm:pt modelId="{66EA7BD4-38C4-4718-BC79-FBCAB1FB3DB2}" type="sibTrans" cxnId="{27931B52-C0C3-4BA2-9F4E-BCFFE98E09FA}">
      <dgm:prSet/>
      <dgm:spPr/>
      <dgm:t>
        <a:bodyPr/>
        <a:lstStyle/>
        <a:p>
          <a:endParaRPr lang="en-US"/>
        </a:p>
      </dgm:t>
    </dgm:pt>
    <dgm:pt modelId="{2B50FFD5-08F0-4ECB-A2CE-08181E61FE77}">
      <dgm:prSet phldrT="[Text]" custT="1"/>
      <dgm:spPr/>
      <dgm:t>
        <a:bodyPr/>
        <a:lstStyle/>
        <a:p>
          <a:r>
            <a:rPr lang="en-US" sz="1800" b="1" dirty="0"/>
            <a:t>Submission</a:t>
          </a:r>
        </a:p>
      </dgm:t>
    </dgm:pt>
    <dgm:pt modelId="{444233F8-C194-42D5-A611-E05112F9958B}" type="sibTrans" cxnId="{20054CF4-D72E-4527-86B7-689B563116DB}">
      <dgm:prSet/>
      <dgm:spPr/>
      <dgm:t>
        <a:bodyPr/>
        <a:lstStyle/>
        <a:p>
          <a:endParaRPr lang="en-US" sz="1600"/>
        </a:p>
      </dgm:t>
    </dgm:pt>
    <dgm:pt modelId="{638613BA-E574-40E0-80B8-B7701A63EF28}" type="parTrans" cxnId="{20054CF4-D72E-4527-86B7-689B563116DB}">
      <dgm:prSet/>
      <dgm:spPr/>
      <dgm:t>
        <a:bodyPr/>
        <a:lstStyle/>
        <a:p>
          <a:endParaRPr lang="en-US" sz="1600"/>
        </a:p>
      </dgm:t>
    </dgm:pt>
    <dgm:pt modelId="{77F6A3AB-C202-4949-B37B-6DBC794BBE30}">
      <dgm:prSet custT="1"/>
      <dgm:spPr/>
      <dgm:t>
        <a:bodyPr/>
        <a:lstStyle/>
        <a:p>
          <a:r>
            <a:rPr lang="en-US" sz="1600" dirty="0"/>
            <a:t>Abstract</a:t>
          </a:r>
        </a:p>
      </dgm:t>
    </dgm:pt>
    <dgm:pt modelId="{0CEECB9D-F12B-4567-A2D5-BB8BA87C6238}" type="parTrans" cxnId="{23F7AED2-C342-43B9-BDD1-B7C5FBC550CB}">
      <dgm:prSet/>
      <dgm:spPr/>
      <dgm:t>
        <a:bodyPr/>
        <a:lstStyle/>
        <a:p>
          <a:endParaRPr lang="en-US"/>
        </a:p>
      </dgm:t>
    </dgm:pt>
    <dgm:pt modelId="{D599E547-009F-4F93-A801-BA0BBD733F48}" type="sibTrans" cxnId="{23F7AED2-C342-43B9-BDD1-B7C5FBC550CB}">
      <dgm:prSet/>
      <dgm:spPr/>
      <dgm:t>
        <a:bodyPr/>
        <a:lstStyle/>
        <a:p>
          <a:endParaRPr lang="en-US"/>
        </a:p>
      </dgm:t>
    </dgm:pt>
    <dgm:pt modelId="{17B8B75C-1B74-4257-A7BE-72A71371F00E}" type="pres">
      <dgm:prSet presAssocID="{240C87BD-76FF-4A89-AEE2-10CD35947F97}" presName="Name0" presStyleCnt="0">
        <dgm:presLayoutVars>
          <dgm:dir/>
          <dgm:resizeHandles val="exact"/>
        </dgm:presLayoutVars>
      </dgm:prSet>
      <dgm:spPr/>
    </dgm:pt>
    <dgm:pt modelId="{27540B33-FE51-4982-A82F-8307DDC9993A}" type="pres">
      <dgm:prSet presAssocID="{FE6B7783-111F-4B6D-A61B-BCF79D04BE4F}" presName="node" presStyleLbl="node1" presStyleIdx="0" presStyleCnt="6" custScaleY="109944">
        <dgm:presLayoutVars>
          <dgm:bulletEnabled val="1"/>
        </dgm:presLayoutVars>
      </dgm:prSet>
      <dgm:spPr/>
    </dgm:pt>
    <dgm:pt modelId="{2AAB8FE3-E27A-4312-A6C1-A618A8329CB9}" type="pres">
      <dgm:prSet presAssocID="{7C2EA532-283C-4665-AC71-1A5F245B8B47}" presName="sibTrans" presStyleLbl="sibTrans1D1" presStyleIdx="0" presStyleCnt="5"/>
      <dgm:spPr/>
    </dgm:pt>
    <dgm:pt modelId="{9A2931C8-CC36-480D-9358-A8D9DBD4B39F}" type="pres">
      <dgm:prSet presAssocID="{7C2EA532-283C-4665-AC71-1A5F245B8B47}" presName="connectorText" presStyleLbl="sibTrans1D1" presStyleIdx="0" presStyleCnt="5"/>
      <dgm:spPr/>
    </dgm:pt>
    <dgm:pt modelId="{26B39143-5E66-4795-B0B7-B4C03AF6C368}" type="pres">
      <dgm:prSet presAssocID="{DC6C252C-2CE1-4543-BD30-ED0998015DA2}" presName="node" presStyleLbl="node1" presStyleIdx="1" presStyleCnt="6" custScaleY="109944">
        <dgm:presLayoutVars>
          <dgm:bulletEnabled val="1"/>
        </dgm:presLayoutVars>
      </dgm:prSet>
      <dgm:spPr/>
    </dgm:pt>
    <dgm:pt modelId="{389E7633-EDB4-4F7F-A892-630B59CB3C36}" type="pres">
      <dgm:prSet presAssocID="{BCB19C75-BFA2-4021-9EAF-0531CCCC7856}" presName="sibTrans" presStyleLbl="sibTrans1D1" presStyleIdx="1" presStyleCnt="5"/>
      <dgm:spPr/>
    </dgm:pt>
    <dgm:pt modelId="{C7F7EBC2-5C17-47B7-A901-8D3BFC057FA2}" type="pres">
      <dgm:prSet presAssocID="{BCB19C75-BFA2-4021-9EAF-0531CCCC7856}" presName="connectorText" presStyleLbl="sibTrans1D1" presStyleIdx="1" presStyleCnt="5"/>
      <dgm:spPr/>
    </dgm:pt>
    <dgm:pt modelId="{E9D565E4-8E5A-414A-85E1-D836986B7049}" type="pres">
      <dgm:prSet presAssocID="{67BE058C-3DB0-4C32-88E1-986EB61E2D23}" presName="node" presStyleLbl="node1" presStyleIdx="2" presStyleCnt="6" custScaleY="109944">
        <dgm:presLayoutVars>
          <dgm:bulletEnabled val="1"/>
        </dgm:presLayoutVars>
      </dgm:prSet>
      <dgm:spPr/>
    </dgm:pt>
    <dgm:pt modelId="{B67A5AFC-2121-4593-BDF3-698D74F8BB16}" type="pres">
      <dgm:prSet presAssocID="{467AD228-53DC-4D9A-94E8-C053DDB98BC8}" presName="sibTrans" presStyleLbl="sibTrans1D1" presStyleIdx="2" presStyleCnt="5"/>
      <dgm:spPr/>
    </dgm:pt>
    <dgm:pt modelId="{B6EDADEE-9004-4010-A302-14B695BDE8EB}" type="pres">
      <dgm:prSet presAssocID="{467AD228-53DC-4D9A-94E8-C053DDB98BC8}" presName="connectorText" presStyleLbl="sibTrans1D1" presStyleIdx="2" presStyleCnt="5"/>
      <dgm:spPr/>
    </dgm:pt>
    <dgm:pt modelId="{7E1747AF-4121-4FEB-B6A4-E82A1E123072}" type="pres">
      <dgm:prSet presAssocID="{8F6E812D-34E8-40E0-82AB-AEEBCCB644CF}" presName="node" presStyleLbl="node1" presStyleIdx="3" presStyleCnt="6" custScaleY="109944">
        <dgm:presLayoutVars>
          <dgm:bulletEnabled val="1"/>
        </dgm:presLayoutVars>
      </dgm:prSet>
      <dgm:spPr/>
    </dgm:pt>
    <dgm:pt modelId="{9D39B651-DD05-4B7A-819F-F27D329C4743}" type="pres">
      <dgm:prSet presAssocID="{40E2A955-8B22-4815-A3FE-6BD4BCA9C49C}" presName="sibTrans" presStyleLbl="sibTrans1D1" presStyleIdx="3" presStyleCnt="5"/>
      <dgm:spPr/>
    </dgm:pt>
    <dgm:pt modelId="{6978980A-8129-410C-83A3-F57B1AE62E40}" type="pres">
      <dgm:prSet presAssocID="{40E2A955-8B22-4815-A3FE-6BD4BCA9C49C}" presName="connectorText" presStyleLbl="sibTrans1D1" presStyleIdx="3" presStyleCnt="5"/>
      <dgm:spPr/>
    </dgm:pt>
    <dgm:pt modelId="{E8440632-A6B6-422D-AA0D-5930A767848A}" type="pres">
      <dgm:prSet presAssocID="{8381BC10-539C-4620-AE89-A6ABB959378E}" presName="node" presStyleLbl="node1" presStyleIdx="4" presStyleCnt="6" custScaleY="109944">
        <dgm:presLayoutVars>
          <dgm:bulletEnabled val="1"/>
        </dgm:presLayoutVars>
      </dgm:prSet>
      <dgm:spPr/>
    </dgm:pt>
    <dgm:pt modelId="{D238337A-EFA1-44FE-9263-E8072E7D6DA5}" type="pres">
      <dgm:prSet presAssocID="{9D54DF3B-98AE-4FB7-9A9C-02D482D3CBDA}" presName="sibTrans" presStyleLbl="sibTrans1D1" presStyleIdx="4" presStyleCnt="5"/>
      <dgm:spPr/>
    </dgm:pt>
    <dgm:pt modelId="{5D32A9FE-AC2A-4266-BFC8-F6439CBA8A54}" type="pres">
      <dgm:prSet presAssocID="{9D54DF3B-98AE-4FB7-9A9C-02D482D3CBDA}" presName="connectorText" presStyleLbl="sibTrans1D1" presStyleIdx="4" presStyleCnt="5"/>
      <dgm:spPr/>
    </dgm:pt>
    <dgm:pt modelId="{C3FF8B1A-6A11-460C-9BC6-D282935A0EEE}" type="pres">
      <dgm:prSet presAssocID="{2B50FFD5-08F0-4ECB-A2CE-08181E61FE77}" presName="node" presStyleLbl="node1" presStyleIdx="5" presStyleCnt="6" custScaleY="109944">
        <dgm:presLayoutVars>
          <dgm:bulletEnabled val="1"/>
        </dgm:presLayoutVars>
      </dgm:prSet>
      <dgm:spPr/>
    </dgm:pt>
  </dgm:ptLst>
  <dgm:cxnLst>
    <dgm:cxn modelId="{4BEEDD01-B4F6-4401-8F5C-7557147964DC}" srcId="{8F6E812D-34E8-40E0-82AB-AEEBCCB644CF}" destId="{DC0C2942-2EE2-41B6-8652-41CA13896B8D}" srcOrd="2" destOrd="0" parTransId="{E30E09B9-29F2-48A4-8B1C-C82DB2EE089B}" sibTransId="{7E266C2A-DC70-444C-AF59-EE50AC908759}"/>
    <dgm:cxn modelId="{A3814223-8A4A-4705-86A8-7A2A86EDD75D}" type="presOf" srcId="{532F1067-0B34-4D34-A95F-DA3C42355F78}" destId="{E9D565E4-8E5A-414A-85E1-D836986B7049}" srcOrd="0" destOrd="1" presId="urn:microsoft.com/office/officeart/2005/8/layout/bProcess3"/>
    <dgm:cxn modelId="{064A9832-E43B-4C9E-B644-F913F546BBA0}" type="presOf" srcId="{DC0C2942-2EE2-41B6-8652-41CA13896B8D}" destId="{7E1747AF-4121-4FEB-B6A4-E82A1E123072}" srcOrd="0" destOrd="3" presId="urn:microsoft.com/office/officeart/2005/8/layout/bProcess3"/>
    <dgm:cxn modelId="{0F8D2138-7DC6-4649-B07E-DE614109B0C6}" type="presOf" srcId="{DC6C252C-2CE1-4543-BD30-ED0998015DA2}" destId="{26B39143-5E66-4795-B0B7-B4C03AF6C368}" srcOrd="0" destOrd="0" presId="urn:microsoft.com/office/officeart/2005/8/layout/bProcess3"/>
    <dgm:cxn modelId="{ACA35E3A-8E77-4A1F-8FE6-3C045FCD3A91}" type="presOf" srcId="{32149DC9-86C0-427F-BB66-F1B58ED73FC5}" destId="{27540B33-FE51-4982-A82F-8307DDC9993A}" srcOrd="0" destOrd="2" presId="urn:microsoft.com/office/officeart/2005/8/layout/bProcess3"/>
    <dgm:cxn modelId="{EA3B713D-6F43-4D91-8DB0-865789CCB084}" type="presOf" srcId="{40E2A955-8B22-4815-A3FE-6BD4BCA9C49C}" destId="{6978980A-8129-410C-83A3-F57B1AE62E40}" srcOrd="1" destOrd="0" presId="urn:microsoft.com/office/officeart/2005/8/layout/bProcess3"/>
    <dgm:cxn modelId="{135C2365-1024-4E45-934A-6996C5E43920}" type="presOf" srcId="{51377A8F-561F-4F8E-8F4A-7F68DC837098}" destId="{E8440632-A6B6-422D-AA0D-5930A767848A}" srcOrd="0" destOrd="3" presId="urn:microsoft.com/office/officeart/2005/8/layout/bProcess3"/>
    <dgm:cxn modelId="{E4529F66-F3B8-4AB3-8EB4-70F9B8E8AECE}" type="presOf" srcId="{467AD228-53DC-4D9A-94E8-C053DDB98BC8}" destId="{B6EDADEE-9004-4010-A302-14B695BDE8EB}" srcOrd="1" destOrd="0" presId="urn:microsoft.com/office/officeart/2005/8/layout/bProcess3"/>
    <dgm:cxn modelId="{2B61EB46-D911-4522-96A0-F5F2AB328E9D}" type="presOf" srcId="{BCB19C75-BFA2-4021-9EAF-0531CCCC7856}" destId="{C7F7EBC2-5C17-47B7-A901-8D3BFC057FA2}" srcOrd="1" destOrd="0" presId="urn:microsoft.com/office/officeart/2005/8/layout/bProcess3"/>
    <dgm:cxn modelId="{778A8368-D7C9-479A-AD84-96E3410F0377}" type="presOf" srcId="{BCB19C75-BFA2-4021-9EAF-0531CCCC7856}" destId="{389E7633-EDB4-4F7F-A892-630B59CB3C36}" srcOrd="0" destOrd="0" presId="urn:microsoft.com/office/officeart/2005/8/layout/bProcess3"/>
    <dgm:cxn modelId="{AF677A69-9588-4E31-9F69-7C1F8959395D}" type="presOf" srcId="{99164F79-CA33-4093-90B3-B1759DC6A1A0}" destId="{7E1747AF-4121-4FEB-B6A4-E82A1E123072}" srcOrd="0" destOrd="1" presId="urn:microsoft.com/office/officeart/2005/8/layout/bProcess3"/>
    <dgm:cxn modelId="{F93F054B-FB22-4E30-9F1F-4E6D94C6A14C}" type="presOf" srcId="{7C2EA532-283C-4665-AC71-1A5F245B8B47}" destId="{2AAB8FE3-E27A-4312-A6C1-A618A8329CB9}" srcOrd="0" destOrd="0" presId="urn:microsoft.com/office/officeart/2005/8/layout/bProcess3"/>
    <dgm:cxn modelId="{09BF696B-FB59-4711-BCB0-29B76F28CC98}" srcId="{240C87BD-76FF-4A89-AEE2-10CD35947F97}" destId="{DC6C252C-2CE1-4543-BD30-ED0998015DA2}" srcOrd="1" destOrd="0" parTransId="{9C113365-2900-4F02-B037-CA8A8C00715D}" sibTransId="{BCB19C75-BFA2-4021-9EAF-0531CCCC7856}"/>
    <dgm:cxn modelId="{E7C3836B-A4C8-4406-98B8-6EC425DEAAF2}" srcId="{FE6B7783-111F-4B6D-A61B-BCF79D04BE4F}" destId="{32149DC9-86C0-427F-BB66-F1B58ED73FC5}" srcOrd="1" destOrd="0" parTransId="{6A5CAF6A-585B-45D2-B650-0AE79DFD1397}" sibTransId="{57C507AB-AEAF-4AE0-91D5-881B81ED831A}"/>
    <dgm:cxn modelId="{27931B52-C0C3-4BA2-9F4E-BCFFE98E09FA}" srcId="{8381BC10-539C-4620-AE89-A6ABB959378E}" destId="{51377A8F-561F-4F8E-8F4A-7F68DC837098}" srcOrd="2" destOrd="0" parTransId="{C73096C6-89C7-4718-9094-B373F39EDDFC}" sibTransId="{66EA7BD4-38C4-4718-BC79-FBCAB1FB3DB2}"/>
    <dgm:cxn modelId="{F2054174-C4D9-46AE-9F2C-42BC628A3A0A}" type="presOf" srcId="{9D54DF3B-98AE-4FB7-9A9C-02D482D3CBDA}" destId="{D238337A-EFA1-44FE-9263-E8072E7D6DA5}" srcOrd="0" destOrd="0" presId="urn:microsoft.com/office/officeart/2005/8/layout/bProcess3"/>
    <dgm:cxn modelId="{E5CD0458-42C4-4EA8-B2A1-B8F2D911EC2D}" srcId="{8F6E812D-34E8-40E0-82AB-AEEBCCB644CF}" destId="{5262C5A7-ED96-4F73-835F-364F68CA0257}" srcOrd="1" destOrd="0" parTransId="{63615404-DCE6-42BA-85C5-745001127747}" sibTransId="{36628300-D0C0-43E3-AD8A-9D500590F430}"/>
    <dgm:cxn modelId="{CB01F378-8811-424A-ADBE-9061AAB294EA}" type="presOf" srcId="{67BE058C-3DB0-4C32-88E1-986EB61E2D23}" destId="{E9D565E4-8E5A-414A-85E1-D836986B7049}" srcOrd="0" destOrd="0" presId="urn:microsoft.com/office/officeart/2005/8/layout/bProcess3"/>
    <dgm:cxn modelId="{63D98D86-510A-4C12-BF1F-E614E40123D4}" type="presOf" srcId="{8381BC10-539C-4620-AE89-A6ABB959378E}" destId="{E8440632-A6B6-422D-AA0D-5930A767848A}" srcOrd="0" destOrd="0" presId="urn:microsoft.com/office/officeart/2005/8/layout/bProcess3"/>
    <dgm:cxn modelId="{BFFDAB89-5D29-4552-A436-627A910EB34E}" type="presOf" srcId="{FE6B7783-111F-4B6D-A61B-BCF79D04BE4F}" destId="{27540B33-FE51-4982-A82F-8307DDC9993A}" srcOrd="0" destOrd="0" presId="urn:microsoft.com/office/officeart/2005/8/layout/bProcess3"/>
    <dgm:cxn modelId="{5645D68C-74CB-4095-AE87-31A2ECC62AF6}" srcId="{FE6B7783-111F-4B6D-A61B-BCF79D04BE4F}" destId="{B2538F92-A89B-4103-895A-A3DA85E8DA4F}" srcOrd="0" destOrd="0" parTransId="{9D96547D-5E4F-4FFC-BFD2-16A4C1214BE3}" sibTransId="{AF7C02C0-C09F-4529-BB4F-2EC8F6B82E58}"/>
    <dgm:cxn modelId="{29552A91-1026-44BE-8A4A-E3A76E47CAE8}" type="presOf" srcId="{3BF0FEBA-7EF0-45A1-B865-D1017192808C}" destId="{26B39143-5E66-4795-B0B7-B4C03AF6C368}" srcOrd="0" destOrd="1" presId="urn:microsoft.com/office/officeart/2005/8/layout/bProcess3"/>
    <dgm:cxn modelId="{0DEBE495-3B6A-4AC7-A15A-FF2BD51ED7CB}" srcId="{240C87BD-76FF-4A89-AEE2-10CD35947F97}" destId="{8381BC10-539C-4620-AE89-A6ABB959378E}" srcOrd="4" destOrd="0" parTransId="{94CB4E0A-864D-4CA1-8945-95BAF2BB6E0E}" sibTransId="{9D54DF3B-98AE-4FB7-9A9C-02D482D3CBDA}"/>
    <dgm:cxn modelId="{B148F39C-B6E7-42DF-B381-4646371E34CD}" type="presOf" srcId="{2B50FFD5-08F0-4ECB-A2CE-08181E61FE77}" destId="{C3FF8B1A-6A11-460C-9BC6-D282935A0EEE}" srcOrd="0" destOrd="0" presId="urn:microsoft.com/office/officeart/2005/8/layout/bProcess3"/>
    <dgm:cxn modelId="{17AC02A7-2FA3-45D9-864F-A7DE64055D01}" type="presOf" srcId="{D23176F8-5C44-4C05-A984-D2A0D7C71485}" destId="{27540B33-FE51-4982-A82F-8307DDC9993A}" srcOrd="0" destOrd="3" presId="urn:microsoft.com/office/officeart/2005/8/layout/bProcess3"/>
    <dgm:cxn modelId="{47FBE6AC-6112-4085-860B-BD1EF16AB39B}" srcId="{67BE058C-3DB0-4C32-88E1-986EB61E2D23}" destId="{532F1067-0B34-4D34-A95F-DA3C42355F78}" srcOrd="0" destOrd="0" parTransId="{673E9436-EB55-4DF3-9C8A-DFBA27539D36}" sibTransId="{622381A8-88F0-4EBC-A306-C12485588B18}"/>
    <dgm:cxn modelId="{9C8221B5-CE7E-411B-8EC5-C2F307292320}" srcId="{240C87BD-76FF-4A89-AEE2-10CD35947F97}" destId="{67BE058C-3DB0-4C32-88E1-986EB61E2D23}" srcOrd="2" destOrd="0" parTransId="{0C5B21AF-C39D-4E9E-A780-A62CA2D4B2BE}" sibTransId="{467AD228-53DC-4D9A-94E8-C053DDB98BC8}"/>
    <dgm:cxn modelId="{FFA307B8-1C01-4714-B189-6D2B07F55FFE}" type="presOf" srcId="{C4C6D70B-24A1-4204-86FA-715A203636F7}" destId="{E8440632-A6B6-422D-AA0D-5930A767848A}" srcOrd="0" destOrd="1" presId="urn:microsoft.com/office/officeart/2005/8/layout/bProcess3"/>
    <dgm:cxn modelId="{8892AABB-901E-431F-A389-9BAE61DE4080}" type="presOf" srcId="{7C2EA532-283C-4665-AC71-1A5F245B8B47}" destId="{9A2931C8-CC36-480D-9358-A8D9DBD4B39F}" srcOrd="1" destOrd="0" presId="urn:microsoft.com/office/officeart/2005/8/layout/bProcess3"/>
    <dgm:cxn modelId="{2FBE1CBE-4D8A-437D-884C-7D69FA0E43BE}" type="presOf" srcId="{9D54DF3B-98AE-4FB7-9A9C-02D482D3CBDA}" destId="{5D32A9FE-AC2A-4266-BFC8-F6439CBA8A54}" srcOrd="1" destOrd="0" presId="urn:microsoft.com/office/officeart/2005/8/layout/bProcess3"/>
    <dgm:cxn modelId="{68AB6EBE-3F97-465E-B9B0-03F8F1340621}" type="presOf" srcId="{8F6E812D-34E8-40E0-82AB-AEEBCCB644CF}" destId="{7E1747AF-4121-4FEB-B6A4-E82A1E123072}" srcOrd="0" destOrd="0" presId="urn:microsoft.com/office/officeart/2005/8/layout/bProcess3"/>
    <dgm:cxn modelId="{85E786BF-D7C1-4EAE-BC24-3359AAAE28B1}" srcId="{FE6B7783-111F-4B6D-A61B-BCF79D04BE4F}" destId="{D23176F8-5C44-4C05-A984-D2A0D7C71485}" srcOrd="2" destOrd="0" parTransId="{C628F322-D69B-481B-8E66-CFAAAF2BE7CC}" sibTransId="{A6485A29-D1F2-4BC5-9241-B2AB010261C5}"/>
    <dgm:cxn modelId="{CD95BEC8-61C7-4C36-91CE-A7282EC6C2A0}" type="presOf" srcId="{40E2A955-8B22-4815-A3FE-6BD4BCA9C49C}" destId="{9D39B651-DD05-4B7A-819F-F27D329C4743}" srcOrd="0" destOrd="0" presId="urn:microsoft.com/office/officeart/2005/8/layout/bProcess3"/>
    <dgm:cxn modelId="{466031CB-A935-4053-82C5-265442CA147E}" srcId="{DC6C252C-2CE1-4543-BD30-ED0998015DA2}" destId="{3BF0FEBA-7EF0-45A1-B865-D1017192808C}" srcOrd="0" destOrd="0" parTransId="{CD95F407-AC6B-43CC-9231-5A3473856F1D}" sibTransId="{BB378B0A-52FC-46BD-8575-46C375DC7DE1}"/>
    <dgm:cxn modelId="{F37394CD-B30D-4660-934E-6F779ED1EB39}" type="presOf" srcId="{5262C5A7-ED96-4F73-835F-364F68CA0257}" destId="{7E1747AF-4121-4FEB-B6A4-E82A1E123072}" srcOrd="0" destOrd="2" presId="urn:microsoft.com/office/officeart/2005/8/layout/bProcess3"/>
    <dgm:cxn modelId="{39E4C8CD-EA87-4F7E-8108-712E3E26EC67}" type="presOf" srcId="{240C87BD-76FF-4A89-AEE2-10CD35947F97}" destId="{17B8B75C-1B74-4257-A7BE-72A71371F00E}" srcOrd="0" destOrd="0" presId="urn:microsoft.com/office/officeart/2005/8/layout/bProcess3"/>
    <dgm:cxn modelId="{AEBB6ACF-87F9-4678-848E-3C43DA36C676}" srcId="{240C87BD-76FF-4A89-AEE2-10CD35947F97}" destId="{FE6B7783-111F-4B6D-A61B-BCF79D04BE4F}" srcOrd="0" destOrd="0" parTransId="{E61784B1-D045-4AD3-8A85-B5CDE8260B5E}" sibTransId="{7C2EA532-283C-4665-AC71-1A5F245B8B47}"/>
    <dgm:cxn modelId="{23F7AED2-C342-43B9-BDD1-B7C5FBC550CB}" srcId="{8381BC10-539C-4620-AE89-A6ABB959378E}" destId="{77F6A3AB-C202-4949-B37B-6DBC794BBE30}" srcOrd="1" destOrd="0" parTransId="{0CEECB9D-F12B-4567-A2D5-BB8BA87C6238}" sibTransId="{D599E547-009F-4F93-A801-BA0BBD733F48}"/>
    <dgm:cxn modelId="{DB0E9DDE-2958-4346-BD00-F5F971708AA9}" srcId="{8F6E812D-34E8-40E0-82AB-AEEBCCB644CF}" destId="{99164F79-CA33-4093-90B3-B1759DC6A1A0}" srcOrd="0" destOrd="0" parTransId="{B7B416E2-D4E8-4A2C-83BB-AEEAD0ED1A04}" sibTransId="{3E1A37BA-5559-4CF5-BFD8-DF37C5B9C3FB}"/>
    <dgm:cxn modelId="{66902BE4-3962-484A-8430-091C8C96163E}" srcId="{8381BC10-539C-4620-AE89-A6ABB959378E}" destId="{C4C6D70B-24A1-4204-86FA-715A203636F7}" srcOrd="0" destOrd="0" parTransId="{9B4604C8-D7E1-4310-B127-00A72BD4850B}" sibTransId="{5281010C-F69A-404E-95D2-4D93C33A588C}"/>
    <dgm:cxn modelId="{7A22ABEC-34CE-41C5-BF38-EE59C7FDD4E0}" srcId="{240C87BD-76FF-4A89-AEE2-10CD35947F97}" destId="{8F6E812D-34E8-40E0-82AB-AEEBCCB644CF}" srcOrd="3" destOrd="0" parTransId="{2458AAFF-4B7B-4D6D-8EC4-8499FCFACBBF}" sibTransId="{40E2A955-8B22-4815-A3FE-6BD4BCA9C49C}"/>
    <dgm:cxn modelId="{FA8925F0-9940-4EEB-9BCB-7C6050967866}" type="presOf" srcId="{B2538F92-A89B-4103-895A-A3DA85E8DA4F}" destId="{27540B33-FE51-4982-A82F-8307DDC9993A}" srcOrd="0" destOrd="1" presId="urn:microsoft.com/office/officeart/2005/8/layout/bProcess3"/>
    <dgm:cxn modelId="{20054CF4-D72E-4527-86B7-689B563116DB}" srcId="{240C87BD-76FF-4A89-AEE2-10CD35947F97}" destId="{2B50FFD5-08F0-4ECB-A2CE-08181E61FE77}" srcOrd="5" destOrd="0" parTransId="{638613BA-E574-40E0-80B8-B7701A63EF28}" sibTransId="{444233F8-C194-42D5-A611-E05112F9958B}"/>
    <dgm:cxn modelId="{DE2572F7-0A08-43A5-8C54-D4A67C0A3D5A}" type="presOf" srcId="{77F6A3AB-C202-4949-B37B-6DBC794BBE30}" destId="{E8440632-A6B6-422D-AA0D-5930A767848A}" srcOrd="0" destOrd="2" presId="urn:microsoft.com/office/officeart/2005/8/layout/bProcess3"/>
    <dgm:cxn modelId="{379861F9-4B90-4A7E-9A36-E3885381385F}" type="presOf" srcId="{467AD228-53DC-4D9A-94E8-C053DDB98BC8}" destId="{B67A5AFC-2121-4593-BDF3-698D74F8BB16}" srcOrd="0" destOrd="0" presId="urn:microsoft.com/office/officeart/2005/8/layout/bProcess3"/>
    <dgm:cxn modelId="{AC22F36A-C3CA-44A5-9680-B7AE6BA5ED48}" type="presParOf" srcId="{17B8B75C-1B74-4257-A7BE-72A71371F00E}" destId="{27540B33-FE51-4982-A82F-8307DDC9993A}" srcOrd="0" destOrd="0" presId="urn:microsoft.com/office/officeart/2005/8/layout/bProcess3"/>
    <dgm:cxn modelId="{E9AD37C3-32C1-4FCC-8B59-18BFA1381238}" type="presParOf" srcId="{17B8B75C-1B74-4257-A7BE-72A71371F00E}" destId="{2AAB8FE3-E27A-4312-A6C1-A618A8329CB9}" srcOrd="1" destOrd="0" presId="urn:microsoft.com/office/officeart/2005/8/layout/bProcess3"/>
    <dgm:cxn modelId="{82A8E07A-68B0-43EB-ADBD-C6275D557AC2}" type="presParOf" srcId="{2AAB8FE3-E27A-4312-A6C1-A618A8329CB9}" destId="{9A2931C8-CC36-480D-9358-A8D9DBD4B39F}" srcOrd="0" destOrd="0" presId="urn:microsoft.com/office/officeart/2005/8/layout/bProcess3"/>
    <dgm:cxn modelId="{D76A96D9-25C1-4E0B-AABC-841E6952C761}" type="presParOf" srcId="{17B8B75C-1B74-4257-A7BE-72A71371F00E}" destId="{26B39143-5E66-4795-B0B7-B4C03AF6C368}" srcOrd="2" destOrd="0" presId="urn:microsoft.com/office/officeart/2005/8/layout/bProcess3"/>
    <dgm:cxn modelId="{7639D749-D449-45FF-AB6A-B3B589C38745}" type="presParOf" srcId="{17B8B75C-1B74-4257-A7BE-72A71371F00E}" destId="{389E7633-EDB4-4F7F-A892-630B59CB3C36}" srcOrd="3" destOrd="0" presId="urn:microsoft.com/office/officeart/2005/8/layout/bProcess3"/>
    <dgm:cxn modelId="{D2A46067-BEAB-4A82-B520-D7C7AAE111FA}" type="presParOf" srcId="{389E7633-EDB4-4F7F-A892-630B59CB3C36}" destId="{C7F7EBC2-5C17-47B7-A901-8D3BFC057FA2}" srcOrd="0" destOrd="0" presId="urn:microsoft.com/office/officeart/2005/8/layout/bProcess3"/>
    <dgm:cxn modelId="{ED8AE444-4D04-4592-89EE-E010C6D2071F}" type="presParOf" srcId="{17B8B75C-1B74-4257-A7BE-72A71371F00E}" destId="{E9D565E4-8E5A-414A-85E1-D836986B7049}" srcOrd="4" destOrd="0" presId="urn:microsoft.com/office/officeart/2005/8/layout/bProcess3"/>
    <dgm:cxn modelId="{95B79D61-DF86-4220-AEBD-96241ACF72CC}" type="presParOf" srcId="{17B8B75C-1B74-4257-A7BE-72A71371F00E}" destId="{B67A5AFC-2121-4593-BDF3-698D74F8BB16}" srcOrd="5" destOrd="0" presId="urn:microsoft.com/office/officeart/2005/8/layout/bProcess3"/>
    <dgm:cxn modelId="{584C6ECF-A000-4621-B5B9-282974E81AF6}" type="presParOf" srcId="{B67A5AFC-2121-4593-BDF3-698D74F8BB16}" destId="{B6EDADEE-9004-4010-A302-14B695BDE8EB}" srcOrd="0" destOrd="0" presId="urn:microsoft.com/office/officeart/2005/8/layout/bProcess3"/>
    <dgm:cxn modelId="{19541E59-FF9F-4A09-A799-F51390256F52}" type="presParOf" srcId="{17B8B75C-1B74-4257-A7BE-72A71371F00E}" destId="{7E1747AF-4121-4FEB-B6A4-E82A1E123072}" srcOrd="6" destOrd="0" presId="urn:microsoft.com/office/officeart/2005/8/layout/bProcess3"/>
    <dgm:cxn modelId="{E17BA3B1-6EC5-42BD-89D6-2DB5DAEE0356}" type="presParOf" srcId="{17B8B75C-1B74-4257-A7BE-72A71371F00E}" destId="{9D39B651-DD05-4B7A-819F-F27D329C4743}" srcOrd="7" destOrd="0" presId="urn:microsoft.com/office/officeart/2005/8/layout/bProcess3"/>
    <dgm:cxn modelId="{80E60DB8-50FC-427F-919F-EC545D5B1C84}" type="presParOf" srcId="{9D39B651-DD05-4B7A-819F-F27D329C4743}" destId="{6978980A-8129-410C-83A3-F57B1AE62E40}" srcOrd="0" destOrd="0" presId="urn:microsoft.com/office/officeart/2005/8/layout/bProcess3"/>
    <dgm:cxn modelId="{6C11F6B8-D416-4B31-9D98-1ED10FF2373C}" type="presParOf" srcId="{17B8B75C-1B74-4257-A7BE-72A71371F00E}" destId="{E8440632-A6B6-422D-AA0D-5930A767848A}" srcOrd="8" destOrd="0" presId="urn:microsoft.com/office/officeart/2005/8/layout/bProcess3"/>
    <dgm:cxn modelId="{B67D6362-CA0C-4ACC-9257-5DA09EDA1949}" type="presParOf" srcId="{17B8B75C-1B74-4257-A7BE-72A71371F00E}" destId="{D238337A-EFA1-44FE-9263-E8072E7D6DA5}" srcOrd="9" destOrd="0" presId="urn:microsoft.com/office/officeart/2005/8/layout/bProcess3"/>
    <dgm:cxn modelId="{013BA33F-CBFC-48BA-BE4F-6A202612585E}" type="presParOf" srcId="{D238337A-EFA1-44FE-9263-E8072E7D6DA5}" destId="{5D32A9FE-AC2A-4266-BFC8-F6439CBA8A54}" srcOrd="0" destOrd="0" presId="urn:microsoft.com/office/officeart/2005/8/layout/bProcess3"/>
    <dgm:cxn modelId="{51535272-896F-473F-89A2-7B7AD8506A8E}" type="presParOf" srcId="{17B8B75C-1B74-4257-A7BE-72A71371F00E}" destId="{C3FF8B1A-6A11-460C-9BC6-D282935A0EEE}" srcOrd="1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AB8FE3-E27A-4312-A6C1-A618A8329CB9}">
      <dsp:nvSpPr>
        <dsp:cNvPr id="0" name=""/>
        <dsp:cNvSpPr/>
      </dsp:nvSpPr>
      <dsp:spPr>
        <a:xfrm>
          <a:off x="2409870" y="1234388"/>
          <a:ext cx="521681" cy="91440"/>
        </a:xfrm>
        <a:custGeom>
          <a:avLst/>
          <a:gdLst/>
          <a:ahLst/>
          <a:cxnLst/>
          <a:rect l="0" t="0" r="0" b="0"/>
          <a:pathLst>
            <a:path>
              <a:moveTo>
                <a:pt x="0" y="45720"/>
              </a:moveTo>
              <a:lnTo>
                <a:pt x="521681"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2656903" y="1277343"/>
        <a:ext cx="27614" cy="5528"/>
      </dsp:txXfrm>
    </dsp:sp>
    <dsp:sp modelId="{27540B33-FE51-4982-A82F-8307DDC9993A}">
      <dsp:nvSpPr>
        <dsp:cNvPr id="0" name=""/>
        <dsp:cNvSpPr/>
      </dsp:nvSpPr>
      <dsp:spPr>
        <a:xfrm>
          <a:off x="10445" y="488107"/>
          <a:ext cx="2401224" cy="158400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l" defTabSz="800100">
            <a:lnSpc>
              <a:spcPct val="90000"/>
            </a:lnSpc>
            <a:spcBef>
              <a:spcPct val="0"/>
            </a:spcBef>
            <a:spcAft>
              <a:spcPct val="35000"/>
            </a:spcAft>
            <a:buNone/>
          </a:pPr>
          <a:r>
            <a:rPr lang="en-US" sz="1800" b="1" kern="1200" dirty="0"/>
            <a:t>Session 1</a:t>
          </a:r>
        </a:p>
        <a:p>
          <a:pPr marL="171450" lvl="1" indent="-171450" algn="l" defTabSz="711200">
            <a:lnSpc>
              <a:spcPct val="90000"/>
            </a:lnSpc>
            <a:spcBef>
              <a:spcPct val="0"/>
            </a:spcBef>
            <a:spcAft>
              <a:spcPct val="15000"/>
            </a:spcAft>
            <a:buChar char="•"/>
          </a:pPr>
          <a:r>
            <a:rPr lang="en-US" sz="1600" kern="1200" dirty="0"/>
            <a:t>Options</a:t>
          </a:r>
        </a:p>
        <a:p>
          <a:pPr marL="171450" lvl="1" indent="-171450" algn="l" defTabSz="711200">
            <a:lnSpc>
              <a:spcPct val="90000"/>
            </a:lnSpc>
            <a:spcBef>
              <a:spcPct val="0"/>
            </a:spcBef>
            <a:spcAft>
              <a:spcPct val="15000"/>
            </a:spcAft>
            <a:buChar char="•"/>
          </a:pPr>
          <a:r>
            <a:rPr lang="en-US" sz="1600" kern="1200" dirty="0"/>
            <a:t>Ethics approval</a:t>
          </a:r>
        </a:p>
        <a:p>
          <a:pPr marL="171450" lvl="1" indent="-171450" algn="l" defTabSz="711200">
            <a:lnSpc>
              <a:spcPct val="90000"/>
            </a:lnSpc>
            <a:spcBef>
              <a:spcPct val="0"/>
            </a:spcBef>
            <a:spcAft>
              <a:spcPct val="15000"/>
            </a:spcAft>
            <a:buChar char="•"/>
          </a:pPr>
          <a:r>
            <a:rPr lang="en-US" sz="1600" kern="1200" dirty="0"/>
            <a:t>Research instrument</a:t>
          </a:r>
        </a:p>
      </dsp:txBody>
      <dsp:txXfrm>
        <a:off x="10445" y="488107"/>
        <a:ext cx="2401224" cy="1584001"/>
      </dsp:txXfrm>
    </dsp:sp>
    <dsp:sp modelId="{389E7633-EDB4-4F7F-A892-630B59CB3C36}">
      <dsp:nvSpPr>
        <dsp:cNvPr id="0" name=""/>
        <dsp:cNvSpPr/>
      </dsp:nvSpPr>
      <dsp:spPr>
        <a:xfrm>
          <a:off x="5363376" y="1234388"/>
          <a:ext cx="521681" cy="91440"/>
        </a:xfrm>
        <a:custGeom>
          <a:avLst/>
          <a:gdLst/>
          <a:ahLst/>
          <a:cxnLst/>
          <a:rect l="0" t="0" r="0" b="0"/>
          <a:pathLst>
            <a:path>
              <a:moveTo>
                <a:pt x="0" y="45720"/>
              </a:moveTo>
              <a:lnTo>
                <a:pt x="521681" y="45720"/>
              </a:lnTo>
            </a:path>
          </a:pathLst>
        </a:custGeom>
        <a:noFill/>
        <a:ln w="6350" cap="flat" cmpd="sng" algn="ctr">
          <a:solidFill>
            <a:schemeClr val="accent4">
              <a:hueOff val="2450223"/>
              <a:satOff val="-10194"/>
              <a:lumOff val="240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5610409" y="1277343"/>
        <a:ext cx="27614" cy="5528"/>
      </dsp:txXfrm>
    </dsp:sp>
    <dsp:sp modelId="{26B39143-5E66-4795-B0B7-B4C03AF6C368}">
      <dsp:nvSpPr>
        <dsp:cNvPr id="0" name=""/>
        <dsp:cNvSpPr/>
      </dsp:nvSpPr>
      <dsp:spPr>
        <a:xfrm>
          <a:off x="2963951" y="488107"/>
          <a:ext cx="2401224" cy="1584001"/>
        </a:xfrm>
        <a:prstGeom prst="rect">
          <a:avLst/>
        </a:prstGeom>
        <a:solidFill>
          <a:schemeClr val="accent4">
            <a:hueOff val="1960178"/>
            <a:satOff val="-8155"/>
            <a:lumOff val="1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l" defTabSz="800100">
            <a:lnSpc>
              <a:spcPct val="90000"/>
            </a:lnSpc>
            <a:spcBef>
              <a:spcPct val="0"/>
            </a:spcBef>
            <a:spcAft>
              <a:spcPct val="35000"/>
            </a:spcAft>
            <a:buNone/>
          </a:pPr>
          <a:r>
            <a:rPr lang="en-US" sz="1800" b="1" kern="1200" dirty="0"/>
            <a:t>Session 2</a:t>
          </a:r>
        </a:p>
        <a:p>
          <a:pPr marL="171450" lvl="1" indent="-171450" algn="l" defTabSz="711200">
            <a:lnSpc>
              <a:spcPct val="90000"/>
            </a:lnSpc>
            <a:spcBef>
              <a:spcPct val="0"/>
            </a:spcBef>
            <a:spcAft>
              <a:spcPct val="15000"/>
            </a:spcAft>
            <a:buChar char="•"/>
          </a:pPr>
          <a:r>
            <a:rPr lang="en-US" sz="1600" kern="1200" dirty="0"/>
            <a:t>Methodology</a:t>
          </a:r>
        </a:p>
      </dsp:txBody>
      <dsp:txXfrm>
        <a:off x="2963951" y="488107"/>
        <a:ext cx="2401224" cy="1584001"/>
      </dsp:txXfrm>
    </dsp:sp>
    <dsp:sp modelId="{B67A5AFC-2121-4593-BDF3-698D74F8BB16}">
      <dsp:nvSpPr>
        <dsp:cNvPr id="0" name=""/>
        <dsp:cNvSpPr/>
      </dsp:nvSpPr>
      <dsp:spPr>
        <a:xfrm>
          <a:off x="1211058" y="2070308"/>
          <a:ext cx="5907011" cy="521681"/>
        </a:xfrm>
        <a:custGeom>
          <a:avLst/>
          <a:gdLst/>
          <a:ahLst/>
          <a:cxnLst/>
          <a:rect l="0" t="0" r="0" b="0"/>
          <a:pathLst>
            <a:path>
              <a:moveTo>
                <a:pt x="5907011" y="0"/>
              </a:moveTo>
              <a:lnTo>
                <a:pt x="5907011" y="277940"/>
              </a:lnTo>
              <a:lnTo>
                <a:pt x="0" y="277940"/>
              </a:lnTo>
              <a:lnTo>
                <a:pt x="0" y="521681"/>
              </a:lnTo>
            </a:path>
          </a:pathLst>
        </a:custGeom>
        <a:noFill/>
        <a:ln w="6350" cap="flat" cmpd="sng" algn="ctr">
          <a:solidFill>
            <a:schemeClr val="accent4">
              <a:hueOff val="4900445"/>
              <a:satOff val="-20388"/>
              <a:lumOff val="480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016244" y="2328385"/>
        <a:ext cx="296638" cy="5528"/>
      </dsp:txXfrm>
    </dsp:sp>
    <dsp:sp modelId="{E9D565E4-8E5A-414A-85E1-D836986B7049}">
      <dsp:nvSpPr>
        <dsp:cNvPr id="0" name=""/>
        <dsp:cNvSpPr/>
      </dsp:nvSpPr>
      <dsp:spPr>
        <a:xfrm>
          <a:off x="5917457" y="488107"/>
          <a:ext cx="2401224" cy="1584001"/>
        </a:xfrm>
        <a:prstGeom prst="rect">
          <a:avLst/>
        </a:prstGeom>
        <a:solidFill>
          <a:schemeClr val="accent4">
            <a:hueOff val="3920356"/>
            <a:satOff val="-16311"/>
            <a:lumOff val="3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l" defTabSz="800100">
            <a:lnSpc>
              <a:spcPct val="90000"/>
            </a:lnSpc>
            <a:spcBef>
              <a:spcPct val="0"/>
            </a:spcBef>
            <a:spcAft>
              <a:spcPct val="35000"/>
            </a:spcAft>
            <a:buNone/>
          </a:pPr>
          <a:r>
            <a:rPr lang="en-US" sz="1800" b="1" kern="1200" dirty="0"/>
            <a:t>Session 3</a:t>
          </a:r>
        </a:p>
        <a:p>
          <a:pPr marL="171450" lvl="1" indent="-171450" algn="l" defTabSz="711200">
            <a:lnSpc>
              <a:spcPct val="90000"/>
            </a:lnSpc>
            <a:spcBef>
              <a:spcPct val="0"/>
            </a:spcBef>
            <a:spcAft>
              <a:spcPct val="15000"/>
            </a:spcAft>
            <a:buChar char="•"/>
          </a:pPr>
          <a:r>
            <a:rPr lang="en-US" sz="1600" kern="1200" dirty="0"/>
            <a:t>Literature review /collecting sources</a:t>
          </a:r>
        </a:p>
      </dsp:txBody>
      <dsp:txXfrm>
        <a:off x="5917457" y="488107"/>
        <a:ext cx="2401224" cy="1584001"/>
      </dsp:txXfrm>
    </dsp:sp>
    <dsp:sp modelId="{9D39B651-DD05-4B7A-819F-F27D329C4743}">
      <dsp:nvSpPr>
        <dsp:cNvPr id="0" name=""/>
        <dsp:cNvSpPr/>
      </dsp:nvSpPr>
      <dsp:spPr>
        <a:xfrm>
          <a:off x="2409870" y="3370670"/>
          <a:ext cx="521681" cy="91440"/>
        </a:xfrm>
        <a:custGeom>
          <a:avLst/>
          <a:gdLst/>
          <a:ahLst/>
          <a:cxnLst/>
          <a:rect l="0" t="0" r="0" b="0"/>
          <a:pathLst>
            <a:path>
              <a:moveTo>
                <a:pt x="0" y="45720"/>
              </a:moveTo>
              <a:lnTo>
                <a:pt x="521681" y="45720"/>
              </a:lnTo>
            </a:path>
          </a:pathLst>
        </a:custGeom>
        <a:noFill/>
        <a:ln w="6350" cap="flat" cmpd="sng" algn="ctr">
          <a:solidFill>
            <a:schemeClr val="accent4">
              <a:hueOff val="7350668"/>
              <a:satOff val="-30583"/>
              <a:lumOff val="720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2656903" y="3413626"/>
        <a:ext cx="27614" cy="5528"/>
      </dsp:txXfrm>
    </dsp:sp>
    <dsp:sp modelId="{7E1747AF-4121-4FEB-B6A4-E82A1E123072}">
      <dsp:nvSpPr>
        <dsp:cNvPr id="0" name=""/>
        <dsp:cNvSpPr/>
      </dsp:nvSpPr>
      <dsp:spPr>
        <a:xfrm>
          <a:off x="10445" y="2624390"/>
          <a:ext cx="2401224" cy="1584001"/>
        </a:xfrm>
        <a:prstGeom prst="rect">
          <a:avLst/>
        </a:prstGeom>
        <a:solidFill>
          <a:schemeClr val="accent4">
            <a:hueOff val="5880535"/>
            <a:satOff val="-24466"/>
            <a:lumOff val="5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l" defTabSz="800100">
            <a:lnSpc>
              <a:spcPct val="90000"/>
            </a:lnSpc>
            <a:spcBef>
              <a:spcPct val="0"/>
            </a:spcBef>
            <a:spcAft>
              <a:spcPct val="35000"/>
            </a:spcAft>
            <a:buNone/>
          </a:pPr>
          <a:r>
            <a:rPr lang="en-US" sz="1800" b="1" kern="1200" dirty="0"/>
            <a:t>Session 4</a:t>
          </a:r>
        </a:p>
        <a:p>
          <a:pPr marL="114300" lvl="1" indent="-114300" algn="l" defTabSz="622300">
            <a:lnSpc>
              <a:spcPct val="90000"/>
            </a:lnSpc>
            <a:spcBef>
              <a:spcPct val="0"/>
            </a:spcBef>
            <a:spcAft>
              <a:spcPct val="15000"/>
            </a:spcAft>
            <a:buChar char="•"/>
          </a:pPr>
          <a:r>
            <a:rPr lang="en-US" sz="1400" kern="1200" dirty="0"/>
            <a:t>Results/Findings </a:t>
          </a:r>
        </a:p>
        <a:p>
          <a:pPr marL="114300" lvl="1" indent="-114300" algn="l" defTabSz="622300">
            <a:lnSpc>
              <a:spcPct val="90000"/>
            </a:lnSpc>
            <a:spcBef>
              <a:spcPct val="0"/>
            </a:spcBef>
            <a:spcAft>
              <a:spcPct val="15000"/>
            </a:spcAft>
            <a:buChar char="•"/>
          </a:pPr>
          <a:r>
            <a:rPr lang="en-US" sz="1400" kern="1200" dirty="0"/>
            <a:t>Discussion </a:t>
          </a:r>
        </a:p>
        <a:p>
          <a:pPr marL="114300" lvl="1" indent="-114300" algn="l" defTabSz="622300">
            <a:lnSpc>
              <a:spcPct val="90000"/>
            </a:lnSpc>
            <a:spcBef>
              <a:spcPct val="0"/>
            </a:spcBef>
            <a:spcAft>
              <a:spcPct val="15000"/>
            </a:spcAft>
            <a:buChar char="•"/>
          </a:pPr>
          <a:r>
            <a:rPr lang="en-US" sz="1400" kern="1200" dirty="0"/>
            <a:t>Conclusion</a:t>
          </a:r>
        </a:p>
      </dsp:txBody>
      <dsp:txXfrm>
        <a:off x="10445" y="2624390"/>
        <a:ext cx="2401224" cy="1584001"/>
      </dsp:txXfrm>
    </dsp:sp>
    <dsp:sp modelId="{D238337A-EFA1-44FE-9263-E8072E7D6DA5}">
      <dsp:nvSpPr>
        <dsp:cNvPr id="0" name=""/>
        <dsp:cNvSpPr/>
      </dsp:nvSpPr>
      <dsp:spPr>
        <a:xfrm>
          <a:off x="5363376" y="3370670"/>
          <a:ext cx="521681" cy="91440"/>
        </a:xfrm>
        <a:custGeom>
          <a:avLst/>
          <a:gdLst/>
          <a:ahLst/>
          <a:cxnLst/>
          <a:rect l="0" t="0" r="0" b="0"/>
          <a:pathLst>
            <a:path>
              <a:moveTo>
                <a:pt x="0" y="45720"/>
              </a:moveTo>
              <a:lnTo>
                <a:pt x="521681" y="45720"/>
              </a:lnTo>
            </a:path>
          </a:pathLst>
        </a:custGeom>
        <a:noFill/>
        <a:ln w="6350" cap="flat" cmpd="sng" algn="ctr">
          <a:solidFill>
            <a:schemeClr val="accent4">
              <a:hueOff val="9800891"/>
              <a:satOff val="-40777"/>
              <a:lumOff val="960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5610409" y="3413626"/>
        <a:ext cx="27614" cy="5528"/>
      </dsp:txXfrm>
    </dsp:sp>
    <dsp:sp modelId="{E8440632-A6B6-422D-AA0D-5930A767848A}">
      <dsp:nvSpPr>
        <dsp:cNvPr id="0" name=""/>
        <dsp:cNvSpPr/>
      </dsp:nvSpPr>
      <dsp:spPr>
        <a:xfrm>
          <a:off x="2963951" y="2624390"/>
          <a:ext cx="2401224" cy="1584001"/>
        </a:xfrm>
        <a:prstGeom prst="rect">
          <a:avLst/>
        </a:prstGeom>
        <a:solidFill>
          <a:schemeClr val="accent4">
            <a:hueOff val="7840713"/>
            <a:satOff val="-32622"/>
            <a:lumOff val="76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l" defTabSz="800100">
            <a:lnSpc>
              <a:spcPct val="90000"/>
            </a:lnSpc>
            <a:spcBef>
              <a:spcPct val="0"/>
            </a:spcBef>
            <a:spcAft>
              <a:spcPct val="35000"/>
            </a:spcAft>
            <a:buNone/>
          </a:pPr>
          <a:r>
            <a:rPr lang="en-US" sz="1800" b="1" kern="1200" dirty="0"/>
            <a:t>Session 5</a:t>
          </a:r>
        </a:p>
        <a:p>
          <a:pPr marL="171450" lvl="1" indent="-171450" algn="l" defTabSz="711200">
            <a:lnSpc>
              <a:spcPct val="90000"/>
            </a:lnSpc>
            <a:spcBef>
              <a:spcPct val="0"/>
            </a:spcBef>
            <a:spcAft>
              <a:spcPct val="15000"/>
            </a:spcAft>
            <a:buChar char="•"/>
          </a:pPr>
          <a:r>
            <a:rPr lang="en-US" sz="1600" kern="1200" dirty="0"/>
            <a:t>Introduction</a:t>
          </a:r>
        </a:p>
        <a:p>
          <a:pPr marL="171450" lvl="1" indent="-171450" algn="l" defTabSz="711200">
            <a:lnSpc>
              <a:spcPct val="90000"/>
            </a:lnSpc>
            <a:spcBef>
              <a:spcPct val="0"/>
            </a:spcBef>
            <a:spcAft>
              <a:spcPct val="15000"/>
            </a:spcAft>
            <a:buChar char="•"/>
          </a:pPr>
          <a:r>
            <a:rPr lang="en-US" sz="1600" kern="1200" dirty="0"/>
            <a:t>Abstract</a:t>
          </a:r>
        </a:p>
        <a:p>
          <a:pPr marL="171450" lvl="1" indent="-171450" algn="l" defTabSz="711200">
            <a:lnSpc>
              <a:spcPct val="90000"/>
            </a:lnSpc>
            <a:spcBef>
              <a:spcPct val="0"/>
            </a:spcBef>
            <a:spcAft>
              <a:spcPct val="15000"/>
            </a:spcAft>
            <a:buChar char="•"/>
          </a:pPr>
          <a:r>
            <a:rPr lang="en-US" sz="1600" kern="1200" dirty="0"/>
            <a:t>Submission Requirements</a:t>
          </a:r>
        </a:p>
      </dsp:txBody>
      <dsp:txXfrm>
        <a:off x="2963951" y="2624390"/>
        <a:ext cx="2401224" cy="1584001"/>
      </dsp:txXfrm>
    </dsp:sp>
    <dsp:sp modelId="{C3FF8B1A-6A11-460C-9BC6-D282935A0EEE}">
      <dsp:nvSpPr>
        <dsp:cNvPr id="0" name=""/>
        <dsp:cNvSpPr/>
      </dsp:nvSpPr>
      <dsp:spPr>
        <a:xfrm>
          <a:off x="5917457" y="2624390"/>
          <a:ext cx="2401224" cy="1584001"/>
        </a:xfrm>
        <a:prstGeom prst="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Submission</a:t>
          </a:r>
        </a:p>
      </dsp:txBody>
      <dsp:txXfrm>
        <a:off x="5917457" y="2624390"/>
        <a:ext cx="2401224" cy="1584001"/>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383D5C-94B4-8240-A09B-0F3DC9CAF279}" type="datetimeFigureOut">
              <a:rPr lang="en-US" smtClean="0"/>
              <a:t>10/22/2025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DEDD7C-BBA9-784C-9AEE-51BD322755F2}" type="slidenum">
              <a:rPr lang="en-US" smtClean="0"/>
              <a:t>‹#›</a:t>
            </a:fld>
            <a:endParaRPr lang="en-US"/>
          </a:p>
        </p:txBody>
      </p:sp>
    </p:spTree>
    <p:extLst>
      <p:ext uri="{BB962C8B-B14F-4D97-AF65-F5344CB8AC3E}">
        <p14:creationId xmlns:p14="http://schemas.microsoft.com/office/powerpoint/2010/main" val="55077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your online lecture for March 2025. In this lecture we will be focusing on your literature chapter of the dissertation. You should be watching this lecture at the very beginning of March so as to be able to start the work and present to your supervisor in your March supervision session.</a:t>
            </a:r>
          </a:p>
        </p:txBody>
      </p:sp>
      <p:sp>
        <p:nvSpPr>
          <p:cNvPr id="4" name="Slide Number Placeholder 3"/>
          <p:cNvSpPr>
            <a:spLocks noGrp="1"/>
          </p:cNvSpPr>
          <p:nvPr>
            <p:ph type="sldNum" sz="quarter" idx="5"/>
          </p:nvPr>
        </p:nvSpPr>
        <p:spPr/>
        <p:txBody>
          <a:bodyPr/>
          <a:lstStyle/>
          <a:p>
            <a:fld id="{A4DEDD7C-BBA9-784C-9AEE-51BD322755F2}" type="slidenum">
              <a:rPr lang="en-US" smtClean="0"/>
              <a:t>1</a:t>
            </a:fld>
            <a:endParaRPr lang="en-US"/>
          </a:p>
        </p:txBody>
      </p:sp>
    </p:spTree>
    <p:extLst>
      <p:ext uri="{BB962C8B-B14F-4D97-AF65-F5344CB8AC3E}">
        <p14:creationId xmlns:p14="http://schemas.microsoft.com/office/powerpoint/2010/main" val="2648094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now you should have fully agreed the research study option you are going to pursue with your supervisor, be reaching the point or have already obtained ethical approval for your study and be nearing the completion of your draft methodology chapter.</a:t>
            </a:r>
          </a:p>
          <a:p>
            <a:endParaRPr lang="en-US" dirty="0"/>
          </a:p>
          <a:p>
            <a:r>
              <a:rPr lang="en-US" dirty="0"/>
              <a:t>Just to remind you of the clear distinction between a </a:t>
            </a:r>
            <a:r>
              <a:rPr lang="en-US" dirty="0">
                <a:highlight>
                  <a:srgbClr val="FFFF00"/>
                </a:highlight>
              </a:rPr>
              <a:t>project-based research study </a:t>
            </a:r>
            <a:r>
              <a:rPr lang="en-US" dirty="0"/>
              <a:t>- where you collect sources (i.e., journal articles) and undertake secondary data analysis on the sustainability agenda for a specific industry in accordance with the tasks set out in the project brief and an </a:t>
            </a:r>
            <a:r>
              <a:rPr lang="en-US" dirty="0">
                <a:highlight>
                  <a:srgbClr val="00FF00"/>
                </a:highlight>
              </a:rPr>
              <a:t>empirical-based research study </a:t>
            </a:r>
            <a:r>
              <a:rPr lang="en-US" dirty="0"/>
              <a:t>- where you are designing your own study and collect </a:t>
            </a:r>
            <a:r>
              <a:rPr lang="en-GB" dirty="0"/>
              <a:t>existing secondary data (for example, the corporate social responsibility reports for 50 fashion retailers) or primary data from your own selected participants.</a:t>
            </a:r>
            <a:endParaRPr lang="en-US" dirty="0"/>
          </a:p>
          <a:p>
            <a:endParaRPr lang="en-US" dirty="0"/>
          </a:p>
          <a:p>
            <a:r>
              <a:rPr lang="en-GB" dirty="0"/>
              <a:t>For students undertaking an Empirical Study, as a rule of thumb, your choice of topic will inform what you will do.  If you are focusing on one organisation you </a:t>
            </a:r>
            <a:r>
              <a:rPr lang="en-GB" b="0" dirty="0"/>
              <a:t>should</a:t>
            </a:r>
            <a:r>
              <a:rPr lang="en-GB" b="1" dirty="0"/>
              <a:t> </a:t>
            </a:r>
            <a:r>
              <a:rPr lang="en-GB" dirty="0"/>
              <a:t>be collecting primary data; if you are planning to use </a:t>
            </a:r>
            <a:r>
              <a:rPr lang="en-US" dirty="0"/>
              <a:t>empirical </a:t>
            </a:r>
            <a:r>
              <a:rPr lang="en-GB" dirty="0"/>
              <a:t>secondary data, it is more likely that data will be available at an industry level. The converse is also true: it will be a big challenge to collect enough primary empirical data to adequately represent the interests of a whole sector</a:t>
            </a:r>
          </a:p>
          <a:p>
            <a:endParaRPr lang="en-GB" dirty="0"/>
          </a:p>
          <a:p>
            <a:r>
              <a:rPr lang="en-GB" dirty="0"/>
              <a:t>Students undertaking Project have a separate section on Moodle and have already submitted their first draft of the literature review which they are using to inform the background and context for their own projects. These reviews will be refined as more knowledge of academic literature is gained through their subsequent project tasks.</a:t>
            </a:r>
          </a:p>
          <a:p>
            <a:endParaRPr lang="en-GB" dirty="0"/>
          </a:p>
          <a:p>
            <a:endParaRPr lang="en-GB" dirty="0"/>
          </a:p>
          <a:p>
            <a:r>
              <a:rPr lang="en-GB" dirty="0"/>
              <a:t>Remember each option has its own brief and its own dissertation template.  Make sure to use the correct template for your draft submission. Remember there are no extensions for draft submissions, you complete the submission based on your progress as of the submission deadlines. </a:t>
            </a:r>
          </a:p>
        </p:txBody>
      </p:sp>
      <p:sp>
        <p:nvSpPr>
          <p:cNvPr id="4" name="Slide Number Placeholder 3"/>
          <p:cNvSpPr>
            <a:spLocks noGrp="1"/>
          </p:cNvSpPr>
          <p:nvPr>
            <p:ph type="sldNum" sz="quarter" idx="5"/>
          </p:nvPr>
        </p:nvSpPr>
        <p:spPr/>
        <p:txBody>
          <a:bodyPr/>
          <a:lstStyle/>
          <a:p>
            <a:fld id="{511295A1-5E39-F74B-9AF8-46A80968C18B}" type="slidenum">
              <a:rPr lang="en-US" smtClean="0"/>
              <a:t>2</a:t>
            </a:fld>
            <a:endParaRPr lang="en-US" dirty="0"/>
          </a:p>
        </p:txBody>
      </p:sp>
    </p:spTree>
    <p:extLst>
      <p:ext uri="{BB962C8B-B14F-4D97-AF65-F5344CB8AC3E}">
        <p14:creationId xmlns:p14="http://schemas.microsoft.com/office/powerpoint/2010/main" val="99128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t>
            </a:r>
            <a:r>
              <a:rPr lang="en-US" dirty="0"/>
              <a:t>he focus of this session is going to be</a:t>
            </a:r>
            <a:r>
              <a:rPr lang="en-US" baseline="0" dirty="0"/>
              <a:t> on your </a:t>
            </a:r>
            <a:r>
              <a:rPr lang="en-US" baseline="0" dirty="0">
                <a:highlight>
                  <a:srgbClr val="00FF00"/>
                </a:highlight>
              </a:rPr>
              <a:t>literature review </a:t>
            </a:r>
            <a:r>
              <a:rPr lang="en-US" baseline="0" dirty="0"/>
              <a:t>if you are pursuing an </a:t>
            </a:r>
            <a:r>
              <a:rPr lang="en-US" baseline="0" dirty="0">
                <a:highlight>
                  <a:srgbClr val="00FF00"/>
                </a:highlight>
              </a:rPr>
              <a:t>empirical study</a:t>
            </a:r>
            <a:r>
              <a:rPr lang="en-US" baseline="0" dirty="0"/>
              <a:t>; or collecting your sources for your project.  Whilst you may have some questions on your methodology for example, we need to keep looking forward to ensure that you continue to make progress. Questions on methodology should be directed to your supervisor. All students will work with literature during their dissertation and this will be the next chapter you draft. However there is a considerable difference between the work of a student selecting an empirical route and a student undertaking a project dissertation. Throughout this lecture make sure you listen carefully to the sections related to your chosen route and avoid confusion with the work needed by your peers who opted for the alternate route,</a:t>
            </a:r>
          </a:p>
          <a:p>
            <a:endParaRPr lang="en-US" baseline="0" dirty="0"/>
          </a:p>
          <a:p>
            <a:endParaRPr lang="en-US" b="1" dirty="0">
              <a:cs typeface="Calibri"/>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599F28-8663-46C7-9050-41009FB8A0A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88311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en-GB" dirty="0"/>
              <a:t>First</a:t>
            </a:r>
            <a:r>
              <a:rPr lang="en-GB" baseline="0" dirty="0"/>
              <a:t> we are going to take a </a:t>
            </a:r>
            <a:r>
              <a:rPr lang="en-GB" dirty="0"/>
              <a:t>look at an overview of the module for this month. You will find section 3 has been added to the module on Moodle. This combined with your phase 1 work on the literature chapter and the dissertation handbook should be used to inform your work on the literature chapter for your dissertation. We will be discussing your required engagement</a:t>
            </a:r>
            <a:r>
              <a:rPr lang="en-GB" baseline="0" dirty="0"/>
              <a:t> with the content on Moodle. </a:t>
            </a:r>
            <a:r>
              <a:rPr lang="en-GB" dirty="0"/>
              <a:t>Next we will look at your literature search and write-up and</a:t>
            </a:r>
            <a:r>
              <a:rPr lang="en-GB" baseline="0" dirty="0"/>
              <a:t> focus on what you need to do.</a:t>
            </a:r>
            <a:r>
              <a:rPr lang="en-GB" dirty="0"/>
              <a:t>  We will also be considering </a:t>
            </a:r>
            <a:r>
              <a:rPr lang="en-GB" baseline="0" dirty="0"/>
              <a:t>your progress so far with your literature search and starting your chapter draft and looking at any questions or concerns you may have.</a:t>
            </a:r>
            <a:endParaRPr lang="en-GB" dirty="0"/>
          </a:p>
          <a:p>
            <a:pPr>
              <a:lnSpc>
                <a:spcPct val="100000"/>
              </a:lnSpc>
            </a:pPr>
            <a:endParaRPr lang="en-GB" dirty="0"/>
          </a:p>
        </p:txBody>
      </p:sp>
      <p:sp>
        <p:nvSpPr>
          <p:cNvPr id="4" name="Slide Number Placeholder 3"/>
          <p:cNvSpPr>
            <a:spLocks noGrp="1"/>
          </p:cNvSpPr>
          <p:nvPr>
            <p:ph type="sldNum" sz="quarter" idx="5"/>
          </p:nvPr>
        </p:nvSpPr>
        <p:spPr/>
        <p:txBody>
          <a:bodyPr/>
          <a:lstStyle/>
          <a:p>
            <a:fld id="{511295A1-5E39-F74B-9AF8-46A80968C18B}" type="slidenum">
              <a:rPr lang="en-US" smtClean="0"/>
              <a:t>4</a:t>
            </a:fld>
            <a:endParaRPr lang="en-US" dirty="0"/>
          </a:p>
        </p:txBody>
      </p:sp>
    </p:spTree>
    <p:extLst>
      <p:ext uri="{BB962C8B-B14F-4D97-AF65-F5344CB8AC3E}">
        <p14:creationId xmlns:p14="http://schemas.microsoft.com/office/powerpoint/2010/main" val="1229944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So, let’s run through an </a:t>
            </a:r>
            <a:r>
              <a:rPr lang="en-US" sz="1200" dirty="0">
                <a:latin typeface="+mn-lt"/>
              </a:rPr>
              <a:t>overview of this month…</a:t>
            </a:r>
            <a:r>
              <a:rPr lang="en-GB" sz="1200" dirty="0">
                <a:latin typeface="+mn-lt"/>
              </a:rPr>
              <a:t> </a:t>
            </a:r>
          </a:p>
        </p:txBody>
      </p:sp>
      <p:sp>
        <p:nvSpPr>
          <p:cNvPr id="4" name="Slide Number Placeholder 3"/>
          <p:cNvSpPr>
            <a:spLocks noGrp="1"/>
          </p:cNvSpPr>
          <p:nvPr>
            <p:ph type="sldNum" sz="quarter" idx="5"/>
          </p:nvPr>
        </p:nvSpPr>
        <p:spPr/>
        <p:txBody>
          <a:bodyPr/>
          <a:lstStyle/>
          <a:p>
            <a:fld id="{511295A1-5E39-F74B-9AF8-46A80968C18B}" type="slidenum">
              <a:rPr lang="en-US" smtClean="0"/>
              <a:pPr/>
              <a:t>5</a:t>
            </a:fld>
            <a:endParaRPr lang="en-US" dirty="0"/>
          </a:p>
        </p:txBody>
      </p:sp>
    </p:spTree>
    <p:extLst>
      <p:ext uri="{BB962C8B-B14F-4D97-AF65-F5344CB8AC3E}">
        <p14:creationId xmlns:p14="http://schemas.microsoft.com/office/powerpoint/2010/main" val="3062482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u="none" dirty="0"/>
              <a:t>You have some content on Moodle to engage with during this month.</a:t>
            </a:r>
          </a:p>
          <a:p>
            <a:endParaRPr lang="en-US" i="1" u="none" dirty="0"/>
          </a:p>
          <a:p>
            <a:r>
              <a:rPr lang="en-US" i="1" u="none" dirty="0"/>
              <a:t>Section 3: Literature </a:t>
            </a:r>
            <a:r>
              <a:rPr lang="en-US" u="none" dirty="0"/>
              <a:t>takes you through all of the information you need to prepare your </a:t>
            </a:r>
            <a:r>
              <a:rPr lang="en-US" u="none" dirty="0">
                <a:highlight>
                  <a:srgbClr val="00FF00"/>
                </a:highlight>
              </a:rPr>
              <a:t>literature review chapter </a:t>
            </a:r>
            <a:r>
              <a:rPr lang="en-US" u="none" dirty="0"/>
              <a:t>or  background and context </a:t>
            </a:r>
            <a:r>
              <a:rPr lang="en-GB" u="none" dirty="0">
                <a:highlight>
                  <a:srgbClr val="FFFF00"/>
                </a:highlight>
              </a:rPr>
              <a:t>chapter </a:t>
            </a:r>
            <a:r>
              <a:rPr lang="en-US" u="none" dirty="0"/>
              <a:t>.</a:t>
            </a:r>
            <a:r>
              <a:rPr lang="en-US" dirty="0"/>
              <a:t> </a:t>
            </a:r>
            <a:r>
              <a:rPr lang="en-US" u="none" dirty="0"/>
              <a:t> It is divided into seven parts and takes you step by step</a:t>
            </a:r>
            <a:r>
              <a:rPr lang="en-US" u="none" baseline="0" dirty="0"/>
              <a:t> through the process.</a:t>
            </a:r>
            <a:r>
              <a:rPr lang="en-US" dirty="0"/>
              <a:t> </a:t>
            </a:r>
            <a:r>
              <a:rPr lang="en-US" u="none" baseline="0" dirty="0"/>
              <a:t> It looks at everything from searching the literature in an efficient systematic way, through managing your references and on to structuring and writing your chapter specific to your research study option.</a:t>
            </a:r>
            <a:r>
              <a:rPr lang="en-US" dirty="0"/>
              <a:t> </a:t>
            </a:r>
            <a:r>
              <a:rPr lang="en-US" u="none" baseline="0" dirty="0"/>
              <a:t> For this section there is a lot of detail, so the required reading is highlighted - please read this as a minimum.</a:t>
            </a:r>
            <a:r>
              <a:rPr lang="en-US" dirty="0"/>
              <a:t> </a:t>
            </a:r>
            <a:r>
              <a:rPr lang="en-US" u="none" baseline="0" dirty="0"/>
              <a:t> However, if you are completing a </a:t>
            </a:r>
            <a:r>
              <a:rPr lang="en-US" u="none" baseline="0" dirty="0">
                <a:highlight>
                  <a:srgbClr val="FFFF00"/>
                </a:highlight>
              </a:rPr>
              <a:t>literature-based research study </a:t>
            </a:r>
            <a:r>
              <a:rPr lang="en-US" u="none" baseline="0" dirty="0"/>
              <a:t>this section is key for you in understanding what process to follow, so you should engage with it in full.</a:t>
            </a:r>
            <a:r>
              <a:rPr lang="en-US" dirty="0"/>
              <a:t> </a:t>
            </a:r>
            <a:endParaRPr lang="en-US" u="none" baseline="0" dirty="0"/>
          </a:p>
          <a:p>
            <a:endParaRPr lang="en-US" u="none" baseline="0" dirty="0"/>
          </a:p>
          <a:p>
            <a:r>
              <a:rPr lang="en-US" u="none" baseline="0" dirty="0"/>
              <a:t>It is important you allocate some time to go through the required reading content.  The section content should answer most of the questions you have about engaging with the literature.  </a:t>
            </a:r>
            <a:r>
              <a:rPr lang="en-GB" dirty="0"/>
              <a:t>Just so that you are aware - both your supervisor and the dissertation stage lead can see whether you have accessed the content on Moodle; so remember to tick the mark as done button to show that you have completed a section.</a:t>
            </a:r>
            <a:endParaRPr lang="en-US" u="none" baseline="0" dirty="0"/>
          </a:p>
          <a:p>
            <a:endParaRPr lang="en-US" u="none" baseline="0" dirty="0"/>
          </a:p>
          <a:p>
            <a:r>
              <a:rPr lang="en-US" u="none" baseline="0" dirty="0"/>
              <a:t>You may also find it useful to go back to the taught phase content from last semester.</a:t>
            </a:r>
            <a:endParaRPr lang="en-GB" u="none" dirty="0"/>
          </a:p>
        </p:txBody>
      </p:sp>
      <p:sp>
        <p:nvSpPr>
          <p:cNvPr id="4" name="Slide Number Placeholder 3"/>
          <p:cNvSpPr>
            <a:spLocks noGrp="1"/>
          </p:cNvSpPr>
          <p:nvPr>
            <p:ph type="sldNum" sz="quarter" idx="5"/>
          </p:nvPr>
        </p:nvSpPr>
        <p:spPr/>
        <p:txBody>
          <a:bodyPr/>
          <a:lstStyle/>
          <a:p>
            <a:fld id="{511295A1-5E39-F74B-9AF8-46A80968C18B}" type="slidenum">
              <a:rPr lang="en-US" smtClean="0"/>
              <a:pPr/>
              <a:t>6</a:t>
            </a:fld>
            <a:endParaRPr lang="en-US" dirty="0"/>
          </a:p>
        </p:txBody>
      </p:sp>
    </p:spTree>
    <p:extLst>
      <p:ext uri="{BB962C8B-B14F-4D97-AF65-F5344CB8AC3E}">
        <p14:creationId xmlns:p14="http://schemas.microsoft.com/office/powerpoint/2010/main" val="2217049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u="none" dirty="0"/>
              <a:t>You will be engaging with both module textbooks this month – please see the recommended chapter details on Moodle.</a:t>
            </a:r>
          </a:p>
          <a:p>
            <a:endParaRPr lang="en-GB" u="none" baseline="0" dirty="0"/>
          </a:p>
          <a:p>
            <a:r>
              <a:rPr lang="en-GB" u="none" dirty="0"/>
              <a:t>If you haven’t already finalised</a:t>
            </a:r>
            <a:r>
              <a:rPr lang="en-GB" u="none" baseline="0" dirty="0"/>
              <a:t> your ethics approval or started your </a:t>
            </a:r>
            <a:r>
              <a:rPr lang="en-GB" u="none" baseline="0" dirty="0">
                <a:highlight>
                  <a:srgbClr val="00FF00"/>
                </a:highlight>
              </a:rPr>
              <a:t>data</a:t>
            </a:r>
            <a:r>
              <a:rPr lang="en-GB" u="none" baseline="0" dirty="0"/>
              <a:t> or </a:t>
            </a:r>
            <a:r>
              <a:rPr lang="en-GB" u="none" baseline="0" dirty="0">
                <a:highlight>
                  <a:srgbClr val="FFFF00"/>
                </a:highlight>
              </a:rPr>
              <a:t>source</a:t>
            </a:r>
            <a:r>
              <a:rPr lang="en-GB" u="none" baseline="0" dirty="0"/>
              <a:t> collection, you </a:t>
            </a:r>
            <a:r>
              <a:rPr lang="en-GB" u="none" dirty="0"/>
              <a:t>will need to speak to your supervisor in the next fortnight </a:t>
            </a:r>
            <a:r>
              <a:rPr lang="en-GB" u="none" baseline="0" dirty="0"/>
              <a:t>as a matter of urgency.</a:t>
            </a:r>
            <a:r>
              <a:rPr lang="en-GB" dirty="0"/>
              <a:t>  </a:t>
            </a:r>
            <a:endParaRPr lang="en-GB" u="none" baseline="0" dirty="0">
              <a:cs typeface="Calibri"/>
            </a:endParaRPr>
          </a:p>
          <a:p>
            <a:endParaRPr lang="en-GB" u="none" baseline="0" dirty="0"/>
          </a:p>
          <a:p>
            <a:r>
              <a:rPr lang="en-GB" u="none" baseline="0" dirty="0"/>
              <a:t>Remember that to be able to achieve a good outcome in this module you will need to be spending time engaging with the content, completing the tasks set and reading widely.</a:t>
            </a:r>
            <a:endParaRPr lang="en-GB" u="none" dirty="0"/>
          </a:p>
        </p:txBody>
      </p:sp>
      <p:sp>
        <p:nvSpPr>
          <p:cNvPr id="4" name="Slide Number Placeholder 3"/>
          <p:cNvSpPr>
            <a:spLocks noGrp="1"/>
          </p:cNvSpPr>
          <p:nvPr>
            <p:ph type="sldNum" sz="quarter" idx="5"/>
          </p:nvPr>
        </p:nvSpPr>
        <p:spPr/>
        <p:txBody>
          <a:bodyPr/>
          <a:lstStyle/>
          <a:p>
            <a:fld id="{511295A1-5E39-F74B-9AF8-46A80968C18B}" type="slidenum">
              <a:rPr lang="en-US" smtClean="0"/>
              <a:pPr/>
              <a:t>7</a:t>
            </a:fld>
            <a:endParaRPr lang="en-US" dirty="0"/>
          </a:p>
        </p:txBody>
      </p:sp>
    </p:spTree>
    <p:extLst>
      <p:ext uri="{BB962C8B-B14F-4D97-AF65-F5344CB8AC3E}">
        <p14:creationId xmlns:p14="http://schemas.microsoft.com/office/powerpoint/2010/main" val="2086682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a:t>
            </a:r>
            <a:r>
              <a:rPr lang="en-GB" baseline="0" dirty="0"/>
              <a:t> j</a:t>
            </a:r>
            <a:r>
              <a:rPr lang="en-GB" dirty="0"/>
              <a:t>ust to remind you - here are the details of the two dissertation module textbooks.  The</a:t>
            </a:r>
            <a:r>
              <a:rPr lang="en-GB" baseline="0" dirty="0"/>
              <a:t> Moodle content will direct you to the correct chapters...</a:t>
            </a:r>
            <a:endParaRPr lang="en-GB" dirty="0"/>
          </a:p>
        </p:txBody>
      </p:sp>
      <p:sp>
        <p:nvSpPr>
          <p:cNvPr id="4" name="Slide Number Placeholder 3"/>
          <p:cNvSpPr>
            <a:spLocks noGrp="1"/>
          </p:cNvSpPr>
          <p:nvPr>
            <p:ph type="sldNum" sz="quarter" idx="5"/>
          </p:nvPr>
        </p:nvSpPr>
        <p:spPr/>
        <p:txBody>
          <a:bodyPr/>
          <a:lstStyle/>
          <a:p>
            <a:fld id="{511295A1-5E39-F74B-9AF8-46A80968C18B}" type="slidenum">
              <a:rPr lang="en-US" smtClean="0"/>
              <a:pPr/>
              <a:t>8</a:t>
            </a:fld>
            <a:endParaRPr lang="en-US" dirty="0"/>
          </a:p>
        </p:txBody>
      </p:sp>
    </p:spTree>
    <p:extLst>
      <p:ext uri="{BB962C8B-B14F-4D97-AF65-F5344CB8AC3E}">
        <p14:creationId xmlns:p14="http://schemas.microsoft.com/office/powerpoint/2010/main" val="1506105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and this month the main focus is on</a:t>
            </a:r>
            <a:r>
              <a:rPr lang="en-GB" baseline="0" dirty="0"/>
              <a:t> the </a:t>
            </a:r>
            <a:r>
              <a:rPr lang="en-GB" dirty="0"/>
              <a:t>textbook </a:t>
            </a:r>
            <a:r>
              <a:rPr lang="en-GB" i="1" dirty="0"/>
              <a:t>The Literature Review </a:t>
            </a:r>
            <a:r>
              <a:rPr lang="en-GB" dirty="0"/>
              <a:t>by Diana Ridley which will help guide you with engaging with the literature.</a:t>
            </a:r>
          </a:p>
        </p:txBody>
      </p:sp>
      <p:sp>
        <p:nvSpPr>
          <p:cNvPr id="4" name="Slide Number Placeholder 3"/>
          <p:cNvSpPr>
            <a:spLocks noGrp="1"/>
          </p:cNvSpPr>
          <p:nvPr>
            <p:ph type="sldNum" sz="quarter" idx="5"/>
          </p:nvPr>
        </p:nvSpPr>
        <p:spPr/>
        <p:txBody>
          <a:bodyPr/>
          <a:lstStyle/>
          <a:p>
            <a:fld id="{511295A1-5E39-F74B-9AF8-46A80968C18B}" type="slidenum">
              <a:rPr lang="en-US" smtClean="0"/>
              <a:pPr/>
              <a:t>9</a:t>
            </a:fld>
            <a:endParaRPr lang="en-US" dirty="0"/>
          </a:p>
        </p:txBody>
      </p:sp>
    </p:spTree>
    <p:extLst>
      <p:ext uri="{BB962C8B-B14F-4D97-AF65-F5344CB8AC3E}">
        <p14:creationId xmlns:p14="http://schemas.microsoft.com/office/powerpoint/2010/main" val="834374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57200">
              <a:defRPr/>
            </a:pPr>
            <a:r>
              <a:rPr lang="en-GB" sz="1100" dirty="0"/>
              <a:t>As already noted, you have the opportunity</a:t>
            </a:r>
            <a:r>
              <a:rPr lang="en-GB" sz="1100" baseline="0" dirty="0"/>
              <a:t> to submit a </a:t>
            </a:r>
            <a:r>
              <a:rPr lang="en-GB" sz="1100" dirty="0"/>
              <a:t>draft of your dissertation</a:t>
            </a:r>
            <a:r>
              <a:rPr lang="en-GB" sz="1100" baseline="0" dirty="0"/>
              <a:t> </a:t>
            </a:r>
            <a:r>
              <a:rPr lang="en-GB" sz="1100" b="1" baseline="0" dirty="0"/>
              <a:t>so far </a:t>
            </a:r>
            <a:r>
              <a:rPr lang="en-GB" sz="1100" dirty="0"/>
              <a:t>and you will receive feedback from your supervisor on your draft to help you make improvements</a:t>
            </a:r>
            <a:r>
              <a:rPr lang="en-GB" sz="1100" baseline="0" dirty="0"/>
              <a:t> to your work.</a:t>
            </a:r>
            <a:r>
              <a:rPr lang="en-GB" sz="1100" dirty="0"/>
              <a:t> </a:t>
            </a:r>
            <a:r>
              <a:rPr lang="en-GB" sz="1100" baseline="0" dirty="0"/>
              <a:t> </a:t>
            </a:r>
            <a:r>
              <a:rPr lang="en-GB" sz="1100" dirty="0"/>
              <a:t>There is no further opportunity to resubmit this draft, but your supervisor may ask you to send revisions or further chapters if required.</a:t>
            </a:r>
            <a:endParaRPr lang="en-GB" sz="1100" b="0" dirty="0">
              <a:cs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100" b="1" dirty="0"/>
          </a:p>
          <a:p>
            <a:pPr defTabSz="457200">
              <a:defRPr/>
            </a:pPr>
            <a:r>
              <a:rPr lang="en-GB" sz="1100" b="1" dirty="0"/>
              <a:t>Please make</a:t>
            </a:r>
            <a:r>
              <a:rPr lang="en-GB" sz="1100" b="1" baseline="0" dirty="0"/>
              <a:t> use of the correct dissertation template for all dissertation submissions.</a:t>
            </a:r>
            <a:r>
              <a:rPr lang="en-GB" sz="1100" b="1" dirty="0"/>
              <a:t>  </a:t>
            </a:r>
            <a:r>
              <a:rPr lang="en-GB" sz="1100" dirty="0"/>
              <a:t> </a:t>
            </a:r>
            <a:endParaRPr lang="en-GB" sz="1100" baseline="0" dirty="0">
              <a:cs typeface="Calibri"/>
            </a:endParaRPr>
          </a:p>
          <a:p>
            <a:pPr defTabSz="457200">
              <a:defRPr/>
            </a:pPr>
            <a:r>
              <a:rPr lang="en-GB" sz="1100" baseline="0" dirty="0"/>
              <a:t>Note you </a:t>
            </a:r>
            <a:r>
              <a:rPr lang="en-GB" sz="1100" b="1" baseline="0" dirty="0"/>
              <a:t>will</a:t>
            </a:r>
            <a:r>
              <a:rPr lang="en-GB" sz="1100" baseline="0" dirty="0"/>
              <a:t> receive feedback on this </a:t>
            </a:r>
            <a:r>
              <a:rPr lang="en-GB" sz="1100" b="1" baseline="0" dirty="0"/>
              <a:t>draft</a:t>
            </a:r>
            <a:r>
              <a:rPr lang="en-GB" sz="1100" baseline="0" dirty="0"/>
              <a:t> submission and then are expected to make revisions (where needed).  The feedback on the draft submission will be via your group supervision session in April 2025.</a:t>
            </a:r>
            <a:endParaRPr lang="en-GB" sz="1100" dirty="0"/>
          </a:p>
        </p:txBody>
      </p:sp>
      <p:sp>
        <p:nvSpPr>
          <p:cNvPr id="4" name="Slide Number Placeholder 3"/>
          <p:cNvSpPr>
            <a:spLocks noGrp="1"/>
          </p:cNvSpPr>
          <p:nvPr>
            <p:ph type="sldNum" sz="quarter" idx="5"/>
          </p:nvPr>
        </p:nvSpPr>
        <p:spPr/>
        <p:txBody>
          <a:bodyPr/>
          <a:lstStyle/>
          <a:p>
            <a:fld id="{511295A1-5E39-F74B-9AF8-46A80968C18B}" type="slidenum">
              <a:rPr lang="en-US" smtClean="0"/>
              <a:pPr/>
              <a:t>10</a:t>
            </a:fld>
            <a:endParaRPr lang="en-US" dirty="0"/>
          </a:p>
        </p:txBody>
      </p:sp>
    </p:spTree>
    <p:extLst>
      <p:ext uri="{BB962C8B-B14F-4D97-AF65-F5344CB8AC3E}">
        <p14:creationId xmlns:p14="http://schemas.microsoft.com/office/powerpoint/2010/main" val="3969701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So let’s move on to the Literature chapter itself.</a:t>
            </a:r>
          </a:p>
          <a:p>
            <a:r>
              <a:rPr lang="en-GB" sz="1200" dirty="0">
                <a:latin typeface="+mn-lt"/>
              </a:rPr>
              <a:t>It is really important that you understand the distinction between this chapter for an empirical study and the chapter for project based dissertation.</a:t>
            </a:r>
          </a:p>
          <a:p>
            <a:r>
              <a:rPr lang="en-GB" sz="1200" dirty="0">
                <a:latin typeface="+mn-lt"/>
              </a:rPr>
              <a:t>To start with I am going to discussion the Literature Review Chapter needed for an empirical study. This chapter follows on from your Introduction chapter and is placed as chapter 2 of your dissertation , ahead of your Methodology chapter. It should be setting out what is known about your research question before you commence your research and should be identifying gaps in knowledge. It is these gaps in knowledge that justify your study being undertaken and help you determine your specific research question. The methodology chapter follows as this is how you will answer the research question.</a:t>
            </a:r>
          </a:p>
          <a:p>
            <a:r>
              <a:rPr lang="en-GB" sz="1200" dirty="0">
                <a:latin typeface="+mn-lt"/>
              </a:rPr>
              <a:t>The literature review chapter does require you to explain how you found the relevant literature that you have included in the review and to ensure that the literature you are relying on in your discussion is of high quality. You also need to be clear that the argument you are making is a critical appraisal of your selected literature and not merely descriptive of the content of the articles. </a:t>
            </a:r>
          </a:p>
          <a:p>
            <a:r>
              <a:rPr lang="en-GB" sz="1200" dirty="0">
                <a:latin typeface="+mn-lt"/>
              </a:rPr>
              <a:t>Moving to the students who have selected a project based study, you will not have a literature review chapter at all. But you will have a Background and Context chapter to set out the business problem for your industry and your project objectives. You will use literature to evidence the sustainability issues for your industry and help you define your project objectives. This will then feed into the short methodology chapter which sets out how you will </a:t>
            </a:r>
            <a:r>
              <a:rPr lang="en-GB" sz="1200" dirty="0" err="1">
                <a:latin typeface="+mn-lt"/>
              </a:rPr>
              <a:t>undertaken</a:t>
            </a:r>
            <a:r>
              <a:rPr lang="en-GB" sz="1200" dirty="0">
                <a:latin typeface="+mn-lt"/>
              </a:rPr>
              <a:t> the mixed methods study, completing the tasks in the brief based on the gap in knowledge for the industry so as to develop your strategi sustainability plan.</a:t>
            </a:r>
          </a:p>
        </p:txBody>
      </p:sp>
      <p:sp>
        <p:nvSpPr>
          <p:cNvPr id="4" name="Slide Number Placeholder 3"/>
          <p:cNvSpPr>
            <a:spLocks noGrp="1"/>
          </p:cNvSpPr>
          <p:nvPr>
            <p:ph type="sldNum" sz="quarter" idx="5"/>
          </p:nvPr>
        </p:nvSpPr>
        <p:spPr/>
        <p:txBody>
          <a:bodyPr/>
          <a:lstStyle/>
          <a:p>
            <a:fld id="{511295A1-5E39-F74B-9AF8-46A80968C18B}" type="slidenum">
              <a:rPr lang="en-US" smtClean="0"/>
              <a:pPr/>
              <a:t>11</a:t>
            </a:fld>
            <a:endParaRPr lang="en-US" dirty="0"/>
          </a:p>
        </p:txBody>
      </p:sp>
    </p:spTree>
    <p:extLst>
      <p:ext uri="{BB962C8B-B14F-4D97-AF65-F5344CB8AC3E}">
        <p14:creationId xmlns:p14="http://schemas.microsoft.com/office/powerpoint/2010/main" val="2060100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module learning outcome associated with the literature</a:t>
            </a:r>
            <a:r>
              <a:rPr lang="en-GB" baseline="0" dirty="0"/>
              <a:t> </a:t>
            </a:r>
            <a:r>
              <a:rPr lang="en-GB" dirty="0"/>
              <a:t>and it outlines</a:t>
            </a:r>
            <a:r>
              <a:rPr lang="en-GB" baseline="0" dirty="0"/>
              <a:t> </a:t>
            </a:r>
            <a:r>
              <a:rPr lang="en-GB" dirty="0"/>
              <a:t>what you are seeking to demonstrate</a:t>
            </a:r>
            <a:r>
              <a:rPr lang="en-GB" baseline="0" dirty="0"/>
              <a:t>.  Please keep this in mind.</a:t>
            </a:r>
            <a:endParaRPr lang="en-GB" dirty="0"/>
          </a:p>
        </p:txBody>
      </p:sp>
      <p:sp>
        <p:nvSpPr>
          <p:cNvPr id="4" name="Slide Number Placeholder 3"/>
          <p:cNvSpPr>
            <a:spLocks noGrp="1"/>
          </p:cNvSpPr>
          <p:nvPr>
            <p:ph type="sldNum" sz="quarter" idx="5"/>
          </p:nvPr>
        </p:nvSpPr>
        <p:spPr/>
        <p:txBody>
          <a:bodyPr/>
          <a:lstStyle/>
          <a:p>
            <a:fld id="{511295A1-5E39-F74B-9AF8-46A80968C18B}" type="slidenum">
              <a:rPr lang="en-US" smtClean="0"/>
              <a:pPr/>
              <a:t>12</a:t>
            </a:fld>
            <a:endParaRPr lang="en-US" dirty="0"/>
          </a:p>
        </p:txBody>
      </p:sp>
    </p:spTree>
    <p:extLst>
      <p:ext uri="{BB962C8B-B14F-4D97-AF65-F5344CB8AC3E}">
        <p14:creationId xmlns:p14="http://schemas.microsoft.com/office/powerpoint/2010/main" val="3849626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so based upon the learning outcome, here is the dissertation marking criteria for </a:t>
            </a:r>
            <a:r>
              <a:rPr lang="en-GB" baseline="0" dirty="0"/>
              <a:t>your </a:t>
            </a:r>
            <a:r>
              <a:rPr lang="en-GB" baseline="0" dirty="0">
                <a:highlight>
                  <a:srgbClr val="00FF00"/>
                </a:highlight>
              </a:rPr>
              <a:t>literature review f</a:t>
            </a:r>
            <a:r>
              <a:rPr lang="en-GB" dirty="0"/>
              <a:t>or </a:t>
            </a:r>
            <a:r>
              <a:rPr lang="en-GB" baseline="0" dirty="0"/>
              <a:t>those of you pursuing an </a:t>
            </a:r>
            <a:r>
              <a:rPr lang="en-GB" baseline="0" dirty="0">
                <a:highlight>
                  <a:srgbClr val="00FF00"/>
                </a:highlight>
              </a:rPr>
              <a:t>empirical study</a:t>
            </a:r>
            <a:r>
              <a:rPr lang="en-GB" baseline="0" dirty="0"/>
              <a:t> .</a:t>
            </a:r>
            <a:r>
              <a:rPr lang="en-GB" dirty="0"/>
              <a:t> </a:t>
            </a:r>
            <a:r>
              <a:rPr lang="en-GB" baseline="0" dirty="0"/>
              <a:t> Note that this chapter </a:t>
            </a:r>
            <a:r>
              <a:rPr lang="en-GB" dirty="0"/>
              <a:t>is worth 20 marks or 20% of your final dissertation mark.</a:t>
            </a:r>
          </a:p>
          <a:p>
            <a:endParaRPr lang="en-GB" dirty="0"/>
          </a:p>
          <a:p>
            <a:r>
              <a:rPr lang="en-GB" baseline="0" dirty="0"/>
              <a:t>Make note that your </a:t>
            </a:r>
            <a:r>
              <a:rPr lang="en-GB" baseline="0" dirty="0">
                <a:highlight>
                  <a:srgbClr val="00FF00"/>
                </a:highlight>
              </a:rPr>
              <a:t>literature review </a:t>
            </a:r>
            <a:r>
              <a:rPr lang="en-GB" dirty="0"/>
              <a:t>should </a:t>
            </a:r>
            <a:r>
              <a:rPr lang="en-GB" baseline="0" dirty="0"/>
              <a:t>be comprehensive and should focus on using a range of academic sources.</a:t>
            </a:r>
            <a:r>
              <a:rPr lang="en-GB" dirty="0"/>
              <a:t> </a:t>
            </a:r>
            <a:r>
              <a:rPr lang="en-GB" baseline="0" dirty="0"/>
              <a:t> You need to critically evaluate the literature rather than just describing it.</a:t>
            </a:r>
            <a:r>
              <a:rPr lang="en-GB" dirty="0"/>
              <a:t> </a:t>
            </a:r>
            <a:endParaRPr lang="en-GB" baseline="0" dirty="0">
              <a:cs typeface="Calibri"/>
            </a:endParaRPr>
          </a:p>
          <a:p>
            <a:endParaRPr lang="en-GB" baseline="0" dirty="0"/>
          </a:p>
          <a:p>
            <a:r>
              <a:rPr lang="en-GB" baseline="0" dirty="0"/>
              <a:t>See the brief on Moodle for the word count guidelines.</a:t>
            </a:r>
          </a:p>
        </p:txBody>
      </p:sp>
      <p:sp>
        <p:nvSpPr>
          <p:cNvPr id="4" name="Slide Number Placeholder 3"/>
          <p:cNvSpPr>
            <a:spLocks noGrp="1"/>
          </p:cNvSpPr>
          <p:nvPr>
            <p:ph type="sldNum" sz="quarter" idx="5"/>
          </p:nvPr>
        </p:nvSpPr>
        <p:spPr/>
        <p:txBody>
          <a:bodyPr/>
          <a:lstStyle/>
          <a:p>
            <a:fld id="{511295A1-5E39-F74B-9AF8-46A80968C18B}" type="slidenum">
              <a:rPr lang="en-US" smtClean="0"/>
              <a:t>13</a:t>
            </a:fld>
            <a:endParaRPr lang="en-US"/>
          </a:p>
        </p:txBody>
      </p:sp>
    </p:spTree>
    <p:extLst>
      <p:ext uri="{BB962C8B-B14F-4D97-AF65-F5344CB8AC3E}">
        <p14:creationId xmlns:p14="http://schemas.microsoft.com/office/powerpoint/2010/main" val="4266566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For </a:t>
            </a:r>
            <a:r>
              <a:rPr lang="en-GB" baseline="0" dirty="0">
                <a:highlight>
                  <a:srgbClr val="00FF00"/>
                </a:highlight>
              </a:rPr>
              <a:t>empirical-based research studies </a:t>
            </a:r>
            <a:r>
              <a:rPr lang="en-GB" baseline="0" dirty="0"/>
              <a:t>y</a:t>
            </a:r>
            <a:r>
              <a:rPr lang="en-US" dirty="0"/>
              <a:t>our literature review is a large</a:t>
            </a:r>
            <a:r>
              <a:rPr lang="en-US" baseline="0" dirty="0"/>
              <a:t> chapter within your dissertation.</a:t>
            </a:r>
          </a:p>
          <a:p>
            <a:endParaRPr lang="en-US" baseline="0" dirty="0"/>
          </a:p>
          <a:p>
            <a:r>
              <a:rPr lang="en-US" baseline="0" dirty="0"/>
              <a:t>It </a:t>
            </a:r>
            <a:r>
              <a:rPr lang="en-US" dirty="0"/>
              <a:t>needs a</a:t>
            </a:r>
            <a:r>
              <a:rPr lang="en-US" baseline="0" dirty="0"/>
              <a:t> chapter </a:t>
            </a:r>
            <a:r>
              <a:rPr lang="en-US" dirty="0"/>
              <a:t>introduction.  Your introduction sets out your scope through your review question i.e. ‘This review will examine the literature that considers [your topic/research question].’  Your search strategy can be included here.</a:t>
            </a:r>
          </a:p>
          <a:p>
            <a:endParaRPr lang="en-US" dirty="0"/>
          </a:p>
          <a:p>
            <a:r>
              <a:rPr lang="en-US" dirty="0"/>
              <a:t>After the</a:t>
            </a:r>
            <a:r>
              <a:rPr lang="en-US" baseline="0" dirty="0"/>
              <a:t> introduction, you should s</a:t>
            </a:r>
            <a:r>
              <a:rPr lang="en-US" dirty="0"/>
              <a:t>tart with the broad background looking at </a:t>
            </a:r>
            <a:r>
              <a:rPr lang="en-US" baseline="0" dirty="0"/>
              <a:t>the </a:t>
            </a:r>
            <a:r>
              <a:rPr lang="en-US" dirty="0"/>
              <a:t>wider topic</a:t>
            </a:r>
            <a:r>
              <a:rPr lang="en-US" baseline="0" dirty="0"/>
              <a:t> area and </a:t>
            </a:r>
            <a:r>
              <a:rPr lang="en-US" dirty="0"/>
              <a:t>theory area.  Make sure to include some definitions of key</a:t>
            </a:r>
            <a:r>
              <a:rPr lang="en-US" baseline="0" dirty="0"/>
              <a:t> or </a:t>
            </a:r>
            <a:r>
              <a:rPr lang="en-US" dirty="0"/>
              <a:t>assumed terms.  You should source these from textbooks</a:t>
            </a:r>
            <a:r>
              <a:rPr lang="en-US" baseline="0" dirty="0"/>
              <a:t> or </a:t>
            </a:r>
            <a:r>
              <a:rPr lang="en-US" dirty="0"/>
              <a:t>journal articles (rather</a:t>
            </a:r>
            <a:r>
              <a:rPr lang="en-US" baseline="0" dirty="0"/>
              <a:t> than internet sources</a:t>
            </a:r>
            <a:r>
              <a:rPr lang="en-US" dirty="0"/>
              <a:t>).</a:t>
            </a:r>
          </a:p>
          <a:p>
            <a:endParaRPr lang="en-US" dirty="0"/>
          </a:p>
          <a:p>
            <a:r>
              <a:rPr lang="en-US" dirty="0"/>
              <a:t>Have a small historic section noting the seminal (really important/key) papers – be they studies or articles outlining theory.  You need to be very selective</a:t>
            </a:r>
            <a:r>
              <a:rPr lang="en-US" baseline="0" dirty="0"/>
              <a:t> here as you can’t include </a:t>
            </a:r>
            <a:r>
              <a:rPr lang="en-US" dirty="0"/>
              <a:t>everything!  </a:t>
            </a:r>
            <a:r>
              <a:rPr lang="en-US" b="1" dirty="0"/>
              <a:t>Remember</a:t>
            </a:r>
            <a:r>
              <a:rPr lang="en-US" b="1" baseline="0" dirty="0"/>
              <a:t> a literature review is not an essay.</a:t>
            </a:r>
            <a:endParaRPr lang="en-US" b="1" dirty="0"/>
          </a:p>
        </p:txBody>
      </p:sp>
      <p:sp>
        <p:nvSpPr>
          <p:cNvPr id="4" name="Slide Number Placeholder 3"/>
          <p:cNvSpPr>
            <a:spLocks noGrp="1"/>
          </p:cNvSpPr>
          <p:nvPr>
            <p:ph type="sldNum" sz="quarter" idx="5"/>
          </p:nvPr>
        </p:nvSpPr>
        <p:spPr/>
        <p:txBody>
          <a:bodyPr/>
          <a:lstStyle/>
          <a:p>
            <a:fld id="{511295A1-5E39-F74B-9AF8-46A80968C18B}" type="slidenum">
              <a:rPr lang="en-US" smtClean="0"/>
              <a:t>14</a:t>
            </a:fld>
            <a:endParaRPr lang="en-US"/>
          </a:p>
        </p:txBody>
      </p:sp>
    </p:spTree>
    <p:extLst>
      <p:ext uri="{BB962C8B-B14F-4D97-AF65-F5344CB8AC3E}">
        <p14:creationId xmlns:p14="http://schemas.microsoft.com/office/powerpoint/2010/main" val="2351963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As you progress through your chapter into the second half, you will m</a:t>
            </a:r>
            <a:r>
              <a:rPr lang="en-US" dirty="0"/>
              <a:t>ove on to more focused literature in your specific</a:t>
            </a:r>
            <a:r>
              <a:rPr lang="en-US" baseline="0" dirty="0"/>
              <a:t> topic area </a:t>
            </a:r>
            <a:r>
              <a:rPr lang="en-US" dirty="0"/>
              <a:t>and more contemporary research (last 2-3 years).</a:t>
            </a:r>
          </a:p>
          <a:p>
            <a:endParaRPr lang="en-US" dirty="0"/>
          </a:p>
          <a:p>
            <a:r>
              <a:rPr lang="en-US" dirty="0"/>
              <a:t>If you have identified any gaps in the literature, you should state this towards the end and include any specific calls for your research</a:t>
            </a:r>
            <a:r>
              <a:rPr lang="en-US" baseline="0" dirty="0"/>
              <a:t> here as well</a:t>
            </a:r>
            <a:r>
              <a:rPr lang="en-US" dirty="0"/>
              <a:t>.  You are trying to </a:t>
            </a:r>
            <a:r>
              <a:rPr lang="en-US" b="1" i="1" dirty="0"/>
              <a:t>justify and give the reason</a:t>
            </a:r>
            <a:r>
              <a:rPr lang="en-US" b="1" i="1" baseline="0" dirty="0"/>
              <a:t> why your study should take place</a:t>
            </a:r>
            <a:r>
              <a:rPr lang="en-US" baseline="0" dirty="0"/>
              <a:t>.</a:t>
            </a:r>
            <a:endParaRPr lang="en-US" dirty="0"/>
          </a:p>
          <a:p>
            <a:r>
              <a:rPr lang="en-US" dirty="0"/>
              <a:t> </a:t>
            </a:r>
          </a:p>
          <a:p>
            <a:r>
              <a:rPr lang="en-US" dirty="0"/>
              <a:t>To conclude you should briefly summarise what you found</a:t>
            </a:r>
            <a:r>
              <a:rPr lang="en-US" baseline="0" dirty="0"/>
              <a:t> </a:t>
            </a:r>
            <a:r>
              <a:rPr lang="en-US" dirty="0"/>
              <a:t>and then state what the research question you will take forward is.  Note that your research question may</a:t>
            </a:r>
            <a:r>
              <a:rPr lang="en-US" baseline="0" dirty="0"/>
              <a:t> have evolved since you started your literature review to become more specific and this is not unusual. </a:t>
            </a:r>
            <a:endParaRPr lang="en-US" dirty="0"/>
          </a:p>
        </p:txBody>
      </p:sp>
      <p:sp>
        <p:nvSpPr>
          <p:cNvPr id="4" name="Slide Number Placeholder 3"/>
          <p:cNvSpPr>
            <a:spLocks noGrp="1"/>
          </p:cNvSpPr>
          <p:nvPr>
            <p:ph type="sldNum" sz="quarter" idx="5"/>
          </p:nvPr>
        </p:nvSpPr>
        <p:spPr/>
        <p:txBody>
          <a:bodyPr/>
          <a:lstStyle/>
          <a:p>
            <a:fld id="{511295A1-5E39-F74B-9AF8-46A80968C18B}" type="slidenum">
              <a:rPr lang="en-US" smtClean="0"/>
              <a:t>15</a:t>
            </a:fld>
            <a:endParaRPr lang="en-US"/>
          </a:p>
        </p:txBody>
      </p:sp>
    </p:spTree>
    <p:extLst>
      <p:ext uri="{BB962C8B-B14F-4D97-AF65-F5344CB8AC3E}">
        <p14:creationId xmlns:p14="http://schemas.microsoft.com/office/powerpoint/2010/main" val="4249434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100" dirty="0"/>
              <a:t>You are aiming to make your </a:t>
            </a:r>
            <a:r>
              <a:rPr lang="en-GB" sz="1100" dirty="0">
                <a:highlight>
                  <a:srgbClr val="00FF00"/>
                </a:highlight>
              </a:rPr>
              <a:t>literature review chapter or</a:t>
            </a:r>
            <a:r>
              <a:rPr lang="en-GB" sz="1100" dirty="0"/>
              <a:t> </a:t>
            </a:r>
            <a:r>
              <a:rPr lang="en-GB" sz="1100" dirty="0">
                <a:highlight>
                  <a:srgbClr val="FFFF00"/>
                </a:highlight>
              </a:rPr>
              <a:t>literature search </a:t>
            </a:r>
            <a:r>
              <a:rPr lang="en-GB" sz="1100" dirty="0"/>
              <a:t>focused enough to lead to your</a:t>
            </a:r>
            <a:r>
              <a:rPr lang="en-GB" sz="1100" baseline="0" dirty="0"/>
              <a:t> </a:t>
            </a:r>
            <a:r>
              <a:rPr lang="en-GB" sz="1100" dirty="0"/>
              <a:t>specific</a:t>
            </a:r>
            <a:r>
              <a:rPr lang="en-GB" sz="1100" baseline="0" dirty="0"/>
              <a:t> research question/research problem or review question.</a:t>
            </a:r>
            <a:r>
              <a:rPr lang="en-GB" sz="1100" dirty="0"/>
              <a:t> </a:t>
            </a:r>
            <a:r>
              <a:rPr lang="en-GB" sz="1100" baseline="0" dirty="0"/>
              <a:t> If your results are too many or your chapter is getting </a:t>
            </a:r>
            <a:r>
              <a:rPr lang="en-US" sz="1100" baseline="0" dirty="0"/>
              <a:t>too long, you need to focus more - it may be that your topic is too broad.</a:t>
            </a:r>
          </a:p>
          <a:p>
            <a:endParaRPr lang="en-GB" sz="1100" dirty="0"/>
          </a:p>
          <a:p>
            <a:r>
              <a:rPr lang="en-GB" sz="1100" dirty="0"/>
              <a:t>In your narrative you should be seeking to use a range of academic literature.  Keep websites</a:t>
            </a:r>
            <a:r>
              <a:rPr lang="en-GB" sz="1100" baseline="0" dirty="0"/>
              <a:t> to a minimum - use a textbook or journal article instead where possible.  For </a:t>
            </a:r>
            <a:r>
              <a:rPr lang="en-GB" sz="1100" baseline="0" dirty="0">
                <a:highlight>
                  <a:srgbClr val="FFFF00"/>
                </a:highlight>
              </a:rPr>
              <a:t>literature-based studies </a:t>
            </a:r>
            <a:r>
              <a:rPr lang="en-GB" sz="1100" baseline="0" dirty="0"/>
              <a:t>you should only be searching for journal articles or conference papers.</a:t>
            </a:r>
            <a:endParaRPr lang="en-GB" sz="1100" dirty="0"/>
          </a:p>
          <a:p>
            <a:endParaRPr lang="en-GB" sz="1100" dirty="0"/>
          </a:p>
          <a:p>
            <a:r>
              <a:rPr lang="en-GB" sz="1100" dirty="0"/>
              <a:t>You need to use the Wrexham Harvard style</a:t>
            </a:r>
            <a:r>
              <a:rPr lang="en-GB" sz="1100" baseline="0" dirty="0"/>
              <a:t> of referencing.</a:t>
            </a:r>
            <a:r>
              <a:rPr lang="en-GB" sz="1100" dirty="0"/>
              <a:t> </a:t>
            </a:r>
            <a:r>
              <a:rPr lang="en-GB" sz="1100" baseline="0" dirty="0"/>
              <a:t> You will need to edit your reference list to meet the </a:t>
            </a:r>
            <a:r>
              <a:rPr lang="en-GB" sz="1100" dirty="0"/>
              <a:t>Wrexham </a:t>
            </a:r>
            <a:r>
              <a:rPr lang="en-GB" sz="1100" baseline="0" dirty="0"/>
              <a:t>style.</a:t>
            </a:r>
            <a:r>
              <a:rPr lang="en-GB" sz="1100" dirty="0"/>
              <a:t> </a:t>
            </a:r>
            <a:r>
              <a:rPr lang="en-GB" sz="1100" baseline="0" dirty="0"/>
              <a:t> In addition, note that y</a:t>
            </a:r>
            <a:r>
              <a:rPr lang="en-GB" sz="1100" dirty="0"/>
              <a:t>ou must</a:t>
            </a:r>
            <a:r>
              <a:rPr lang="en-GB" sz="1100" baseline="0" dirty="0"/>
              <a:t> make sure that your citation is relevant to the sentence and point you are making.</a:t>
            </a:r>
            <a:r>
              <a:rPr lang="en-GB" sz="1100" dirty="0"/>
              <a:t> </a:t>
            </a:r>
            <a:r>
              <a:rPr lang="en-GB" sz="1100" baseline="0" dirty="0"/>
              <a:t> The whole journal article needs to be relevant not just one sentence from it.</a:t>
            </a:r>
            <a:r>
              <a:rPr lang="en-GB" sz="1100" dirty="0"/>
              <a:t> </a:t>
            </a:r>
            <a:r>
              <a:rPr lang="en-GB" sz="1100" baseline="0" dirty="0"/>
              <a:t> It is better to leave the statement without a source for your draft than to include a citation flag that points to something irrelevant.</a:t>
            </a:r>
            <a:r>
              <a:rPr lang="en-GB" sz="1100" dirty="0"/>
              <a:t>  </a:t>
            </a:r>
            <a:endParaRPr lang="en-GB" sz="1100" baseline="0" dirty="0">
              <a:cs typeface="Calibri"/>
            </a:endParaRPr>
          </a:p>
          <a:p>
            <a:endParaRPr lang="en-GB" sz="1100" baseline="0" dirty="0"/>
          </a:p>
          <a:p>
            <a:r>
              <a:rPr lang="en-GB" sz="1100" baseline="0" dirty="0"/>
              <a:t>Stay in the third person, so no use of ‘I’ or ‘we</a:t>
            </a:r>
            <a:r>
              <a:rPr lang="en-GB" sz="1100" dirty="0"/>
              <a:t>’ or 'the researcher'</a:t>
            </a:r>
            <a:endParaRPr lang="en-GB" sz="1100" baseline="0" dirty="0">
              <a:cs typeface="Calibri"/>
            </a:endParaRPr>
          </a:p>
          <a:p>
            <a:endParaRPr lang="en-GB" sz="1100" baseline="0" dirty="0"/>
          </a:p>
          <a:p>
            <a:r>
              <a:rPr lang="en-GB" sz="1100" baseline="0" dirty="0"/>
              <a:t>Remember for your </a:t>
            </a:r>
            <a:r>
              <a:rPr lang="en-GB" sz="1100" dirty="0">
                <a:highlight>
                  <a:srgbClr val="00FF00"/>
                </a:highlight>
              </a:rPr>
              <a:t>literature review chapter </a:t>
            </a:r>
            <a:r>
              <a:rPr lang="en-GB" sz="1100" baseline="0" dirty="0"/>
              <a:t>you need to </a:t>
            </a:r>
            <a:r>
              <a:rPr lang="en-US" sz="1100" baseline="0" dirty="0" err="1"/>
              <a:t>synthesise</a:t>
            </a:r>
            <a:r>
              <a:rPr lang="en-US" sz="1100" baseline="0" dirty="0"/>
              <a:t> and be critical, don’t just describe the literature.</a:t>
            </a:r>
            <a:r>
              <a:rPr lang="en-US" sz="1100" dirty="0"/>
              <a:t> </a:t>
            </a:r>
            <a:r>
              <a:rPr lang="en-US" sz="1100" baseline="0" dirty="0"/>
              <a:t> Is there an argument in the discourse?</a:t>
            </a:r>
            <a:r>
              <a:rPr lang="en-US" sz="1100" dirty="0"/>
              <a:t> </a:t>
            </a:r>
            <a:r>
              <a:rPr lang="en-US" sz="1100" baseline="0" dirty="0"/>
              <a:t> Are there similarities in study findings?</a:t>
            </a:r>
            <a:r>
              <a:rPr lang="en-US" sz="1100" dirty="0"/>
              <a:t> </a:t>
            </a:r>
            <a:r>
              <a:rPr lang="en-US" sz="1100" baseline="0" dirty="0"/>
              <a:t> Are there differences in study results and findings?</a:t>
            </a:r>
            <a:r>
              <a:rPr lang="en-US" sz="1100" dirty="0"/>
              <a:t> </a:t>
            </a:r>
            <a:r>
              <a:rPr lang="en-US" sz="1100" baseline="0" dirty="0"/>
              <a:t> You need to make connections and highlight any consensus or disagreement.</a:t>
            </a:r>
            <a:r>
              <a:rPr lang="en-US" sz="1100" dirty="0"/>
              <a:t> </a:t>
            </a:r>
            <a:endParaRPr lang="en-US" sz="1100" baseline="0" dirty="0"/>
          </a:p>
        </p:txBody>
      </p:sp>
      <p:sp>
        <p:nvSpPr>
          <p:cNvPr id="4" name="Slide Number Placeholder 3"/>
          <p:cNvSpPr>
            <a:spLocks noGrp="1"/>
          </p:cNvSpPr>
          <p:nvPr>
            <p:ph type="sldNum" sz="quarter" idx="10"/>
          </p:nvPr>
        </p:nvSpPr>
        <p:spPr/>
        <p:txBody>
          <a:bodyPr/>
          <a:lstStyle/>
          <a:p>
            <a:fld id="{511295A1-5E39-F74B-9AF8-46A80968C18B}" type="slidenum">
              <a:rPr lang="en-US" smtClean="0"/>
              <a:t>17</a:t>
            </a:fld>
            <a:endParaRPr lang="en-US"/>
          </a:p>
        </p:txBody>
      </p:sp>
    </p:spTree>
    <p:extLst>
      <p:ext uri="{BB962C8B-B14F-4D97-AF65-F5344CB8AC3E}">
        <p14:creationId xmlns:p14="http://schemas.microsoft.com/office/powerpoint/2010/main" val="8758314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u="none" dirty="0"/>
              <a:t>So now that</a:t>
            </a:r>
            <a:r>
              <a:rPr lang="en-GB" sz="1200" u="none" baseline="0" dirty="0"/>
              <a:t> you have had a chance to reflect on the work you need to do in relation to your literature search. Look at the questions on this slide and consider points you need to discuss with your supervisor in your next supervision session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u="none" baseline="0" dirty="0"/>
              <a:t>Do you have any questions about your literature search?</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u="none" baseline="0" dirty="0"/>
              <a:t>Are you happy about your progress with your literature search?</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u="none" baseline="0" dirty="0"/>
              <a:t>Do you have any concerns about your literature search or are you unclear about what you need to do?</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u="none"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u="none" baseline="0" dirty="0"/>
              <a:t>[5 mins or as long as needed]</a:t>
            </a:r>
          </a:p>
        </p:txBody>
      </p:sp>
      <p:sp>
        <p:nvSpPr>
          <p:cNvPr id="4" name="Slide Number Placeholder 3"/>
          <p:cNvSpPr>
            <a:spLocks noGrp="1"/>
          </p:cNvSpPr>
          <p:nvPr>
            <p:ph type="sldNum" sz="quarter" idx="5"/>
          </p:nvPr>
        </p:nvSpPr>
        <p:spPr/>
        <p:txBody>
          <a:bodyPr/>
          <a:lstStyle/>
          <a:p>
            <a:fld id="{511295A1-5E39-F74B-9AF8-46A80968C18B}" type="slidenum">
              <a:rPr lang="en-US" smtClean="0"/>
              <a:pPr/>
              <a:t>18</a:t>
            </a:fld>
            <a:endParaRPr lang="en-US"/>
          </a:p>
        </p:txBody>
      </p:sp>
    </p:spTree>
    <p:extLst>
      <p:ext uri="{BB962C8B-B14F-4D97-AF65-F5344CB8AC3E}">
        <p14:creationId xmlns:p14="http://schemas.microsoft.com/office/powerpoint/2010/main" val="1058863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u="none" dirty="0"/>
              <a:t>So next we are</a:t>
            </a:r>
            <a:r>
              <a:rPr lang="en-GB" sz="1200" u="none" baseline="0" dirty="0"/>
              <a:t> going to spend some discussing the literature searching and the work you will present to your supervision at the next supervision session. Empirical based students all need to provide a slide relating to your search strategy. Then two slides – one based on the key theories and existing knowledge found in the literature selected for the review and one demonstrating the gap in knowledge and how this informs the development of your research question. </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u="none" baseline="0" dirty="0"/>
              <a:t>All  empirical students should submit 3 slides via the assessment point on Moodle , 2 days prior to their supervision session in March. This will be work in progress and you are not expected to have completed this chapter at this time. You should however have completed it before your supervision session in April.</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u="none" baseline="0" dirty="0"/>
              <a:t>Project based students have until 10</a:t>
            </a:r>
            <a:r>
              <a:rPr lang="en-GB" sz="1200" u="none" baseline="30000" dirty="0"/>
              <a:t>th</a:t>
            </a:r>
            <a:r>
              <a:rPr lang="en-GB" sz="1200" u="none" baseline="0" dirty="0"/>
              <a:t> March to revise and resubmit their literature review within the background and context chapter and will receive feedback on this prior to supervision session in March.</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u="none" baseline="0" dirty="0"/>
          </a:p>
        </p:txBody>
      </p:sp>
      <p:sp>
        <p:nvSpPr>
          <p:cNvPr id="4" name="Slide Number Placeholder 3"/>
          <p:cNvSpPr>
            <a:spLocks noGrp="1"/>
          </p:cNvSpPr>
          <p:nvPr>
            <p:ph type="sldNum" sz="quarter" idx="5"/>
          </p:nvPr>
        </p:nvSpPr>
        <p:spPr/>
        <p:txBody>
          <a:bodyPr/>
          <a:lstStyle/>
          <a:p>
            <a:fld id="{511295A1-5E39-F74B-9AF8-46A80968C18B}" type="slidenum">
              <a:rPr lang="en-US" smtClean="0"/>
              <a:pPr/>
              <a:t>19</a:t>
            </a:fld>
            <a:endParaRPr lang="en-US"/>
          </a:p>
        </p:txBody>
      </p:sp>
    </p:spTree>
    <p:extLst>
      <p:ext uri="{BB962C8B-B14F-4D97-AF65-F5344CB8AC3E}">
        <p14:creationId xmlns:p14="http://schemas.microsoft.com/office/powerpoint/2010/main" val="32371810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932A8-A44D-E4C3-3259-4457ACD4B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60061-310F-7AE7-D3E6-4B3D071EC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458CF-A12C-2BFC-2073-3E3449BB1F3E}"/>
              </a:ext>
            </a:extLst>
          </p:cNvPr>
          <p:cNvSpPr>
            <a:spLocks noGrp="1"/>
          </p:cNvSpPr>
          <p:nvPr>
            <p:ph type="body" idx="1"/>
          </p:nvPr>
        </p:nvSpPr>
        <p:spPr/>
        <p:txBody>
          <a:bodyPr/>
          <a:lstStyle/>
          <a:p>
            <a:r>
              <a:rPr lang="en-GB" b="1" dirty="0"/>
              <a:t>This is the slide that all  empirical students need to completed and submit ahead of supervision session in March. Replace the blue font with your own search information.</a:t>
            </a:r>
          </a:p>
        </p:txBody>
      </p:sp>
      <p:sp>
        <p:nvSpPr>
          <p:cNvPr id="4" name="Slide Number Placeholder 3">
            <a:extLst>
              <a:ext uri="{FF2B5EF4-FFF2-40B4-BE49-F238E27FC236}">
                <a16:creationId xmlns:a16="http://schemas.microsoft.com/office/drawing/2014/main" id="{0386CFEB-1B31-0AFE-E44F-11D3C9836387}"/>
              </a:ext>
            </a:extLst>
          </p:cNvPr>
          <p:cNvSpPr>
            <a:spLocks noGrp="1"/>
          </p:cNvSpPr>
          <p:nvPr>
            <p:ph type="sldNum" sz="quarter" idx="10"/>
          </p:nvPr>
        </p:nvSpPr>
        <p:spPr/>
        <p:txBody>
          <a:bodyPr/>
          <a:lstStyle/>
          <a:p>
            <a:fld id="{511295A1-5E39-F74B-9AF8-46A80968C18B}" type="slidenum">
              <a:rPr lang="en-US" smtClean="0"/>
              <a:t>20</a:t>
            </a:fld>
            <a:endParaRPr lang="en-US"/>
          </a:p>
        </p:txBody>
      </p:sp>
    </p:spTree>
    <p:extLst>
      <p:ext uri="{BB962C8B-B14F-4D97-AF65-F5344CB8AC3E}">
        <p14:creationId xmlns:p14="http://schemas.microsoft.com/office/powerpoint/2010/main" val="1930741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2B0DD-7A84-E64B-03FA-5ACC96A7C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969F3-FB53-4D79-7B95-0888FB6F69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4C18BF-9536-B6E5-ECCD-D24082A61C2F}"/>
              </a:ext>
            </a:extLst>
          </p:cNvPr>
          <p:cNvSpPr>
            <a:spLocks noGrp="1"/>
          </p:cNvSpPr>
          <p:nvPr>
            <p:ph type="body" idx="1"/>
          </p:nvPr>
        </p:nvSpPr>
        <p:spPr/>
        <p:txBody>
          <a:bodyPr/>
          <a:lstStyle/>
          <a:p>
            <a:r>
              <a:rPr lang="en-GB" b="1" dirty="0"/>
              <a:t>This slide is for empirical students and is asking you to identify key theories and definitions you have found from your searches. Don’t forget to use Wrexham Harvard references for these.</a:t>
            </a:r>
          </a:p>
        </p:txBody>
      </p:sp>
      <p:sp>
        <p:nvSpPr>
          <p:cNvPr id="4" name="Slide Number Placeholder 3">
            <a:extLst>
              <a:ext uri="{FF2B5EF4-FFF2-40B4-BE49-F238E27FC236}">
                <a16:creationId xmlns:a16="http://schemas.microsoft.com/office/drawing/2014/main" id="{7FBADC76-8BDF-C60D-2A49-C7669B970897}"/>
              </a:ext>
            </a:extLst>
          </p:cNvPr>
          <p:cNvSpPr>
            <a:spLocks noGrp="1"/>
          </p:cNvSpPr>
          <p:nvPr>
            <p:ph type="sldNum" sz="quarter" idx="10"/>
          </p:nvPr>
        </p:nvSpPr>
        <p:spPr/>
        <p:txBody>
          <a:bodyPr/>
          <a:lstStyle/>
          <a:p>
            <a:fld id="{511295A1-5E39-F74B-9AF8-46A80968C18B}" type="slidenum">
              <a:rPr lang="en-US" smtClean="0"/>
              <a:t>21</a:t>
            </a:fld>
            <a:endParaRPr lang="en-US"/>
          </a:p>
        </p:txBody>
      </p:sp>
    </p:spTree>
    <p:extLst>
      <p:ext uri="{BB962C8B-B14F-4D97-AF65-F5344CB8AC3E}">
        <p14:creationId xmlns:p14="http://schemas.microsoft.com/office/powerpoint/2010/main" val="2787251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27F89-954C-4EF4-85CA-3FAC5AECA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50580-6D2D-859D-BCAC-4210A2AF0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801396-BCEB-5F38-E8D5-C3C27EE26720}"/>
              </a:ext>
            </a:extLst>
          </p:cNvPr>
          <p:cNvSpPr>
            <a:spLocks noGrp="1"/>
          </p:cNvSpPr>
          <p:nvPr>
            <p:ph type="body" idx="1"/>
          </p:nvPr>
        </p:nvSpPr>
        <p:spPr/>
        <p:txBody>
          <a:bodyPr/>
          <a:lstStyle/>
          <a:p>
            <a:r>
              <a:rPr lang="en-GB" b="1" dirty="0"/>
              <a:t>Again this slide is only for empirical based research students. It is asking you about any gap in knowledge you have uncovered from your literature review. You need to consider how the gap identified relates to your research question and whether you now need to refine your research question in the light of the knowledge you have uncovered. If you find your research question has already been answered in the literature you have found then you need to consider whether or not your study is still justified. </a:t>
            </a:r>
          </a:p>
        </p:txBody>
      </p:sp>
      <p:sp>
        <p:nvSpPr>
          <p:cNvPr id="4" name="Slide Number Placeholder 3">
            <a:extLst>
              <a:ext uri="{FF2B5EF4-FFF2-40B4-BE49-F238E27FC236}">
                <a16:creationId xmlns:a16="http://schemas.microsoft.com/office/drawing/2014/main" id="{A36DBC0E-7AF2-13FF-515A-0475101125D2}"/>
              </a:ext>
            </a:extLst>
          </p:cNvPr>
          <p:cNvSpPr>
            <a:spLocks noGrp="1"/>
          </p:cNvSpPr>
          <p:nvPr>
            <p:ph type="sldNum" sz="quarter" idx="10"/>
          </p:nvPr>
        </p:nvSpPr>
        <p:spPr/>
        <p:txBody>
          <a:bodyPr/>
          <a:lstStyle/>
          <a:p>
            <a:fld id="{511295A1-5E39-F74B-9AF8-46A80968C18B}" type="slidenum">
              <a:rPr lang="en-US" smtClean="0"/>
              <a:t>22</a:t>
            </a:fld>
            <a:endParaRPr lang="en-US"/>
          </a:p>
        </p:txBody>
      </p:sp>
    </p:spTree>
    <p:extLst>
      <p:ext uri="{BB962C8B-B14F-4D97-AF65-F5344CB8AC3E}">
        <p14:creationId xmlns:p14="http://schemas.microsoft.com/office/powerpoint/2010/main" val="30839530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b="1" dirty="0"/>
          </a:p>
          <a:p>
            <a:r>
              <a:rPr lang="en-GB" b="1" dirty="0"/>
              <a:t>Your next online lecture will be in April – by then you should all have ethical approval in place, have submitted your draft methodology chapter and been working on your literature chapter. In January your on line lecture will be about your data/source analysis and your results/findings and discussion chapter.</a:t>
            </a:r>
          </a:p>
          <a:p>
            <a:r>
              <a:rPr lang="en-GB" b="1" dirty="0"/>
              <a:t>In the meantime , remember to fully engage with the Section 3 material on literature.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Remember to keep engaging with your supervisor!</a:t>
            </a:r>
          </a:p>
          <a:p>
            <a:endParaRPr lang="en-GB" b="1" dirty="0"/>
          </a:p>
        </p:txBody>
      </p:sp>
      <p:sp>
        <p:nvSpPr>
          <p:cNvPr id="4" name="Slide Number Placeholder 3"/>
          <p:cNvSpPr>
            <a:spLocks noGrp="1"/>
          </p:cNvSpPr>
          <p:nvPr>
            <p:ph type="sldNum" sz="quarter" idx="10"/>
          </p:nvPr>
        </p:nvSpPr>
        <p:spPr/>
        <p:txBody>
          <a:bodyPr/>
          <a:lstStyle/>
          <a:p>
            <a:fld id="{511295A1-5E39-F74B-9AF8-46A80968C18B}" type="slidenum">
              <a:rPr lang="en-US" smtClean="0"/>
              <a:t>23</a:t>
            </a:fld>
            <a:endParaRPr lang="en-US"/>
          </a:p>
        </p:txBody>
      </p:sp>
    </p:spTree>
    <p:extLst>
      <p:ext uri="{BB962C8B-B14F-4D97-AF65-F5344CB8AC3E}">
        <p14:creationId xmlns:p14="http://schemas.microsoft.com/office/powerpoint/2010/main" val="904318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Finally please record your attendance once you have completed this lecture.</a:t>
            </a:r>
          </a:p>
        </p:txBody>
      </p:sp>
      <p:sp>
        <p:nvSpPr>
          <p:cNvPr id="4" name="Slide Number Placeholder 3"/>
          <p:cNvSpPr>
            <a:spLocks noGrp="1"/>
          </p:cNvSpPr>
          <p:nvPr>
            <p:ph type="sldNum" sz="quarter" idx="5"/>
          </p:nvPr>
        </p:nvSpPr>
        <p:spPr/>
        <p:txBody>
          <a:bodyPr/>
          <a:lstStyle/>
          <a:p>
            <a:fld id="{511295A1-5E39-F74B-9AF8-46A80968C18B}" type="slidenum">
              <a:rPr lang="en-US" smtClean="0"/>
              <a:pPr/>
              <a:t>24</a:t>
            </a:fld>
            <a:endParaRPr lang="en-US" dirty="0"/>
          </a:p>
        </p:txBody>
      </p:sp>
    </p:spTree>
    <p:extLst>
      <p:ext uri="{BB962C8B-B14F-4D97-AF65-F5344CB8AC3E}">
        <p14:creationId xmlns:p14="http://schemas.microsoft.com/office/powerpoint/2010/main" val="113618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73BC-D9DD-F194-4FD4-35CE14FFE96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5BEB1E5-2281-8556-6D31-817F9DDCC4E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F41C38A-1BEF-01F2-8CB2-B89281FEA78C}"/>
              </a:ext>
            </a:extLst>
          </p:cNvPr>
          <p:cNvSpPr>
            <a:spLocks noGrp="1"/>
          </p:cNvSpPr>
          <p:nvPr>
            <p:ph type="dt" sz="half" idx="10"/>
          </p:nvPr>
        </p:nvSpPr>
        <p:spPr>
          <a:xfrm>
            <a:off x="838200" y="6356350"/>
            <a:ext cx="2743200" cy="365125"/>
          </a:xfrm>
          <a:prstGeom prst="rect">
            <a:avLst/>
          </a:prstGeom>
        </p:spPr>
        <p:txBody>
          <a:bodyPr/>
          <a:lstStyle/>
          <a:p>
            <a:fld id="{65D0BADF-6E5E-AA48-BEC3-845095CAA91C}" type="datetimeFigureOut">
              <a:rPr lang="en-US" smtClean="0"/>
              <a:t>10/22/2025</a:t>
            </a:fld>
            <a:endParaRPr lang="en-US"/>
          </a:p>
        </p:txBody>
      </p:sp>
      <p:sp>
        <p:nvSpPr>
          <p:cNvPr id="5" name="Footer Placeholder 4">
            <a:extLst>
              <a:ext uri="{FF2B5EF4-FFF2-40B4-BE49-F238E27FC236}">
                <a16:creationId xmlns:a16="http://schemas.microsoft.com/office/drawing/2014/main" id="{63120691-3DE6-D50F-D667-4794B3BCA5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809F150-D320-57C3-AAFC-EA5F1AF950ED}"/>
              </a:ext>
            </a:extLst>
          </p:cNvPr>
          <p:cNvSpPr>
            <a:spLocks noGrp="1"/>
          </p:cNvSpPr>
          <p:nvPr>
            <p:ph type="sldNum" sz="quarter" idx="12"/>
          </p:nvPr>
        </p:nvSpPr>
        <p:spPr>
          <a:xfrm>
            <a:off x="8610600" y="6356350"/>
            <a:ext cx="2743200" cy="365125"/>
          </a:xfrm>
          <a:prstGeom prst="rect">
            <a:avLst/>
          </a:prstGeom>
        </p:spPr>
        <p:txBody>
          <a:bodyPr/>
          <a:lstStyle/>
          <a:p>
            <a:fld id="{690D138C-1119-0B4E-9633-053F1791AA53}" type="slidenum">
              <a:rPr lang="en-US" smtClean="0"/>
              <a:t>‹#›</a:t>
            </a:fld>
            <a:endParaRPr lang="en-US"/>
          </a:p>
        </p:txBody>
      </p:sp>
    </p:spTree>
    <p:extLst>
      <p:ext uri="{BB962C8B-B14F-4D97-AF65-F5344CB8AC3E}">
        <p14:creationId xmlns:p14="http://schemas.microsoft.com/office/powerpoint/2010/main" val="2599851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2BC6C-52E1-957F-2D89-EA32C18F9841}"/>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62D7766-5A04-03B8-21C7-A75D15487D2E}"/>
              </a:ext>
            </a:extLst>
          </p:cNvPr>
          <p:cNvSpPr>
            <a:spLocks noGrp="1"/>
          </p:cNvSpPr>
          <p:nvPr>
            <p:ph idx="1"/>
          </p:nvPr>
        </p:nvSpPr>
        <p:spPr>
          <a:xfrm>
            <a:off x="838200" y="1825625"/>
            <a:ext cx="10515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7794707-DA57-A562-64F0-C7231B70E34C}"/>
              </a:ext>
            </a:extLst>
          </p:cNvPr>
          <p:cNvSpPr>
            <a:spLocks noGrp="1"/>
          </p:cNvSpPr>
          <p:nvPr>
            <p:ph type="dt" sz="half" idx="10"/>
          </p:nvPr>
        </p:nvSpPr>
        <p:spPr>
          <a:xfrm>
            <a:off x="838200" y="6356350"/>
            <a:ext cx="2743200" cy="365125"/>
          </a:xfrm>
          <a:prstGeom prst="rect">
            <a:avLst/>
          </a:prstGeom>
        </p:spPr>
        <p:txBody>
          <a:bodyPr/>
          <a:lstStyle/>
          <a:p>
            <a:fld id="{65D0BADF-6E5E-AA48-BEC3-845095CAA91C}" type="datetimeFigureOut">
              <a:rPr lang="en-US" smtClean="0"/>
              <a:t>10/22/2025</a:t>
            </a:fld>
            <a:endParaRPr lang="en-US"/>
          </a:p>
        </p:txBody>
      </p:sp>
      <p:sp>
        <p:nvSpPr>
          <p:cNvPr id="5" name="Footer Placeholder 4">
            <a:extLst>
              <a:ext uri="{FF2B5EF4-FFF2-40B4-BE49-F238E27FC236}">
                <a16:creationId xmlns:a16="http://schemas.microsoft.com/office/drawing/2014/main" id="{E7905340-9996-B6CE-4862-57AB8A0CAF5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A35B36B-98E8-7C24-720B-C1C01C294ED1}"/>
              </a:ext>
            </a:extLst>
          </p:cNvPr>
          <p:cNvSpPr>
            <a:spLocks noGrp="1"/>
          </p:cNvSpPr>
          <p:nvPr>
            <p:ph type="sldNum" sz="quarter" idx="12"/>
          </p:nvPr>
        </p:nvSpPr>
        <p:spPr>
          <a:xfrm>
            <a:off x="8610600" y="6356350"/>
            <a:ext cx="2743200" cy="365125"/>
          </a:xfrm>
          <a:prstGeom prst="rect">
            <a:avLst/>
          </a:prstGeom>
        </p:spPr>
        <p:txBody>
          <a:bodyPr/>
          <a:lstStyle/>
          <a:p>
            <a:fld id="{690D138C-1119-0B4E-9633-053F1791AA53}" type="slidenum">
              <a:rPr lang="en-US" smtClean="0"/>
              <a:t>‹#›</a:t>
            </a:fld>
            <a:endParaRPr lang="en-US"/>
          </a:p>
        </p:txBody>
      </p:sp>
    </p:spTree>
    <p:extLst>
      <p:ext uri="{BB962C8B-B14F-4D97-AF65-F5344CB8AC3E}">
        <p14:creationId xmlns:p14="http://schemas.microsoft.com/office/powerpoint/2010/main" val="2269554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E042E-54B4-54F3-0E27-1580A1CDE46D}"/>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B1CFFB4-2390-72E4-EA40-D28EE958C30A}"/>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039F7F0-2A08-A6AB-C070-2BB10394E0F1}"/>
              </a:ext>
            </a:extLst>
          </p:cNvPr>
          <p:cNvSpPr>
            <a:spLocks noGrp="1"/>
          </p:cNvSpPr>
          <p:nvPr>
            <p:ph type="dt" sz="half" idx="10"/>
          </p:nvPr>
        </p:nvSpPr>
        <p:spPr>
          <a:xfrm>
            <a:off x="838200" y="6356350"/>
            <a:ext cx="2743200" cy="365125"/>
          </a:xfrm>
          <a:prstGeom prst="rect">
            <a:avLst/>
          </a:prstGeom>
        </p:spPr>
        <p:txBody>
          <a:bodyPr/>
          <a:lstStyle/>
          <a:p>
            <a:fld id="{65D0BADF-6E5E-AA48-BEC3-845095CAA91C}" type="datetimeFigureOut">
              <a:rPr lang="en-US" smtClean="0"/>
              <a:t>10/22/2025</a:t>
            </a:fld>
            <a:endParaRPr lang="en-US"/>
          </a:p>
        </p:txBody>
      </p:sp>
      <p:sp>
        <p:nvSpPr>
          <p:cNvPr id="5" name="Footer Placeholder 4">
            <a:extLst>
              <a:ext uri="{FF2B5EF4-FFF2-40B4-BE49-F238E27FC236}">
                <a16:creationId xmlns:a16="http://schemas.microsoft.com/office/drawing/2014/main" id="{7C4A627D-2BB8-9898-A742-BA7B9BDE531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3CEC000-5B49-1473-DF60-CF0DFDD7837F}"/>
              </a:ext>
            </a:extLst>
          </p:cNvPr>
          <p:cNvSpPr>
            <a:spLocks noGrp="1"/>
          </p:cNvSpPr>
          <p:nvPr>
            <p:ph type="sldNum" sz="quarter" idx="12"/>
          </p:nvPr>
        </p:nvSpPr>
        <p:spPr>
          <a:xfrm>
            <a:off x="8610600" y="6356350"/>
            <a:ext cx="2743200" cy="365125"/>
          </a:xfrm>
          <a:prstGeom prst="rect">
            <a:avLst/>
          </a:prstGeom>
        </p:spPr>
        <p:txBody>
          <a:bodyPr/>
          <a:lstStyle/>
          <a:p>
            <a:fld id="{690D138C-1119-0B4E-9633-053F1791AA53}" type="slidenum">
              <a:rPr lang="en-US" smtClean="0"/>
              <a:t>‹#›</a:t>
            </a:fld>
            <a:endParaRPr lang="en-US"/>
          </a:p>
        </p:txBody>
      </p:sp>
    </p:spTree>
    <p:extLst>
      <p:ext uri="{BB962C8B-B14F-4D97-AF65-F5344CB8AC3E}">
        <p14:creationId xmlns:p14="http://schemas.microsoft.com/office/powerpoint/2010/main" val="2240498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44750-C429-36D8-2C2F-122110E82EA2}"/>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EB99882-9F51-C052-8944-3658294CFAD9}"/>
              </a:ext>
            </a:extLst>
          </p:cNvPr>
          <p:cNvSpPr>
            <a:spLocks noGrp="1"/>
          </p:cNvSpPr>
          <p:nvPr>
            <p:ph sz="half" idx="1"/>
          </p:nvPr>
        </p:nvSpPr>
        <p:spPr>
          <a:xfrm>
            <a:off x="838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15F8EDA-199D-1DE2-C91E-212A90694AFF}"/>
              </a:ext>
            </a:extLst>
          </p:cNvPr>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8A497DD-35ED-0A79-733E-13C791C1BE0E}"/>
              </a:ext>
            </a:extLst>
          </p:cNvPr>
          <p:cNvSpPr>
            <a:spLocks noGrp="1"/>
          </p:cNvSpPr>
          <p:nvPr>
            <p:ph type="dt" sz="half" idx="10"/>
          </p:nvPr>
        </p:nvSpPr>
        <p:spPr>
          <a:xfrm>
            <a:off x="838200" y="6356350"/>
            <a:ext cx="2743200" cy="365125"/>
          </a:xfrm>
          <a:prstGeom prst="rect">
            <a:avLst/>
          </a:prstGeom>
        </p:spPr>
        <p:txBody>
          <a:bodyPr/>
          <a:lstStyle/>
          <a:p>
            <a:fld id="{65D0BADF-6E5E-AA48-BEC3-845095CAA91C}" type="datetimeFigureOut">
              <a:rPr lang="en-US" smtClean="0"/>
              <a:t>10/22/2025</a:t>
            </a:fld>
            <a:endParaRPr lang="en-US"/>
          </a:p>
        </p:txBody>
      </p:sp>
      <p:sp>
        <p:nvSpPr>
          <p:cNvPr id="6" name="Footer Placeholder 5">
            <a:extLst>
              <a:ext uri="{FF2B5EF4-FFF2-40B4-BE49-F238E27FC236}">
                <a16:creationId xmlns:a16="http://schemas.microsoft.com/office/drawing/2014/main" id="{40AF2218-5C4B-FC83-986A-783F770A9F7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73E1389-1F25-01FD-22C0-CA632C755717}"/>
              </a:ext>
            </a:extLst>
          </p:cNvPr>
          <p:cNvSpPr>
            <a:spLocks noGrp="1"/>
          </p:cNvSpPr>
          <p:nvPr>
            <p:ph type="sldNum" sz="quarter" idx="12"/>
          </p:nvPr>
        </p:nvSpPr>
        <p:spPr>
          <a:xfrm>
            <a:off x="8610600" y="6356350"/>
            <a:ext cx="2743200" cy="365125"/>
          </a:xfrm>
          <a:prstGeom prst="rect">
            <a:avLst/>
          </a:prstGeom>
        </p:spPr>
        <p:txBody>
          <a:bodyPr/>
          <a:lstStyle/>
          <a:p>
            <a:fld id="{690D138C-1119-0B4E-9633-053F1791AA53}" type="slidenum">
              <a:rPr lang="en-US" smtClean="0"/>
              <a:t>‹#›</a:t>
            </a:fld>
            <a:endParaRPr lang="en-US"/>
          </a:p>
        </p:txBody>
      </p:sp>
    </p:spTree>
    <p:extLst>
      <p:ext uri="{BB962C8B-B14F-4D97-AF65-F5344CB8AC3E}">
        <p14:creationId xmlns:p14="http://schemas.microsoft.com/office/powerpoint/2010/main" val="1053738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459C4-AAB6-6931-4715-58D34DF8314E}"/>
              </a:ext>
            </a:extLst>
          </p:cNvPr>
          <p:cNvSpPr>
            <a:spLocks noGrp="1"/>
          </p:cNvSpPr>
          <p:nvPr>
            <p:ph type="title"/>
          </p:nvPr>
        </p:nvSpPr>
        <p:spPr>
          <a:xfrm>
            <a:off x="839788" y="365125"/>
            <a:ext cx="10515600" cy="1325563"/>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4212E09-A8BF-DB3F-5624-9C0F93205B5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1655647-CD01-6BD6-2A08-67C89C9AA6C6}"/>
              </a:ext>
            </a:extLst>
          </p:cNvPr>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F2D45FF-EA75-72FE-B12E-31711879A2B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C2C2BC6-713E-EFA2-E68C-0FB35D4C584B}"/>
              </a:ext>
            </a:extLst>
          </p:cNvPr>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7B48A0C-F0BB-FC20-EB4B-BA1611BF0088}"/>
              </a:ext>
            </a:extLst>
          </p:cNvPr>
          <p:cNvSpPr>
            <a:spLocks noGrp="1"/>
          </p:cNvSpPr>
          <p:nvPr>
            <p:ph type="dt" sz="half" idx="10"/>
          </p:nvPr>
        </p:nvSpPr>
        <p:spPr>
          <a:xfrm>
            <a:off x="838200" y="6356350"/>
            <a:ext cx="2743200" cy="365125"/>
          </a:xfrm>
          <a:prstGeom prst="rect">
            <a:avLst/>
          </a:prstGeom>
        </p:spPr>
        <p:txBody>
          <a:bodyPr/>
          <a:lstStyle/>
          <a:p>
            <a:fld id="{65D0BADF-6E5E-AA48-BEC3-845095CAA91C}" type="datetimeFigureOut">
              <a:rPr lang="en-US" smtClean="0"/>
              <a:t>10/22/2025</a:t>
            </a:fld>
            <a:endParaRPr lang="en-US"/>
          </a:p>
        </p:txBody>
      </p:sp>
      <p:sp>
        <p:nvSpPr>
          <p:cNvPr id="8" name="Footer Placeholder 7">
            <a:extLst>
              <a:ext uri="{FF2B5EF4-FFF2-40B4-BE49-F238E27FC236}">
                <a16:creationId xmlns:a16="http://schemas.microsoft.com/office/drawing/2014/main" id="{2AF2FF5F-3827-32FA-A970-A81E68F4EA3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9DA6DD4-BA94-3F5F-BA33-72C9FC38F605}"/>
              </a:ext>
            </a:extLst>
          </p:cNvPr>
          <p:cNvSpPr>
            <a:spLocks noGrp="1"/>
          </p:cNvSpPr>
          <p:nvPr>
            <p:ph type="sldNum" sz="quarter" idx="12"/>
          </p:nvPr>
        </p:nvSpPr>
        <p:spPr>
          <a:xfrm>
            <a:off x="8610600" y="6356350"/>
            <a:ext cx="2743200" cy="365125"/>
          </a:xfrm>
          <a:prstGeom prst="rect">
            <a:avLst/>
          </a:prstGeom>
        </p:spPr>
        <p:txBody>
          <a:bodyPr/>
          <a:lstStyle/>
          <a:p>
            <a:fld id="{690D138C-1119-0B4E-9633-053F1791AA53}" type="slidenum">
              <a:rPr lang="en-US" smtClean="0"/>
              <a:t>‹#›</a:t>
            </a:fld>
            <a:endParaRPr lang="en-US"/>
          </a:p>
        </p:txBody>
      </p:sp>
    </p:spTree>
    <p:extLst>
      <p:ext uri="{BB962C8B-B14F-4D97-AF65-F5344CB8AC3E}">
        <p14:creationId xmlns:p14="http://schemas.microsoft.com/office/powerpoint/2010/main" val="284279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0C8AE-F3DD-548C-9637-78CBD8198BD2}"/>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5D1BDEB-9165-D05A-4A8D-2D3F3EEC47D3}"/>
              </a:ext>
            </a:extLst>
          </p:cNvPr>
          <p:cNvSpPr>
            <a:spLocks noGrp="1"/>
          </p:cNvSpPr>
          <p:nvPr>
            <p:ph type="dt" sz="half" idx="10"/>
          </p:nvPr>
        </p:nvSpPr>
        <p:spPr>
          <a:xfrm>
            <a:off x="838200" y="6356350"/>
            <a:ext cx="2743200" cy="365125"/>
          </a:xfrm>
          <a:prstGeom prst="rect">
            <a:avLst/>
          </a:prstGeom>
        </p:spPr>
        <p:txBody>
          <a:bodyPr/>
          <a:lstStyle/>
          <a:p>
            <a:fld id="{65D0BADF-6E5E-AA48-BEC3-845095CAA91C}" type="datetimeFigureOut">
              <a:rPr lang="en-US" smtClean="0"/>
              <a:t>10/22/2025</a:t>
            </a:fld>
            <a:endParaRPr lang="en-US"/>
          </a:p>
        </p:txBody>
      </p:sp>
      <p:sp>
        <p:nvSpPr>
          <p:cNvPr id="4" name="Footer Placeholder 3">
            <a:extLst>
              <a:ext uri="{FF2B5EF4-FFF2-40B4-BE49-F238E27FC236}">
                <a16:creationId xmlns:a16="http://schemas.microsoft.com/office/drawing/2014/main" id="{B89D1950-33EC-4A3B-6659-C405D926C9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7629AF2-A355-2A80-6650-7545E1C27CF3}"/>
              </a:ext>
            </a:extLst>
          </p:cNvPr>
          <p:cNvSpPr>
            <a:spLocks noGrp="1"/>
          </p:cNvSpPr>
          <p:nvPr>
            <p:ph type="sldNum" sz="quarter" idx="12"/>
          </p:nvPr>
        </p:nvSpPr>
        <p:spPr>
          <a:xfrm>
            <a:off x="8610600" y="6356350"/>
            <a:ext cx="2743200" cy="365125"/>
          </a:xfrm>
          <a:prstGeom prst="rect">
            <a:avLst/>
          </a:prstGeom>
        </p:spPr>
        <p:txBody>
          <a:bodyPr/>
          <a:lstStyle/>
          <a:p>
            <a:fld id="{690D138C-1119-0B4E-9633-053F1791AA53}" type="slidenum">
              <a:rPr lang="en-US" smtClean="0"/>
              <a:t>‹#›</a:t>
            </a:fld>
            <a:endParaRPr lang="en-US"/>
          </a:p>
        </p:txBody>
      </p:sp>
    </p:spTree>
    <p:extLst>
      <p:ext uri="{BB962C8B-B14F-4D97-AF65-F5344CB8AC3E}">
        <p14:creationId xmlns:p14="http://schemas.microsoft.com/office/powerpoint/2010/main" val="2416042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76AD03-743C-E608-0782-768AE88ABC39}"/>
              </a:ext>
            </a:extLst>
          </p:cNvPr>
          <p:cNvSpPr>
            <a:spLocks noGrp="1"/>
          </p:cNvSpPr>
          <p:nvPr>
            <p:ph type="dt" sz="half" idx="10"/>
          </p:nvPr>
        </p:nvSpPr>
        <p:spPr>
          <a:xfrm>
            <a:off x="838200" y="6356350"/>
            <a:ext cx="2743200" cy="365125"/>
          </a:xfrm>
          <a:prstGeom prst="rect">
            <a:avLst/>
          </a:prstGeom>
        </p:spPr>
        <p:txBody>
          <a:bodyPr/>
          <a:lstStyle/>
          <a:p>
            <a:fld id="{65D0BADF-6E5E-AA48-BEC3-845095CAA91C}" type="datetimeFigureOut">
              <a:rPr lang="en-US" smtClean="0"/>
              <a:t>10/22/2025</a:t>
            </a:fld>
            <a:endParaRPr lang="en-US"/>
          </a:p>
        </p:txBody>
      </p:sp>
      <p:sp>
        <p:nvSpPr>
          <p:cNvPr id="3" name="Footer Placeholder 2">
            <a:extLst>
              <a:ext uri="{FF2B5EF4-FFF2-40B4-BE49-F238E27FC236}">
                <a16:creationId xmlns:a16="http://schemas.microsoft.com/office/drawing/2014/main" id="{F3F036DB-E927-D85B-3296-B605A6D3F54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92EB2A7-F153-0A6B-BDBC-0FD251909959}"/>
              </a:ext>
            </a:extLst>
          </p:cNvPr>
          <p:cNvSpPr>
            <a:spLocks noGrp="1"/>
          </p:cNvSpPr>
          <p:nvPr>
            <p:ph type="sldNum" sz="quarter" idx="12"/>
          </p:nvPr>
        </p:nvSpPr>
        <p:spPr>
          <a:xfrm>
            <a:off x="8610600" y="6356350"/>
            <a:ext cx="2743200" cy="365125"/>
          </a:xfrm>
          <a:prstGeom prst="rect">
            <a:avLst/>
          </a:prstGeom>
        </p:spPr>
        <p:txBody>
          <a:bodyPr/>
          <a:lstStyle/>
          <a:p>
            <a:fld id="{690D138C-1119-0B4E-9633-053F1791AA53}" type="slidenum">
              <a:rPr lang="en-US" smtClean="0"/>
              <a:t>‹#›</a:t>
            </a:fld>
            <a:endParaRPr lang="en-US"/>
          </a:p>
        </p:txBody>
      </p:sp>
    </p:spTree>
    <p:extLst>
      <p:ext uri="{BB962C8B-B14F-4D97-AF65-F5344CB8AC3E}">
        <p14:creationId xmlns:p14="http://schemas.microsoft.com/office/powerpoint/2010/main" val="2273259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F7913-53CE-13FA-D1C7-1E9679C15ED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2F57C38-185D-54CA-8977-DE1070CF377E}"/>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3711FB8-2E3C-68FF-2E20-805E3622542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B92588E-73C3-1756-6E4C-8C9028AE529C}"/>
              </a:ext>
            </a:extLst>
          </p:cNvPr>
          <p:cNvSpPr>
            <a:spLocks noGrp="1"/>
          </p:cNvSpPr>
          <p:nvPr>
            <p:ph type="dt" sz="half" idx="10"/>
          </p:nvPr>
        </p:nvSpPr>
        <p:spPr>
          <a:xfrm>
            <a:off x="838200" y="6356350"/>
            <a:ext cx="2743200" cy="365125"/>
          </a:xfrm>
          <a:prstGeom prst="rect">
            <a:avLst/>
          </a:prstGeom>
        </p:spPr>
        <p:txBody>
          <a:bodyPr/>
          <a:lstStyle/>
          <a:p>
            <a:fld id="{65D0BADF-6E5E-AA48-BEC3-845095CAA91C}" type="datetimeFigureOut">
              <a:rPr lang="en-US" smtClean="0"/>
              <a:t>10/22/2025</a:t>
            </a:fld>
            <a:endParaRPr lang="en-US"/>
          </a:p>
        </p:txBody>
      </p:sp>
      <p:sp>
        <p:nvSpPr>
          <p:cNvPr id="6" name="Footer Placeholder 5">
            <a:extLst>
              <a:ext uri="{FF2B5EF4-FFF2-40B4-BE49-F238E27FC236}">
                <a16:creationId xmlns:a16="http://schemas.microsoft.com/office/drawing/2014/main" id="{98030D8C-3E02-C176-72AF-A7A682303A1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FD272FF-40BE-31B4-FADA-552AC6EBEABD}"/>
              </a:ext>
            </a:extLst>
          </p:cNvPr>
          <p:cNvSpPr>
            <a:spLocks noGrp="1"/>
          </p:cNvSpPr>
          <p:nvPr>
            <p:ph type="sldNum" sz="quarter" idx="12"/>
          </p:nvPr>
        </p:nvSpPr>
        <p:spPr>
          <a:xfrm>
            <a:off x="8610600" y="6356350"/>
            <a:ext cx="2743200" cy="365125"/>
          </a:xfrm>
          <a:prstGeom prst="rect">
            <a:avLst/>
          </a:prstGeom>
        </p:spPr>
        <p:txBody>
          <a:bodyPr/>
          <a:lstStyle/>
          <a:p>
            <a:fld id="{690D138C-1119-0B4E-9633-053F1791AA53}" type="slidenum">
              <a:rPr lang="en-US" smtClean="0"/>
              <a:t>‹#›</a:t>
            </a:fld>
            <a:endParaRPr lang="en-US"/>
          </a:p>
        </p:txBody>
      </p:sp>
    </p:spTree>
    <p:extLst>
      <p:ext uri="{BB962C8B-B14F-4D97-AF65-F5344CB8AC3E}">
        <p14:creationId xmlns:p14="http://schemas.microsoft.com/office/powerpoint/2010/main" val="2053023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6E2B7-3E5A-320A-05F8-EBC7E8319CB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6A9C01D-4B51-8308-8E62-AC40AF0A097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6D8DA9-DA04-C7C7-C09C-5B05F08A4CB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247D245-79F4-60DF-D06D-2F1B504F1D06}"/>
              </a:ext>
            </a:extLst>
          </p:cNvPr>
          <p:cNvSpPr>
            <a:spLocks noGrp="1"/>
          </p:cNvSpPr>
          <p:nvPr>
            <p:ph type="dt" sz="half" idx="10"/>
          </p:nvPr>
        </p:nvSpPr>
        <p:spPr>
          <a:xfrm>
            <a:off x="838200" y="6356350"/>
            <a:ext cx="2743200" cy="365125"/>
          </a:xfrm>
          <a:prstGeom prst="rect">
            <a:avLst/>
          </a:prstGeom>
        </p:spPr>
        <p:txBody>
          <a:bodyPr/>
          <a:lstStyle/>
          <a:p>
            <a:fld id="{65D0BADF-6E5E-AA48-BEC3-845095CAA91C}" type="datetimeFigureOut">
              <a:rPr lang="en-US" smtClean="0"/>
              <a:t>10/22/2025</a:t>
            </a:fld>
            <a:endParaRPr lang="en-US"/>
          </a:p>
        </p:txBody>
      </p:sp>
      <p:sp>
        <p:nvSpPr>
          <p:cNvPr id="6" name="Footer Placeholder 5">
            <a:extLst>
              <a:ext uri="{FF2B5EF4-FFF2-40B4-BE49-F238E27FC236}">
                <a16:creationId xmlns:a16="http://schemas.microsoft.com/office/drawing/2014/main" id="{8610C856-6411-2E31-C411-3EBC6491A9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6F58E91-8C0A-E251-93E7-DE7FD36D3F22}"/>
              </a:ext>
            </a:extLst>
          </p:cNvPr>
          <p:cNvSpPr>
            <a:spLocks noGrp="1"/>
          </p:cNvSpPr>
          <p:nvPr>
            <p:ph type="sldNum" sz="quarter" idx="12"/>
          </p:nvPr>
        </p:nvSpPr>
        <p:spPr>
          <a:xfrm>
            <a:off x="8610600" y="6356350"/>
            <a:ext cx="2743200" cy="365125"/>
          </a:xfrm>
          <a:prstGeom prst="rect">
            <a:avLst/>
          </a:prstGeom>
        </p:spPr>
        <p:txBody>
          <a:bodyPr/>
          <a:lstStyle/>
          <a:p>
            <a:fld id="{690D138C-1119-0B4E-9633-053F1791AA53}" type="slidenum">
              <a:rPr lang="en-US" smtClean="0"/>
              <a:t>‹#›</a:t>
            </a:fld>
            <a:endParaRPr lang="en-US"/>
          </a:p>
        </p:txBody>
      </p:sp>
    </p:spTree>
    <p:extLst>
      <p:ext uri="{BB962C8B-B14F-4D97-AF65-F5344CB8AC3E}">
        <p14:creationId xmlns:p14="http://schemas.microsoft.com/office/powerpoint/2010/main" val="290662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DF3D1-80CC-E24C-958D-0682491A7167}"/>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D4DFAFB-5120-EDAB-4F6D-6AB86CA80676}"/>
              </a:ext>
            </a:extLst>
          </p:cNvPr>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04E5AAE-59D1-4C1A-E883-C93587818261}"/>
              </a:ext>
            </a:extLst>
          </p:cNvPr>
          <p:cNvSpPr>
            <a:spLocks noGrp="1"/>
          </p:cNvSpPr>
          <p:nvPr>
            <p:ph type="dt" sz="half" idx="10"/>
          </p:nvPr>
        </p:nvSpPr>
        <p:spPr>
          <a:xfrm>
            <a:off x="838200" y="6356350"/>
            <a:ext cx="2743200" cy="365125"/>
          </a:xfrm>
          <a:prstGeom prst="rect">
            <a:avLst/>
          </a:prstGeom>
        </p:spPr>
        <p:txBody>
          <a:bodyPr/>
          <a:lstStyle/>
          <a:p>
            <a:fld id="{65D0BADF-6E5E-AA48-BEC3-845095CAA91C}" type="datetimeFigureOut">
              <a:rPr lang="en-US" smtClean="0"/>
              <a:t>10/22/2025</a:t>
            </a:fld>
            <a:endParaRPr lang="en-US"/>
          </a:p>
        </p:txBody>
      </p:sp>
      <p:sp>
        <p:nvSpPr>
          <p:cNvPr id="5" name="Footer Placeholder 4">
            <a:extLst>
              <a:ext uri="{FF2B5EF4-FFF2-40B4-BE49-F238E27FC236}">
                <a16:creationId xmlns:a16="http://schemas.microsoft.com/office/drawing/2014/main" id="{61CC0693-8F55-1979-D6E6-646E30ABAD9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EC48A95-7F23-FD5A-4C6A-CB6BAD679938}"/>
              </a:ext>
            </a:extLst>
          </p:cNvPr>
          <p:cNvSpPr>
            <a:spLocks noGrp="1"/>
          </p:cNvSpPr>
          <p:nvPr>
            <p:ph type="sldNum" sz="quarter" idx="12"/>
          </p:nvPr>
        </p:nvSpPr>
        <p:spPr>
          <a:xfrm>
            <a:off x="8610600" y="6356350"/>
            <a:ext cx="2743200" cy="365125"/>
          </a:xfrm>
          <a:prstGeom prst="rect">
            <a:avLst/>
          </a:prstGeom>
        </p:spPr>
        <p:txBody>
          <a:bodyPr/>
          <a:lstStyle/>
          <a:p>
            <a:fld id="{690D138C-1119-0B4E-9633-053F1791AA53}" type="slidenum">
              <a:rPr lang="en-US" smtClean="0"/>
              <a:t>‹#›</a:t>
            </a:fld>
            <a:endParaRPr lang="en-US"/>
          </a:p>
        </p:txBody>
      </p:sp>
    </p:spTree>
    <p:extLst>
      <p:ext uri="{BB962C8B-B14F-4D97-AF65-F5344CB8AC3E}">
        <p14:creationId xmlns:p14="http://schemas.microsoft.com/office/powerpoint/2010/main" val="392102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BDACBB-E331-C796-4491-A9481F5E49D4}"/>
              </a:ext>
            </a:extLst>
          </p:cNvPr>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84F9E35-9B8C-4DAA-A735-86BBF74C366D}"/>
              </a:ext>
            </a:extLst>
          </p:cNvPr>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405F6CE-7599-F176-2E29-273D01FC68AD}"/>
              </a:ext>
            </a:extLst>
          </p:cNvPr>
          <p:cNvSpPr>
            <a:spLocks noGrp="1"/>
          </p:cNvSpPr>
          <p:nvPr>
            <p:ph type="dt" sz="half" idx="10"/>
          </p:nvPr>
        </p:nvSpPr>
        <p:spPr>
          <a:xfrm>
            <a:off x="838200" y="6356350"/>
            <a:ext cx="2743200" cy="365125"/>
          </a:xfrm>
          <a:prstGeom prst="rect">
            <a:avLst/>
          </a:prstGeom>
        </p:spPr>
        <p:txBody>
          <a:bodyPr/>
          <a:lstStyle/>
          <a:p>
            <a:fld id="{65D0BADF-6E5E-AA48-BEC3-845095CAA91C}" type="datetimeFigureOut">
              <a:rPr lang="en-US" smtClean="0"/>
              <a:t>10/22/2025</a:t>
            </a:fld>
            <a:endParaRPr lang="en-US"/>
          </a:p>
        </p:txBody>
      </p:sp>
      <p:sp>
        <p:nvSpPr>
          <p:cNvPr id="5" name="Footer Placeholder 4">
            <a:extLst>
              <a:ext uri="{FF2B5EF4-FFF2-40B4-BE49-F238E27FC236}">
                <a16:creationId xmlns:a16="http://schemas.microsoft.com/office/drawing/2014/main" id="{0ED037DA-4C58-32EE-130C-BEA5FE0F2BD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8624608-9256-DC1C-75F8-BC55DFB79639}"/>
              </a:ext>
            </a:extLst>
          </p:cNvPr>
          <p:cNvSpPr>
            <a:spLocks noGrp="1"/>
          </p:cNvSpPr>
          <p:nvPr>
            <p:ph type="sldNum" sz="quarter" idx="12"/>
          </p:nvPr>
        </p:nvSpPr>
        <p:spPr>
          <a:xfrm>
            <a:off x="8610600" y="6356350"/>
            <a:ext cx="2743200" cy="365125"/>
          </a:xfrm>
          <a:prstGeom prst="rect">
            <a:avLst/>
          </a:prstGeom>
        </p:spPr>
        <p:txBody>
          <a:bodyPr/>
          <a:lstStyle/>
          <a:p>
            <a:fld id="{690D138C-1119-0B4E-9633-053F1791AA53}" type="slidenum">
              <a:rPr lang="en-US" smtClean="0"/>
              <a:t>‹#›</a:t>
            </a:fld>
            <a:endParaRPr lang="en-US"/>
          </a:p>
        </p:txBody>
      </p:sp>
    </p:spTree>
    <p:extLst>
      <p:ext uri="{BB962C8B-B14F-4D97-AF65-F5344CB8AC3E}">
        <p14:creationId xmlns:p14="http://schemas.microsoft.com/office/powerpoint/2010/main" val="95153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89"/>
            <a:ext cx="10363200" cy="1470025"/>
          </a:xfrm>
        </p:spPr>
        <p:txBody>
          <a:bodyPr>
            <a:normAutofit/>
          </a:bodyPr>
          <a:lstStyle>
            <a:lvl1pPr>
              <a:defRPr sz="4600">
                <a:latin typeface="+mj-lt"/>
                <a:cs typeface="Arial" panose="020B0604020202020204" pitchFamily="34" charset="0"/>
              </a:defRPr>
            </a:lvl1pPr>
          </a:lstStyle>
          <a:p>
            <a:r>
              <a:rPr lang="en-US" dirty="0"/>
              <a:t>Click to edit Master title style</a:t>
            </a:r>
          </a:p>
        </p:txBody>
      </p:sp>
      <p:pic>
        <p:nvPicPr>
          <p:cNvPr id="4" name="Picture 3" descr="bilingual-side-by-side-log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44561" y="5878815"/>
            <a:ext cx="3515359" cy="677203"/>
          </a:xfrm>
          <a:prstGeom prst="rect">
            <a:avLst/>
          </a:prstGeom>
        </p:spPr>
      </p:pic>
    </p:spTree>
    <p:extLst>
      <p:ext uri="{BB962C8B-B14F-4D97-AF65-F5344CB8AC3E}">
        <p14:creationId xmlns:p14="http://schemas.microsoft.com/office/powerpoint/2010/main" val="253299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7916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study.sagepub.com/grayresearchbusiness" TargetMode="External"/><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ont Slide Option 1">
            <a:extLst>
              <a:ext uri="{FF2B5EF4-FFF2-40B4-BE49-F238E27FC236}">
                <a16:creationId xmlns:a16="http://schemas.microsoft.com/office/drawing/2014/main" id="{0DE4E27F-6B46-7648-8D2B-F4191F8F682C}"/>
              </a:ext>
            </a:extLst>
          </p:cNvPr>
          <p:cNvSpPr>
            <a:spLocks noGrp="1"/>
          </p:cNvSpPr>
          <p:nvPr>
            <p:ph type="ctrTitle"/>
          </p:nvPr>
        </p:nvSpPr>
        <p:spPr>
          <a:xfrm>
            <a:off x="2667000" y="-933450"/>
            <a:ext cx="6858000" cy="1790700"/>
          </a:xfrm>
        </p:spPr>
        <p:txBody>
          <a:bodyPr anchor="b"/>
          <a:lstStyle/>
          <a:p>
            <a:r>
              <a:rPr lang="en-US" dirty="0"/>
              <a:t>Front Slide Option 1</a:t>
            </a:r>
          </a:p>
        </p:txBody>
      </p:sp>
      <p:sp>
        <p:nvSpPr>
          <p:cNvPr id="4" name="Teal Background" descr="Teal Background">
            <a:extLst>
              <a:ext uri="{FF2B5EF4-FFF2-40B4-BE49-F238E27FC236}">
                <a16:creationId xmlns:a16="http://schemas.microsoft.com/office/drawing/2014/main" id="{C30CE2D5-3261-A960-C26C-3314BEEC69C5}"/>
              </a:ext>
            </a:extLst>
          </p:cNvPr>
          <p:cNvSpPr/>
          <p:nvPr/>
        </p:nvSpPr>
        <p:spPr>
          <a:xfrm>
            <a:off x="-27502" y="0"/>
            <a:ext cx="12192000" cy="6858000"/>
          </a:xfrm>
          <a:prstGeom prst="rect">
            <a:avLst/>
          </a:prstGeom>
          <a:solidFill>
            <a:srgbClr val="4FB9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Main Header">
            <a:extLst>
              <a:ext uri="{FF2B5EF4-FFF2-40B4-BE49-F238E27FC236}">
                <a16:creationId xmlns:a16="http://schemas.microsoft.com/office/drawing/2014/main" id="{E901B3A1-1276-9FF2-9A2B-048D986A828E}"/>
              </a:ext>
            </a:extLst>
          </p:cNvPr>
          <p:cNvSpPr txBox="1"/>
          <p:nvPr/>
        </p:nvSpPr>
        <p:spPr>
          <a:xfrm>
            <a:off x="1523999" y="1037573"/>
            <a:ext cx="5982792" cy="2408223"/>
          </a:xfrm>
          <a:prstGeom prst="rect">
            <a:avLst/>
          </a:prstGeom>
          <a:noFill/>
        </p:spPr>
        <p:txBody>
          <a:bodyPr wrap="square" rtlCol="0">
            <a:spAutoFit/>
          </a:bodyPr>
          <a:lstStyle/>
          <a:p>
            <a:pPr>
              <a:lnSpc>
                <a:spcPts val="4500"/>
              </a:lnSpc>
            </a:pPr>
            <a:r>
              <a:rPr lang="en-US" sz="4500" kern="2000" dirty="0">
                <a:solidFill>
                  <a:srgbClr val="141F34"/>
                </a:solidFill>
                <a:latin typeface="Clash Display Medium" pitchFamily="2" charset="0"/>
              </a:rPr>
              <a:t>BUS7C4 </a:t>
            </a:r>
          </a:p>
          <a:p>
            <a:pPr>
              <a:lnSpc>
                <a:spcPts val="4500"/>
              </a:lnSpc>
            </a:pPr>
            <a:r>
              <a:rPr lang="en-US" sz="4500" kern="2000" dirty="0">
                <a:solidFill>
                  <a:srgbClr val="141F34"/>
                </a:solidFill>
                <a:latin typeface="Clash Display Medium" pitchFamily="2" charset="0"/>
              </a:rPr>
              <a:t>Supervision Session </a:t>
            </a:r>
          </a:p>
          <a:p>
            <a:pPr>
              <a:lnSpc>
                <a:spcPts val="4500"/>
              </a:lnSpc>
            </a:pPr>
            <a:r>
              <a:rPr lang="en-US" sz="4500" kern="2000" dirty="0">
                <a:solidFill>
                  <a:srgbClr val="141F34"/>
                </a:solidFill>
                <a:latin typeface="Clash Display Medium" pitchFamily="2" charset="0"/>
              </a:rPr>
              <a:t>Lecture </a:t>
            </a:r>
          </a:p>
          <a:p>
            <a:pPr>
              <a:lnSpc>
                <a:spcPts val="4500"/>
              </a:lnSpc>
            </a:pPr>
            <a:r>
              <a:rPr lang="en-US" sz="4500" kern="2000" dirty="0">
                <a:solidFill>
                  <a:srgbClr val="141F34"/>
                </a:solidFill>
                <a:latin typeface="Clash Display Medium" pitchFamily="2" charset="0"/>
              </a:rPr>
              <a:t>Literature</a:t>
            </a:r>
          </a:p>
        </p:txBody>
      </p:sp>
      <p:pic>
        <p:nvPicPr>
          <p:cNvPr id="11" name="Picture 10" descr="Orange asbract">
            <a:extLst>
              <a:ext uri="{FF2B5EF4-FFF2-40B4-BE49-F238E27FC236}">
                <a16:creationId xmlns:a16="http://schemas.microsoft.com/office/drawing/2014/main" id="{06B4EA1F-89B8-674E-9B9F-CE90A8D56E47}"/>
              </a:ext>
            </a:extLst>
          </p:cNvPr>
          <p:cNvPicPr>
            <a:picLocks noChangeAspect="1"/>
          </p:cNvPicPr>
          <p:nvPr/>
        </p:nvPicPr>
        <p:blipFill rotWithShape="1">
          <a:blip r:embed="rId3"/>
          <a:srcRect t="11996" r="12326"/>
          <a:stretch/>
        </p:blipFill>
        <p:spPr>
          <a:xfrm>
            <a:off x="8104703" y="19827"/>
            <a:ext cx="3169548" cy="4378168"/>
          </a:xfrm>
          <a:prstGeom prst="rect">
            <a:avLst/>
          </a:prstGeom>
        </p:spPr>
      </p:pic>
      <p:pic>
        <p:nvPicPr>
          <p:cNvPr id="12" name="Picture 11" descr="Orange tall tower">
            <a:extLst>
              <a:ext uri="{FF2B5EF4-FFF2-40B4-BE49-F238E27FC236}">
                <a16:creationId xmlns:a16="http://schemas.microsoft.com/office/drawing/2014/main" id="{2ADC2D9A-2048-354E-A399-F1AE39812118}"/>
              </a:ext>
            </a:extLst>
          </p:cNvPr>
          <p:cNvPicPr>
            <a:picLocks noChangeAspect="1"/>
          </p:cNvPicPr>
          <p:nvPr/>
        </p:nvPicPr>
        <p:blipFill>
          <a:blip r:embed="rId4"/>
          <a:srcRect/>
          <a:stretch/>
        </p:blipFill>
        <p:spPr>
          <a:xfrm>
            <a:off x="309556" y="0"/>
            <a:ext cx="1036923" cy="6858000"/>
          </a:xfrm>
          <a:prstGeom prst="rect">
            <a:avLst/>
          </a:prstGeom>
        </p:spPr>
      </p:pic>
      <p:pic>
        <p:nvPicPr>
          <p:cNvPr id="6" name="Navy Shape Logo" descr="Navy building shape holder">
            <a:extLst>
              <a:ext uri="{FF2B5EF4-FFF2-40B4-BE49-F238E27FC236}">
                <a16:creationId xmlns:a16="http://schemas.microsoft.com/office/drawing/2014/main" id="{D51EDC99-FB8F-E28A-2A3E-6ABFE86655B3}"/>
              </a:ext>
            </a:extLst>
          </p:cNvPr>
          <p:cNvPicPr>
            <a:picLocks noChangeAspect="1"/>
          </p:cNvPicPr>
          <p:nvPr/>
        </p:nvPicPr>
        <p:blipFill>
          <a:blip r:embed="rId5"/>
          <a:stretch>
            <a:fillRect/>
          </a:stretch>
        </p:blipFill>
        <p:spPr>
          <a:xfrm>
            <a:off x="6291148" y="2621730"/>
            <a:ext cx="5487249" cy="4236270"/>
          </a:xfrm>
          <a:prstGeom prst="rect">
            <a:avLst/>
          </a:prstGeom>
        </p:spPr>
      </p:pic>
      <p:pic>
        <p:nvPicPr>
          <p:cNvPr id="2" name="White Large Logo" descr="White Wrexham University logo">
            <a:extLst>
              <a:ext uri="{FF2B5EF4-FFF2-40B4-BE49-F238E27FC236}">
                <a16:creationId xmlns:a16="http://schemas.microsoft.com/office/drawing/2014/main" id="{7BBD8E66-F319-5E22-5289-BE85DF184B8B}"/>
              </a:ext>
            </a:extLst>
          </p:cNvPr>
          <p:cNvPicPr>
            <a:picLocks noChangeAspect="1"/>
          </p:cNvPicPr>
          <p:nvPr/>
        </p:nvPicPr>
        <p:blipFill>
          <a:blip r:embed="rId6"/>
          <a:stretch>
            <a:fillRect/>
          </a:stretch>
        </p:blipFill>
        <p:spPr>
          <a:xfrm>
            <a:off x="7135493" y="4578316"/>
            <a:ext cx="3063404" cy="677229"/>
          </a:xfrm>
          <a:prstGeom prst="rect">
            <a:avLst/>
          </a:prstGeom>
        </p:spPr>
      </p:pic>
    </p:spTree>
    <p:extLst>
      <p:ext uri="{BB962C8B-B14F-4D97-AF65-F5344CB8AC3E}">
        <p14:creationId xmlns:p14="http://schemas.microsoft.com/office/powerpoint/2010/main" val="3520542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56C18D-0A8E-4D34-9AD2-CE112BBCF356}"/>
              </a:ext>
            </a:extLst>
          </p:cNvPr>
          <p:cNvSpPr>
            <a:spLocks noGrp="1"/>
          </p:cNvSpPr>
          <p:nvPr>
            <p:ph type="title"/>
          </p:nvPr>
        </p:nvSpPr>
        <p:spPr>
          <a:xfrm>
            <a:off x="1981200" y="433388"/>
            <a:ext cx="8229600" cy="842436"/>
          </a:xfrm>
        </p:spPr>
        <p:txBody>
          <a:bodyPr>
            <a:noAutofit/>
          </a:bodyPr>
          <a:lstStyle/>
          <a:p>
            <a:pPr algn="l"/>
            <a:r>
              <a:rPr lang="en-GB" altLang="en-US" sz="3600" dirty="0"/>
              <a:t>Research Study Options: </a:t>
            </a:r>
            <a:endParaRPr lang="en-GB" sz="3600" dirty="0"/>
          </a:p>
        </p:txBody>
      </p:sp>
      <p:sp>
        <p:nvSpPr>
          <p:cNvPr id="3" name="Lightning Bolt 2"/>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6" name="Lightning Bolt 5"/>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4" name="Lightning Bolt 3"/>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9" name="Lightning Bolt 8"/>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0" name="Lightning Bolt 9"/>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nvGrpSpPr>
          <p:cNvPr id="43" name="Group 42" descr="Study options diagram"/>
          <p:cNvGrpSpPr/>
          <p:nvPr/>
        </p:nvGrpSpPr>
        <p:grpSpPr>
          <a:xfrm>
            <a:off x="4564274" y="1502526"/>
            <a:ext cx="4702229" cy="3852949"/>
            <a:chOff x="2314195" y="341102"/>
            <a:chExt cx="4702229" cy="3852949"/>
          </a:xfrm>
        </p:grpSpPr>
        <p:sp>
          <p:nvSpPr>
            <p:cNvPr id="19" name="Oval 18"/>
            <p:cNvSpPr/>
            <p:nvPr/>
          </p:nvSpPr>
          <p:spPr>
            <a:xfrm>
              <a:off x="2314195" y="1607467"/>
              <a:ext cx="2586584" cy="2586584"/>
            </a:xfrm>
            <a:prstGeom prst="ellipse">
              <a:avLst/>
            </a:prstGeom>
            <a:solidFill>
              <a:schemeClr val="accent4">
                <a:hueOff val="0"/>
                <a:satOff val="0"/>
                <a:lumOff val="0"/>
                <a:alpha val="65000"/>
              </a:schemeClr>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GB"/>
            </a:p>
          </p:txBody>
        </p:sp>
        <p:sp>
          <p:nvSpPr>
            <p:cNvPr id="20" name="Freeform 19"/>
            <p:cNvSpPr>
              <a:spLocks noChangeAspect="1"/>
            </p:cNvSpPr>
            <p:nvPr/>
          </p:nvSpPr>
          <p:spPr>
            <a:xfrm>
              <a:off x="4904561" y="341102"/>
              <a:ext cx="1620000" cy="1620000"/>
            </a:xfrm>
            <a:custGeom>
              <a:avLst/>
              <a:gdLst>
                <a:gd name="connsiteX0" fmla="*/ 0 w 1447989"/>
                <a:gd name="connsiteY0" fmla="*/ 723995 h 1447989"/>
                <a:gd name="connsiteX1" fmla="*/ 723995 w 1447989"/>
                <a:gd name="connsiteY1" fmla="*/ 0 h 1447989"/>
                <a:gd name="connsiteX2" fmla="*/ 1447990 w 1447989"/>
                <a:gd name="connsiteY2" fmla="*/ 723995 h 1447989"/>
                <a:gd name="connsiteX3" fmla="*/ 723995 w 1447989"/>
                <a:gd name="connsiteY3" fmla="*/ 1447990 h 1447989"/>
                <a:gd name="connsiteX4" fmla="*/ 0 w 1447989"/>
                <a:gd name="connsiteY4" fmla="*/ 723995 h 144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7989" h="1447989">
                  <a:moveTo>
                    <a:pt x="0" y="723995"/>
                  </a:moveTo>
                  <a:cubicBezTo>
                    <a:pt x="0" y="324144"/>
                    <a:pt x="324144" y="0"/>
                    <a:pt x="723995" y="0"/>
                  </a:cubicBezTo>
                  <a:cubicBezTo>
                    <a:pt x="1123846" y="0"/>
                    <a:pt x="1447990" y="324144"/>
                    <a:pt x="1447990" y="723995"/>
                  </a:cubicBezTo>
                  <a:cubicBezTo>
                    <a:pt x="1447990" y="1123846"/>
                    <a:pt x="1123846" y="1447990"/>
                    <a:pt x="723995" y="1447990"/>
                  </a:cubicBezTo>
                  <a:cubicBezTo>
                    <a:pt x="324144" y="1447990"/>
                    <a:pt x="0" y="1123846"/>
                    <a:pt x="0" y="723995"/>
                  </a:cubicBezTo>
                  <a:close/>
                </a:path>
              </a:pathLst>
            </a:custGeom>
            <a:solidFill>
              <a:srgbClr val="00FF00"/>
            </a:solidFill>
          </p:spPr>
          <p:style>
            <a:lnRef idx="2">
              <a:schemeClr val="lt1">
                <a:hueOff val="0"/>
                <a:satOff val="0"/>
                <a:lumOff val="0"/>
                <a:alphaOff val="0"/>
              </a:schemeClr>
            </a:lnRef>
            <a:fillRef idx="1">
              <a:schemeClr val="accent4">
                <a:hueOff val="-1488257"/>
                <a:satOff val="8966"/>
                <a:lumOff val="719"/>
                <a:alphaOff val="0"/>
              </a:schemeClr>
            </a:fillRef>
            <a:effectRef idx="0">
              <a:schemeClr val="accent4">
                <a:hueOff val="-1488257"/>
                <a:satOff val="8966"/>
                <a:lumOff val="719"/>
                <a:alphaOff val="0"/>
              </a:schemeClr>
            </a:effectRef>
            <a:fontRef idx="minor">
              <a:schemeClr val="lt1"/>
            </a:fontRef>
          </p:style>
          <p:txBody>
            <a:bodyPr spcFirstLastPara="0" vert="horz" wrap="square" lIns="222848" tIns="222848" rIns="222848" bIns="222848" numCol="1" spcCol="1270" anchor="ctr" anchorCtr="0">
              <a:noAutofit/>
            </a:bodyPr>
            <a:lstStyle/>
            <a:p>
              <a:pPr algn="ctr" defTabSz="755650">
                <a:lnSpc>
                  <a:spcPct val="90000"/>
                </a:lnSpc>
                <a:spcBef>
                  <a:spcPct val="0"/>
                </a:spcBef>
                <a:spcAft>
                  <a:spcPct val="35000"/>
                </a:spcAft>
              </a:pPr>
              <a:r>
                <a:rPr lang="en-US" sz="2000" dirty="0">
                  <a:solidFill>
                    <a:schemeClr val="tx1"/>
                  </a:solidFill>
                </a:rPr>
                <a:t>Empirical based research study</a:t>
              </a:r>
            </a:p>
          </p:txBody>
        </p:sp>
        <p:sp>
          <p:nvSpPr>
            <p:cNvPr id="21" name="Freeform 20"/>
            <p:cNvSpPr>
              <a:spLocks noChangeAspect="1"/>
            </p:cNvSpPr>
            <p:nvPr/>
          </p:nvSpPr>
          <p:spPr>
            <a:xfrm>
              <a:off x="5396424" y="2176763"/>
              <a:ext cx="1620000" cy="1620000"/>
            </a:xfrm>
            <a:custGeom>
              <a:avLst/>
              <a:gdLst>
                <a:gd name="connsiteX0" fmla="*/ 0 w 1447989"/>
                <a:gd name="connsiteY0" fmla="*/ 723995 h 1447989"/>
                <a:gd name="connsiteX1" fmla="*/ 723995 w 1447989"/>
                <a:gd name="connsiteY1" fmla="*/ 0 h 1447989"/>
                <a:gd name="connsiteX2" fmla="*/ 1447990 w 1447989"/>
                <a:gd name="connsiteY2" fmla="*/ 723995 h 1447989"/>
                <a:gd name="connsiteX3" fmla="*/ 723995 w 1447989"/>
                <a:gd name="connsiteY3" fmla="*/ 1447990 h 1447989"/>
                <a:gd name="connsiteX4" fmla="*/ 0 w 1447989"/>
                <a:gd name="connsiteY4" fmla="*/ 723995 h 144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7989" h="1447989">
                  <a:moveTo>
                    <a:pt x="0" y="723995"/>
                  </a:moveTo>
                  <a:cubicBezTo>
                    <a:pt x="0" y="324144"/>
                    <a:pt x="324144" y="0"/>
                    <a:pt x="723995" y="0"/>
                  </a:cubicBezTo>
                  <a:cubicBezTo>
                    <a:pt x="1123846" y="0"/>
                    <a:pt x="1447990" y="324144"/>
                    <a:pt x="1447990" y="723995"/>
                  </a:cubicBezTo>
                  <a:cubicBezTo>
                    <a:pt x="1447990" y="1123846"/>
                    <a:pt x="1123846" y="1447990"/>
                    <a:pt x="723995" y="1447990"/>
                  </a:cubicBezTo>
                  <a:cubicBezTo>
                    <a:pt x="324144" y="1447990"/>
                    <a:pt x="0" y="1123846"/>
                    <a:pt x="0" y="723995"/>
                  </a:cubicBezTo>
                  <a:close/>
                </a:path>
              </a:pathLst>
            </a:custGeom>
            <a:solidFill>
              <a:srgbClr val="FFFF00"/>
            </a:solidFill>
          </p:spPr>
          <p:style>
            <a:lnRef idx="2">
              <a:schemeClr val="lt1">
                <a:hueOff val="0"/>
                <a:satOff val="0"/>
                <a:lumOff val="0"/>
                <a:alphaOff val="0"/>
              </a:schemeClr>
            </a:lnRef>
            <a:fillRef idx="1">
              <a:schemeClr val="accent4">
                <a:hueOff val="-2976513"/>
                <a:satOff val="17933"/>
                <a:lumOff val="1437"/>
                <a:alphaOff val="0"/>
              </a:schemeClr>
            </a:fillRef>
            <a:effectRef idx="0">
              <a:schemeClr val="accent4">
                <a:hueOff val="-2976513"/>
                <a:satOff val="17933"/>
                <a:lumOff val="1437"/>
                <a:alphaOff val="0"/>
              </a:schemeClr>
            </a:effectRef>
            <a:fontRef idx="minor">
              <a:schemeClr val="lt1"/>
            </a:fontRef>
          </p:style>
          <p:txBody>
            <a:bodyPr spcFirstLastPara="0" vert="horz" wrap="square" lIns="222848" tIns="222848" rIns="222848" bIns="222848" numCol="1" spcCol="1270" anchor="ctr" anchorCtr="0">
              <a:noAutofit/>
            </a:bodyPr>
            <a:lstStyle/>
            <a:p>
              <a:pPr algn="ctr" defTabSz="755650">
                <a:lnSpc>
                  <a:spcPct val="90000"/>
                </a:lnSpc>
                <a:spcBef>
                  <a:spcPct val="0"/>
                </a:spcBef>
                <a:spcAft>
                  <a:spcPct val="35000"/>
                </a:spcAft>
              </a:pPr>
              <a:r>
                <a:rPr lang="en-US" sz="2000" dirty="0">
                  <a:solidFill>
                    <a:schemeClr val="tx1"/>
                  </a:solidFill>
                </a:rPr>
                <a:t>Project based research study</a:t>
              </a:r>
            </a:p>
          </p:txBody>
        </p:sp>
        <p:sp>
          <p:nvSpPr>
            <p:cNvPr id="12" name="TextBox 11"/>
            <p:cNvSpPr txBox="1"/>
            <p:nvPr/>
          </p:nvSpPr>
          <p:spPr>
            <a:xfrm>
              <a:off x="2437468" y="2457824"/>
              <a:ext cx="2237559" cy="830997"/>
            </a:xfrm>
            <a:prstGeom prst="rect">
              <a:avLst/>
            </a:prstGeom>
            <a:noFill/>
          </p:spPr>
          <p:txBody>
            <a:bodyPr wrap="square" rtlCol="0">
              <a:spAutoFit/>
            </a:bodyPr>
            <a:lstStyle/>
            <a:p>
              <a:pPr algn="ctr"/>
              <a:r>
                <a:rPr lang="en-US" sz="2400" dirty="0"/>
                <a:t>Two research study options</a:t>
              </a:r>
            </a:p>
          </p:txBody>
        </p:sp>
        <p:cxnSp>
          <p:nvCxnSpPr>
            <p:cNvPr id="30" name="Straight Connector 29"/>
            <p:cNvCxnSpPr/>
            <p:nvPr/>
          </p:nvCxnSpPr>
          <p:spPr>
            <a:xfrm flipV="1">
              <a:off x="4582969" y="1644704"/>
              <a:ext cx="519113" cy="415708"/>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4876330" y="2928709"/>
              <a:ext cx="520094"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2" name="Lightning Bolt 1"/>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Lightning Bolt 7"/>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TextBox 10"/>
          <p:cNvSpPr txBox="1"/>
          <p:nvPr/>
        </p:nvSpPr>
        <p:spPr>
          <a:xfrm>
            <a:off x="1524001" y="3858976"/>
            <a:ext cx="1975993" cy="2646878"/>
          </a:xfrm>
          <a:prstGeom prst="rect">
            <a:avLst/>
          </a:prstGeom>
          <a:noFill/>
        </p:spPr>
        <p:txBody>
          <a:bodyPr wrap="square" rtlCol="0">
            <a:spAutoFit/>
          </a:bodyPr>
          <a:lstStyle/>
          <a:p>
            <a:r>
              <a:rPr lang="en-GB" sz="16600" dirty="0">
                <a:solidFill>
                  <a:srgbClr val="563B77"/>
                </a:solidFill>
                <a:sym typeface="Wingdings" panose="05000000000000000000" pitchFamily="2" charset="2"/>
              </a:rPr>
              <a:t></a:t>
            </a:r>
            <a:endParaRPr lang="en-GB" sz="16600" dirty="0">
              <a:solidFill>
                <a:srgbClr val="563B77"/>
              </a:solidFill>
            </a:endParaRPr>
          </a:p>
        </p:txBody>
      </p:sp>
      <p:pic>
        <p:nvPicPr>
          <p:cNvPr id="14" name="Small White Logo" descr="Small WU logo">
            <a:extLst>
              <a:ext uri="{FF2B5EF4-FFF2-40B4-BE49-F238E27FC236}">
                <a16:creationId xmlns:a16="http://schemas.microsoft.com/office/drawing/2014/main" id="{812A9B96-9687-6280-3180-DD221C454FD7}"/>
              </a:ext>
            </a:extLst>
          </p:cNvPr>
          <p:cNvPicPr>
            <a:picLocks noChangeAspect="1"/>
          </p:cNvPicPr>
          <p:nvPr/>
        </p:nvPicPr>
        <p:blipFill>
          <a:blip r:embed="rId3"/>
          <a:stretch>
            <a:fillRect/>
          </a:stretch>
        </p:blipFill>
        <p:spPr>
          <a:xfrm>
            <a:off x="2046623" y="6505855"/>
            <a:ext cx="1351121" cy="298241"/>
          </a:xfrm>
          <a:prstGeom prst="rect">
            <a:avLst/>
          </a:prstGeom>
        </p:spPr>
      </p:pic>
      <p:sp>
        <p:nvSpPr>
          <p:cNvPr id="16" name="Navy Footer Strip" descr="Footer navy">
            <a:extLst>
              <a:ext uri="{FF2B5EF4-FFF2-40B4-BE49-F238E27FC236}">
                <a16:creationId xmlns:a16="http://schemas.microsoft.com/office/drawing/2014/main" id="{F94654C9-8523-B4E9-F6A0-C2F939D659CB}"/>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Small White Logo" descr="Small WU logo">
            <a:extLst>
              <a:ext uri="{FF2B5EF4-FFF2-40B4-BE49-F238E27FC236}">
                <a16:creationId xmlns:a16="http://schemas.microsoft.com/office/drawing/2014/main" id="{1B75274E-E305-6BEF-8908-26131D196DEC}"/>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18" name="Picture 17" descr="short orange tower">
            <a:extLst>
              <a:ext uri="{FF2B5EF4-FFF2-40B4-BE49-F238E27FC236}">
                <a16:creationId xmlns:a16="http://schemas.microsoft.com/office/drawing/2014/main" id="{65908805-A72F-590E-B6E1-6CA1A6BD23FD}"/>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1672181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noAutofit/>
          </a:bodyPr>
          <a:lstStyle/>
          <a:p>
            <a:pPr lvl="0">
              <a:defRPr/>
            </a:pPr>
            <a:r>
              <a:rPr lang="en-GB" dirty="0"/>
              <a:t>Scheduled touch-points: BUS7C4</a:t>
            </a:r>
          </a:p>
        </p:txBody>
      </p:sp>
      <p:sp>
        <p:nvSpPr>
          <p:cNvPr id="3" name="Content Placeholder 2"/>
          <p:cNvSpPr>
            <a:spLocks noGrp="1"/>
          </p:cNvSpPr>
          <p:nvPr>
            <p:ph idx="1"/>
          </p:nvPr>
        </p:nvSpPr>
        <p:spPr>
          <a:xfrm>
            <a:off x="709246" y="1253331"/>
            <a:ext cx="10515600" cy="4351338"/>
          </a:xfrm>
        </p:spPr>
        <p:txBody>
          <a:bodyPr/>
          <a:lstStyle/>
          <a:p>
            <a:r>
              <a:rPr lang="en-GB" dirty="0"/>
              <a:t>Schedule</a:t>
            </a:r>
          </a:p>
          <a:p>
            <a:pPr marL="0" indent="0">
              <a:buNone/>
            </a:pPr>
            <a:endParaRPr lang="en-GB" dirty="0"/>
          </a:p>
        </p:txBody>
      </p:sp>
      <p:graphicFrame>
        <p:nvGraphicFramePr>
          <p:cNvPr id="4" name="Diagram 3" descr="Supervison schedule diagram"/>
          <p:cNvGraphicFramePr/>
          <p:nvPr>
            <p:extLst>
              <p:ext uri="{D42A27DB-BD31-4B8C-83A1-F6EECF244321}">
                <p14:modId xmlns:p14="http://schemas.microsoft.com/office/powerpoint/2010/main" val="1315073307"/>
              </p:ext>
            </p:extLst>
          </p:nvPr>
        </p:nvGraphicFramePr>
        <p:xfrm>
          <a:off x="2336648" y="1500589"/>
          <a:ext cx="8329128" cy="46964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Lightning Bolt 4"/>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Lightning Bolt 5"/>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Lightning Bolt 7"/>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Lightning Bolt 8"/>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ounded Rectangle 9"/>
          <p:cNvSpPr/>
          <p:nvPr/>
        </p:nvSpPr>
        <p:spPr>
          <a:xfrm>
            <a:off x="8132243" y="1854913"/>
            <a:ext cx="2664000" cy="1800000"/>
          </a:xfrm>
          <a:prstGeom prst="roundRect">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Lightning Bolt 10"/>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ounded Rectangle 11"/>
          <p:cNvSpPr/>
          <p:nvPr/>
        </p:nvSpPr>
        <p:spPr>
          <a:xfrm>
            <a:off x="2299348" y="1933821"/>
            <a:ext cx="2621901" cy="1642185"/>
          </a:xfrm>
          <a:prstGeom prst="roundRect">
            <a:avLst/>
          </a:prstGeom>
          <a:solidFill>
            <a:srgbClr val="7F7F7F">
              <a:alpha val="69804"/>
            </a:srgbClr>
          </a:solidFill>
          <a:ln w="38100">
            <a:solidFill>
              <a:srgbClr val="7F7F7F">
                <a:alpha val="50196"/>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Rounded Rectangle 12"/>
          <p:cNvSpPr/>
          <p:nvPr/>
        </p:nvSpPr>
        <p:spPr>
          <a:xfrm>
            <a:off x="5255495" y="1952189"/>
            <a:ext cx="2621901" cy="1642185"/>
          </a:xfrm>
          <a:prstGeom prst="roundRect">
            <a:avLst/>
          </a:prstGeom>
          <a:solidFill>
            <a:srgbClr val="7F7F7F">
              <a:alpha val="69804"/>
            </a:srgbClr>
          </a:solidFill>
          <a:ln w="38100">
            <a:solidFill>
              <a:srgbClr val="7F7F7F">
                <a:alpha val="50196"/>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Navy Footer Strip" descr="Footer navy">
            <a:extLst>
              <a:ext uri="{FF2B5EF4-FFF2-40B4-BE49-F238E27FC236}">
                <a16:creationId xmlns:a16="http://schemas.microsoft.com/office/drawing/2014/main" id="{FFE47951-3961-EA20-DA3C-A013106C3FE9}"/>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Small White Logo" descr="Small WU logo">
            <a:extLst>
              <a:ext uri="{FF2B5EF4-FFF2-40B4-BE49-F238E27FC236}">
                <a16:creationId xmlns:a16="http://schemas.microsoft.com/office/drawing/2014/main" id="{AA4BCC05-CDFD-D247-C07E-03606AB3ED18}"/>
              </a:ext>
            </a:extLst>
          </p:cNvPr>
          <p:cNvPicPr>
            <a:picLocks noChangeAspect="1"/>
          </p:cNvPicPr>
          <p:nvPr/>
        </p:nvPicPr>
        <p:blipFill>
          <a:blip r:embed="rId8"/>
          <a:stretch>
            <a:fillRect/>
          </a:stretch>
        </p:blipFill>
        <p:spPr>
          <a:xfrm>
            <a:off x="534811" y="6217213"/>
            <a:ext cx="1801495" cy="397654"/>
          </a:xfrm>
          <a:prstGeom prst="rect">
            <a:avLst/>
          </a:prstGeom>
        </p:spPr>
      </p:pic>
      <p:pic>
        <p:nvPicPr>
          <p:cNvPr id="16" name="Picture 15" descr="short orange tower">
            <a:extLst>
              <a:ext uri="{FF2B5EF4-FFF2-40B4-BE49-F238E27FC236}">
                <a16:creationId xmlns:a16="http://schemas.microsoft.com/office/drawing/2014/main" id="{1DBB8223-6D02-81CA-95FE-A455657DD419}"/>
              </a:ext>
            </a:extLst>
          </p:cNvPr>
          <p:cNvPicPr>
            <a:picLocks noChangeAspect="1"/>
          </p:cNvPicPr>
          <p:nvPr/>
        </p:nvPicPr>
        <p:blipFill>
          <a:blip r:embed="rId9"/>
          <a:srcRect/>
          <a:stretch/>
        </p:blipFill>
        <p:spPr>
          <a:xfrm>
            <a:off x="11084876" y="5363376"/>
            <a:ext cx="548323" cy="1494624"/>
          </a:xfrm>
          <a:prstGeom prst="rect">
            <a:avLst/>
          </a:prstGeom>
        </p:spPr>
      </p:pic>
    </p:spTree>
    <p:extLst>
      <p:ext uri="{BB962C8B-B14F-4D97-AF65-F5344CB8AC3E}">
        <p14:creationId xmlns:p14="http://schemas.microsoft.com/office/powerpoint/2010/main" val="2315790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Touch-point session three: </a:t>
            </a:r>
            <a:br>
              <a:rPr lang="en-US" dirty="0"/>
            </a:br>
            <a:r>
              <a:rPr lang="en-US" dirty="0"/>
              <a:t>Literature review/collecting sources</a:t>
            </a:r>
            <a:endParaRPr lang="en-GB" dirty="0"/>
          </a:p>
        </p:txBody>
      </p:sp>
      <p:sp>
        <p:nvSpPr>
          <p:cNvPr id="3" name="Content Placeholder 2"/>
          <p:cNvSpPr>
            <a:spLocks noGrp="1"/>
          </p:cNvSpPr>
          <p:nvPr>
            <p:ph idx="1"/>
          </p:nvPr>
        </p:nvSpPr>
        <p:spPr>
          <a:xfrm>
            <a:off x="1981200" y="1729048"/>
            <a:ext cx="8229600" cy="4588625"/>
          </a:xfrm>
        </p:spPr>
        <p:txBody>
          <a:bodyPr>
            <a:noAutofit/>
          </a:bodyPr>
          <a:lstStyle/>
          <a:p>
            <a:pPr>
              <a:lnSpc>
                <a:spcPct val="150000"/>
              </a:lnSpc>
              <a:spcBef>
                <a:spcPts val="0"/>
              </a:spcBef>
            </a:pPr>
            <a:r>
              <a:rPr lang="en-US" dirty="0"/>
              <a:t>Overview this month </a:t>
            </a:r>
          </a:p>
          <a:p>
            <a:pPr lvl="1">
              <a:lnSpc>
                <a:spcPct val="150000"/>
              </a:lnSpc>
              <a:spcBef>
                <a:spcPts val="0"/>
              </a:spcBef>
            </a:pPr>
            <a:r>
              <a:rPr lang="en-US" dirty="0"/>
              <a:t>Moodle content</a:t>
            </a:r>
          </a:p>
          <a:p>
            <a:pPr lvl="1">
              <a:lnSpc>
                <a:spcPct val="150000"/>
              </a:lnSpc>
              <a:spcBef>
                <a:spcPts val="0"/>
              </a:spcBef>
            </a:pPr>
            <a:r>
              <a:rPr lang="en-US" dirty="0"/>
              <a:t>Up coming submission</a:t>
            </a:r>
          </a:p>
          <a:p>
            <a:pPr>
              <a:lnSpc>
                <a:spcPct val="150000"/>
              </a:lnSpc>
              <a:spcBef>
                <a:spcPts val="0"/>
              </a:spcBef>
            </a:pPr>
            <a:r>
              <a:rPr lang="en-US" dirty="0"/>
              <a:t>Literature/collecting sources</a:t>
            </a:r>
          </a:p>
          <a:p>
            <a:pPr lvl="1">
              <a:lnSpc>
                <a:spcPct val="150000"/>
              </a:lnSpc>
              <a:spcBef>
                <a:spcPts val="0"/>
              </a:spcBef>
            </a:pPr>
            <a:r>
              <a:rPr lang="en-US" dirty="0"/>
              <a:t>Learning outcomes/marking criteria</a:t>
            </a:r>
          </a:p>
          <a:p>
            <a:pPr lvl="1">
              <a:lnSpc>
                <a:spcPct val="150000"/>
              </a:lnSpc>
              <a:spcBef>
                <a:spcPts val="0"/>
              </a:spcBef>
            </a:pPr>
            <a:r>
              <a:rPr lang="en-US" dirty="0"/>
              <a:t>Chapter content guidelines</a:t>
            </a:r>
          </a:p>
          <a:p>
            <a:pPr lvl="1">
              <a:lnSpc>
                <a:spcPct val="150000"/>
              </a:lnSpc>
              <a:spcBef>
                <a:spcPts val="0"/>
              </a:spcBef>
            </a:pPr>
            <a:r>
              <a:rPr lang="en-US" dirty="0"/>
              <a:t>Aims</a:t>
            </a:r>
          </a:p>
          <a:p>
            <a:pPr lvl="1">
              <a:spcAft>
                <a:spcPts val="600"/>
              </a:spcAft>
            </a:pPr>
            <a:endParaRPr lang="en-US" dirty="0"/>
          </a:p>
        </p:txBody>
      </p:sp>
      <p:sp>
        <p:nvSpPr>
          <p:cNvPr id="7" name="Navy Footer Strip" descr="Footer navy">
            <a:extLst>
              <a:ext uri="{FF2B5EF4-FFF2-40B4-BE49-F238E27FC236}">
                <a16:creationId xmlns:a16="http://schemas.microsoft.com/office/drawing/2014/main" id="{04C262DF-7C0E-015E-2078-AD7674A020E9}"/>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Small White Logo" descr="Small WU logo">
            <a:extLst>
              <a:ext uri="{FF2B5EF4-FFF2-40B4-BE49-F238E27FC236}">
                <a16:creationId xmlns:a16="http://schemas.microsoft.com/office/drawing/2014/main" id="{23023954-0291-0B81-8EF4-0D86FFC58474}"/>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9" name="Picture 8" descr="short orange tower">
            <a:extLst>
              <a:ext uri="{FF2B5EF4-FFF2-40B4-BE49-F238E27FC236}">
                <a16:creationId xmlns:a16="http://schemas.microsoft.com/office/drawing/2014/main" id="{DC6369CC-E633-5AB5-CA13-FE1B312EA0DA}"/>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4111470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9869-BA26-486A-A74A-F8AC2F9C75FF}"/>
              </a:ext>
            </a:extLst>
          </p:cNvPr>
          <p:cNvSpPr>
            <a:spLocks noGrp="1"/>
          </p:cNvSpPr>
          <p:nvPr>
            <p:ph type="ctrTitle"/>
          </p:nvPr>
        </p:nvSpPr>
        <p:spPr>
          <a:xfrm>
            <a:off x="2209800" y="386644"/>
            <a:ext cx="7772400" cy="6084711"/>
          </a:xfrm>
          <a:prstGeom prst="rect">
            <a:avLst/>
          </a:prstGeom>
        </p:spPr>
        <p:txBody>
          <a:bodyPr>
            <a:noAutofit/>
          </a:bodyPr>
          <a:lstStyle/>
          <a:p>
            <a:pPr>
              <a:spcBef>
                <a:spcPts val="0"/>
              </a:spcBef>
            </a:pPr>
            <a:r>
              <a:rPr lang="en-US" sz="6000" dirty="0">
                <a:solidFill>
                  <a:schemeClr val="tx2"/>
                </a:solidFill>
              </a:rPr>
              <a:t>BUS7C4</a:t>
            </a:r>
            <a:br>
              <a:rPr lang="en-US" sz="6000" dirty="0">
                <a:solidFill>
                  <a:schemeClr val="tx2"/>
                </a:solidFill>
              </a:rPr>
            </a:br>
            <a:r>
              <a:rPr lang="en-US" sz="6000" dirty="0">
                <a:solidFill>
                  <a:schemeClr val="tx2"/>
                </a:solidFill>
              </a:rPr>
              <a:t>Research Project</a:t>
            </a:r>
            <a:br>
              <a:rPr lang="en-US" sz="5000" dirty="0">
                <a:solidFill>
                  <a:schemeClr val="tx2"/>
                </a:solidFill>
              </a:rPr>
            </a:br>
            <a:br>
              <a:rPr lang="en-GB" sz="4000" dirty="0"/>
            </a:br>
            <a:r>
              <a:rPr lang="en-US" sz="6000" dirty="0"/>
              <a:t>This month</a:t>
            </a:r>
            <a:endParaRPr lang="en-GB" sz="6000" dirty="0"/>
          </a:p>
        </p:txBody>
      </p:sp>
      <p:sp>
        <p:nvSpPr>
          <p:cNvPr id="4" name="Lightning Bolt 3"/>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 name="Lightning Bolt 4"/>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6" name="Lightning Bolt 5"/>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 name="Navy Footer Strip" descr="Footer navy">
            <a:extLst>
              <a:ext uri="{FF2B5EF4-FFF2-40B4-BE49-F238E27FC236}">
                <a16:creationId xmlns:a16="http://schemas.microsoft.com/office/drawing/2014/main" id="{B5691F50-8D02-5F87-45D4-DC64DCB13E8C}"/>
              </a:ext>
            </a:extLst>
          </p:cNvPr>
          <p:cNvSpPr/>
          <p:nvPr/>
        </p:nvSpPr>
        <p:spPr>
          <a:xfrm>
            <a:off x="0" y="5849815"/>
            <a:ext cx="12192000" cy="1008185"/>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Small White Logo" descr="Small WU logo">
            <a:extLst>
              <a:ext uri="{FF2B5EF4-FFF2-40B4-BE49-F238E27FC236}">
                <a16:creationId xmlns:a16="http://schemas.microsoft.com/office/drawing/2014/main" id="{C41F57ED-E63E-3CF4-DC35-3302091FCB4A}"/>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9" name="Picture 8" descr="short orange tower">
            <a:extLst>
              <a:ext uri="{FF2B5EF4-FFF2-40B4-BE49-F238E27FC236}">
                <a16:creationId xmlns:a16="http://schemas.microsoft.com/office/drawing/2014/main" id="{32365195-4CBB-6902-0674-6357501721CF}"/>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1590812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0553B-0FF1-43CA-8390-C67312402514}"/>
              </a:ext>
            </a:extLst>
          </p:cNvPr>
          <p:cNvSpPr>
            <a:spLocks noGrp="1"/>
          </p:cNvSpPr>
          <p:nvPr>
            <p:ph type="title"/>
          </p:nvPr>
        </p:nvSpPr>
        <p:spPr>
          <a:prstGeom prst="rect">
            <a:avLst/>
          </a:prstGeom>
        </p:spPr>
        <p:txBody>
          <a:bodyPr/>
          <a:lstStyle/>
          <a:p>
            <a:r>
              <a:rPr lang="en-US" dirty="0"/>
              <a:t>This month</a:t>
            </a:r>
            <a:endParaRPr lang="en-GB" dirty="0"/>
          </a:p>
        </p:txBody>
      </p:sp>
      <p:sp>
        <p:nvSpPr>
          <p:cNvPr id="6" name="Content Placeholder 5">
            <a:extLst>
              <a:ext uri="{FF2B5EF4-FFF2-40B4-BE49-F238E27FC236}">
                <a16:creationId xmlns:a16="http://schemas.microsoft.com/office/drawing/2014/main" id="{2B3A5511-3703-49EF-90FF-1633535DB693}"/>
              </a:ext>
            </a:extLst>
          </p:cNvPr>
          <p:cNvSpPr>
            <a:spLocks noGrp="1"/>
          </p:cNvSpPr>
          <p:nvPr>
            <p:ph idx="1"/>
          </p:nvPr>
        </p:nvSpPr>
        <p:spPr>
          <a:xfrm>
            <a:off x="1840523" y="1044575"/>
            <a:ext cx="8229600" cy="5448300"/>
          </a:xfrm>
          <a:prstGeom prst="rect">
            <a:avLst/>
          </a:prstGeom>
        </p:spPr>
        <p:txBody>
          <a:bodyPr>
            <a:noAutofit/>
          </a:bodyPr>
          <a:lstStyle/>
          <a:p>
            <a:pPr marL="0" indent="0">
              <a:spcBef>
                <a:spcPts val="0"/>
              </a:spcBef>
              <a:buNone/>
            </a:pPr>
            <a:r>
              <a:rPr lang="en-GB" i="1" dirty="0"/>
              <a:t>Activities</a:t>
            </a:r>
            <a:r>
              <a:rPr lang="en-GB" dirty="0"/>
              <a:t> </a:t>
            </a:r>
          </a:p>
          <a:p>
            <a:pPr marL="514350" indent="-514350">
              <a:buFont typeface="+mj-lt"/>
              <a:buAutoNum type="arabicPeriod"/>
            </a:pPr>
            <a:r>
              <a:rPr lang="en-GB" dirty="0"/>
              <a:t>Moodle:</a:t>
            </a:r>
          </a:p>
          <a:p>
            <a:pPr lvl="1">
              <a:spcBef>
                <a:spcPts val="0"/>
              </a:spcBef>
            </a:pPr>
            <a:r>
              <a:rPr lang="en-US" i="1" dirty="0"/>
              <a:t>Section 3: Literature</a:t>
            </a:r>
          </a:p>
          <a:p>
            <a:pPr marL="801688" lvl="2">
              <a:buFont typeface="Courier New" panose="02070309020205020404" pitchFamily="49" charset="0"/>
              <a:buChar char="o"/>
            </a:pPr>
            <a:r>
              <a:rPr lang="en-US" i="1" dirty="0"/>
              <a:t>Part 1: The Multiple Purposes of a Literature Review</a:t>
            </a:r>
          </a:p>
          <a:p>
            <a:pPr marL="801688" lvl="2">
              <a:buFont typeface="Courier New" panose="02070309020205020404" pitchFamily="49" charset="0"/>
              <a:buChar char="o"/>
            </a:pPr>
            <a:r>
              <a:rPr lang="en-US" i="1" dirty="0"/>
              <a:t>Part 2: Literature Search - Sources of Information and Search Sentences</a:t>
            </a:r>
          </a:p>
          <a:p>
            <a:pPr marL="801688" lvl="2">
              <a:buFont typeface="Courier New" panose="02070309020205020404" pitchFamily="49" charset="0"/>
              <a:buChar char="o"/>
            </a:pPr>
            <a:r>
              <a:rPr lang="en-US" i="1" dirty="0"/>
              <a:t>Part 3: Reference Management - Keeping Records and Organising Information (RefWorks)</a:t>
            </a:r>
          </a:p>
          <a:p>
            <a:pPr marL="801688" lvl="2">
              <a:buFont typeface="Courier New" panose="02070309020205020404" pitchFamily="49" charset="0"/>
              <a:buChar char="o"/>
            </a:pPr>
            <a:r>
              <a:rPr lang="en-US" i="1" dirty="0"/>
              <a:t>Part 4: In-text Referencing System and Reference List (The Wrexham Harvard Style)</a:t>
            </a:r>
          </a:p>
          <a:p>
            <a:pPr marL="801688" lvl="2">
              <a:buFont typeface="Courier New" panose="02070309020205020404" pitchFamily="49" charset="0"/>
              <a:buChar char="o"/>
            </a:pPr>
            <a:r>
              <a:rPr lang="en-US" i="1" dirty="0"/>
              <a:t>Part 5: Reading and Note-taking Strategies</a:t>
            </a:r>
          </a:p>
          <a:p>
            <a:pPr marL="801688" lvl="2">
              <a:buFont typeface="Courier New" panose="02070309020205020404" pitchFamily="49" charset="0"/>
              <a:buChar char="o"/>
            </a:pPr>
            <a:r>
              <a:rPr lang="en-US" i="1" dirty="0"/>
              <a:t>Part 6: </a:t>
            </a:r>
            <a:r>
              <a:rPr lang="en-GB" i="1" dirty="0"/>
              <a:t>Structuring your Literature Review or Literature Search Summary or Background and Context Chapter</a:t>
            </a:r>
            <a:endParaRPr lang="en-US" i="1" dirty="0"/>
          </a:p>
          <a:p>
            <a:pPr marL="801688" lvl="2">
              <a:buFont typeface="Courier New" panose="02070309020205020404" pitchFamily="49" charset="0"/>
              <a:buChar char="o"/>
            </a:pPr>
            <a:r>
              <a:rPr lang="en-US" i="1" dirty="0"/>
              <a:t>Part 7: Critical Writing</a:t>
            </a:r>
          </a:p>
          <a:p>
            <a:pPr lvl="1">
              <a:spcAft>
                <a:spcPts val="600"/>
              </a:spcAft>
            </a:pPr>
            <a:endParaRPr lang="en-US" i="1" dirty="0"/>
          </a:p>
          <a:p>
            <a:pPr lvl="1">
              <a:spcAft>
                <a:spcPts val="600"/>
              </a:spcAft>
            </a:pPr>
            <a:endParaRPr lang="en-GB" i="1" dirty="0"/>
          </a:p>
        </p:txBody>
      </p:sp>
      <p:sp>
        <p:nvSpPr>
          <p:cNvPr id="3" name="Lightning Bolt 2"/>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 name="Lightning Bolt 3"/>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Lightning Bolt 7"/>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Lightning Bolt 8"/>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Lightning Bolt 9"/>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Lightning Bolt 10"/>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Lightning Bolt 4"/>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Navy Footer Strip" descr="Footer navy">
            <a:extLst>
              <a:ext uri="{FF2B5EF4-FFF2-40B4-BE49-F238E27FC236}">
                <a16:creationId xmlns:a16="http://schemas.microsoft.com/office/drawing/2014/main" id="{D902DE74-3B83-FC3D-ACDD-CAC81CF42FAF}"/>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Small White Logo" descr="Small WU logo">
            <a:extLst>
              <a:ext uri="{FF2B5EF4-FFF2-40B4-BE49-F238E27FC236}">
                <a16:creationId xmlns:a16="http://schemas.microsoft.com/office/drawing/2014/main" id="{A05A7172-2678-427B-1835-860BC9770A4F}"/>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14" name="Picture 13" descr="short orange tower">
            <a:extLst>
              <a:ext uri="{FF2B5EF4-FFF2-40B4-BE49-F238E27FC236}">
                <a16:creationId xmlns:a16="http://schemas.microsoft.com/office/drawing/2014/main" id="{3DCC1C5E-87BA-99EC-EABA-07BC976A31CA}"/>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1980387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0553B-0FF1-43CA-8390-C67312402514}"/>
              </a:ext>
            </a:extLst>
          </p:cNvPr>
          <p:cNvSpPr>
            <a:spLocks noGrp="1"/>
          </p:cNvSpPr>
          <p:nvPr>
            <p:ph type="title"/>
          </p:nvPr>
        </p:nvSpPr>
        <p:spPr>
          <a:prstGeom prst="rect">
            <a:avLst/>
          </a:prstGeom>
        </p:spPr>
        <p:txBody>
          <a:bodyPr/>
          <a:lstStyle/>
          <a:p>
            <a:r>
              <a:rPr lang="en-US" dirty="0"/>
              <a:t>This month</a:t>
            </a:r>
            <a:endParaRPr lang="en-GB" dirty="0"/>
          </a:p>
        </p:txBody>
      </p:sp>
      <p:sp>
        <p:nvSpPr>
          <p:cNvPr id="6" name="Content Placeholder 5">
            <a:extLst>
              <a:ext uri="{FF2B5EF4-FFF2-40B4-BE49-F238E27FC236}">
                <a16:creationId xmlns:a16="http://schemas.microsoft.com/office/drawing/2014/main" id="{2B3A5511-3703-49EF-90FF-1633535DB693}"/>
              </a:ext>
            </a:extLst>
          </p:cNvPr>
          <p:cNvSpPr>
            <a:spLocks noGrp="1"/>
          </p:cNvSpPr>
          <p:nvPr>
            <p:ph idx="1"/>
          </p:nvPr>
        </p:nvSpPr>
        <p:spPr>
          <a:prstGeom prst="rect">
            <a:avLst/>
          </a:prstGeom>
        </p:spPr>
        <p:txBody>
          <a:bodyPr>
            <a:noAutofit/>
          </a:bodyPr>
          <a:lstStyle/>
          <a:p>
            <a:pPr marL="0" indent="0">
              <a:buNone/>
            </a:pPr>
            <a:r>
              <a:rPr lang="en-GB" i="1" dirty="0"/>
              <a:t>Activities</a:t>
            </a:r>
            <a:r>
              <a:rPr lang="en-GB" dirty="0"/>
              <a:t> (cont.…)</a:t>
            </a:r>
          </a:p>
          <a:p>
            <a:pPr marL="514350" indent="-514350">
              <a:spcBef>
                <a:spcPts val="1200"/>
              </a:spcBef>
              <a:buFont typeface="+mj-lt"/>
              <a:buAutoNum type="arabicPeriod" startAt="2"/>
            </a:pPr>
            <a:r>
              <a:rPr lang="en-GB" dirty="0"/>
              <a:t>Module textbooks</a:t>
            </a:r>
            <a:r>
              <a:rPr lang="en-US" dirty="0"/>
              <a:t> </a:t>
            </a:r>
            <a:endParaRPr lang="en-GB" dirty="0"/>
          </a:p>
          <a:p>
            <a:pPr marL="514350" indent="-514350">
              <a:spcBef>
                <a:spcPts val="1200"/>
              </a:spcBef>
              <a:buFont typeface="+mj-lt"/>
              <a:buAutoNum type="arabicPeriod" startAt="2"/>
            </a:pPr>
            <a:r>
              <a:rPr lang="en-GB" dirty="0"/>
              <a:t>Preparation for your submission</a:t>
            </a:r>
          </a:p>
          <a:p>
            <a:pPr marL="0" indent="0">
              <a:spcBef>
                <a:spcPts val="2400"/>
              </a:spcBef>
              <a:buNone/>
            </a:pPr>
            <a:r>
              <a:rPr lang="en-GB" i="1" dirty="0"/>
              <a:t>Time to dedicate to guided independent study</a:t>
            </a:r>
          </a:p>
          <a:p>
            <a:pPr>
              <a:spcBef>
                <a:spcPts val="1200"/>
              </a:spcBef>
            </a:pPr>
            <a:r>
              <a:rPr lang="en-GB" dirty="0"/>
              <a:t>You should be spending approximately 35-40 hours each week after Christmas as you move into Phase 3 of your dissertation.</a:t>
            </a:r>
            <a:endParaRPr lang="en-GB" sz="2400" dirty="0"/>
          </a:p>
        </p:txBody>
      </p:sp>
      <p:sp>
        <p:nvSpPr>
          <p:cNvPr id="3" name="Lightning Bolt 2"/>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 name="Lightning Bolt 3"/>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Lightning Bolt 7"/>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Lightning Bolt 8"/>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Lightning Bolt 9"/>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Lightning Bolt 10"/>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Lightning Bolt 4"/>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Lightning Bolt 11"/>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Lightning Bolt 12"/>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Navy Footer Strip" descr="Footer navy">
            <a:extLst>
              <a:ext uri="{FF2B5EF4-FFF2-40B4-BE49-F238E27FC236}">
                <a16:creationId xmlns:a16="http://schemas.microsoft.com/office/drawing/2014/main" id="{097F3569-6A64-FDF0-9BAF-2C4D3F284D09}"/>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Small White Logo" descr="Small WU logo">
            <a:extLst>
              <a:ext uri="{FF2B5EF4-FFF2-40B4-BE49-F238E27FC236}">
                <a16:creationId xmlns:a16="http://schemas.microsoft.com/office/drawing/2014/main" id="{81F75FCE-72F5-C348-906F-7AEACBCBB7A2}"/>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16" name="Picture 15" descr="short orange tower">
            <a:extLst>
              <a:ext uri="{FF2B5EF4-FFF2-40B4-BE49-F238E27FC236}">
                <a16:creationId xmlns:a16="http://schemas.microsoft.com/office/drawing/2014/main" id="{CA3878D4-84B5-1DE9-5538-EAF109A33A97}"/>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1566635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0553B-0FF1-43CA-8390-C67312402514}"/>
              </a:ext>
            </a:extLst>
          </p:cNvPr>
          <p:cNvSpPr>
            <a:spLocks noGrp="1"/>
          </p:cNvSpPr>
          <p:nvPr>
            <p:ph type="title"/>
          </p:nvPr>
        </p:nvSpPr>
        <p:spPr/>
        <p:txBody>
          <a:bodyPr/>
          <a:lstStyle/>
          <a:p>
            <a:r>
              <a:rPr lang="en-GB" dirty="0"/>
              <a:t>BUS7C4: Learning Resources</a:t>
            </a:r>
          </a:p>
        </p:txBody>
      </p:sp>
      <p:sp>
        <p:nvSpPr>
          <p:cNvPr id="4" name="Content Placeholder 3">
            <a:extLst>
              <a:ext uri="{FF2B5EF4-FFF2-40B4-BE49-F238E27FC236}">
                <a16:creationId xmlns:a16="http://schemas.microsoft.com/office/drawing/2014/main" id="{C0CA3CEB-7B48-47FB-9B9B-0C583A2F42B5}"/>
              </a:ext>
            </a:extLst>
          </p:cNvPr>
          <p:cNvSpPr>
            <a:spLocks noGrp="1"/>
          </p:cNvSpPr>
          <p:nvPr>
            <p:ph idx="1"/>
          </p:nvPr>
        </p:nvSpPr>
        <p:spPr>
          <a:xfrm>
            <a:off x="1981201" y="1600201"/>
            <a:ext cx="5496877" cy="4525963"/>
          </a:xfrm>
        </p:spPr>
        <p:txBody>
          <a:bodyPr>
            <a:noAutofit/>
          </a:bodyPr>
          <a:lstStyle/>
          <a:p>
            <a:pPr marL="0" indent="0">
              <a:lnSpc>
                <a:spcPct val="150000"/>
              </a:lnSpc>
              <a:buNone/>
            </a:pPr>
            <a:r>
              <a:rPr lang="en-GB" dirty="0"/>
              <a:t>Essential reading </a:t>
            </a:r>
          </a:p>
          <a:p>
            <a:pPr marL="457200" indent="-457200">
              <a:lnSpc>
                <a:spcPct val="150000"/>
              </a:lnSpc>
              <a:spcAft>
                <a:spcPts val="1200"/>
              </a:spcAft>
            </a:pPr>
            <a:r>
              <a:rPr lang="en-US" dirty="0"/>
              <a:t>Gray, D. (2019), </a:t>
            </a:r>
            <a:r>
              <a:rPr lang="en-US" i="1" dirty="0"/>
              <a:t>Doing Research in the Business World</a:t>
            </a:r>
            <a:r>
              <a:rPr lang="en-US" dirty="0"/>
              <a:t>. 2nd ed. London: Sage.</a:t>
            </a:r>
          </a:p>
          <a:p>
            <a:pPr marL="0" indent="0" algn="ctr">
              <a:buNone/>
            </a:pPr>
            <a:r>
              <a:rPr lang="en-GB" sz="2400" dirty="0"/>
              <a:t>650.072 GRA</a:t>
            </a:r>
          </a:p>
          <a:p>
            <a:pPr marL="0" indent="0" algn="ctr">
              <a:lnSpc>
                <a:spcPct val="150000"/>
              </a:lnSpc>
              <a:spcBef>
                <a:spcPts val="0"/>
              </a:spcBef>
              <a:buNone/>
            </a:pPr>
            <a:r>
              <a:rPr lang="en-GB" sz="2400" dirty="0"/>
              <a:t>(1st &amp; 2nd ed. available in the library)</a:t>
            </a:r>
          </a:p>
        </p:txBody>
      </p:sp>
      <p:pic>
        <p:nvPicPr>
          <p:cNvPr id="6" name="Picture 5" descr="Doing Research in the Business World by David Gray - Cover Image">
            <a:hlinkClick r:id="rId3"/>
            <a:extLst>
              <a:ext uri="{FF2B5EF4-FFF2-40B4-BE49-F238E27FC236}">
                <a16:creationId xmlns:a16="http://schemas.microsoft.com/office/drawing/2014/main" id="{BF95FC8F-9623-435D-83B1-5DCEACEB2099}"/>
              </a:ext>
            </a:extLst>
          </p:cNvPr>
          <p:cNvPicPr>
            <a:picLocks noChangeAspect="1"/>
          </p:cNvPicPr>
          <p:nvPr/>
        </p:nvPicPr>
        <p:blipFill rotWithShape="1">
          <a:blip r:embed="rId4" cstate="email">
            <a:extLst>
              <a:ext uri="{28A0092B-C50C-407E-A947-70E740481C1C}">
                <a14:useLocalDpi xmlns:a14="http://schemas.microsoft.com/office/drawing/2010/main" val="0"/>
              </a:ext>
            </a:extLst>
          </a:blip>
          <a:srcRect l="3536" t="2337" r="3385" b="2312"/>
          <a:stretch/>
        </p:blipFill>
        <p:spPr>
          <a:xfrm>
            <a:off x="7423785" y="1981200"/>
            <a:ext cx="1306830" cy="1784986"/>
          </a:xfrm>
          <a:prstGeom prst="rect">
            <a:avLst/>
          </a:prstGeom>
          <a:ln>
            <a:solidFill>
              <a:schemeClr val="tx1"/>
            </a:solidFill>
          </a:ln>
        </p:spPr>
      </p:pic>
      <p:pic>
        <p:nvPicPr>
          <p:cNvPr id="7" name="Picture 6" descr="Doing Research in the Business World by David Gray - Cover Image"/>
          <p:cNvPicPr>
            <a:picLocks noChangeAspect="1"/>
          </p:cNvPicPr>
          <p:nvPr/>
        </p:nvPicPr>
        <p:blipFill rotWithShape="1">
          <a:blip r:embed="rId5" cstate="email">
            <a:extLst>
              <a:ext uri="{28A0092B-C50C-407E-A947-70E740481C1C}">
                <a14:useLocalDpi xmlns:a14="http://schemas.microsoft.com/office/drawing/2010/main" val="0"/>
              </a:ext>
            </a:extLst>
          </a:blip>
          <a:srcRect l="2464" t="533" r="2618" b="589"/>
          <a:stretch/>
        </p:blipFill>
        <p:spPr>
          <a:xfrm>
            <a:off x="7989371" y="2461260"/>
            <a:ext cx="1903785" cy="2491740"/>
          </a:xfrm>
          <a:prstGeom prst="rect">
            <a:avLst/>
          </a:prstGeom>
          <a:ln>
            <a:solidFill>
              <a:schemeClr val="tx1"/>
            </a:solidFill>
          </a:ln>
        </p:spPr>
      </p:pic>
      <p:sp>
        <p:nvSpPr>
          <p:cNvPr id="3" name="Navy Footer Strip" descr="Footer navy">
            <a:extLst>
              <a:ext uri="{FF2B5EF4-FFF2-40B4-BE49-F238E27FC236}">
                <a16:creationId xmlns:a16="http://schemas.microsoft.com/office/drawing/2014/main" id="{9264DC53-8837-FCC4-043D-E5E8874A4977}"/>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mall White Logo" descr="Small WU logo">
            <a:extLst>
              <a:ext uri="{FF2B5EF4-FFF2-40B4-BE49-F238E27FC236}">
                <a16:creationId xmlns:a16="http://schemas.microsoft.com/office/drawing/2014/main" id="{18D71310-605D-5A1F-E287-51BBEB66A3EB}"/>
              </a:ext>
            </a:extLst>
          </p:cNvPr>
          <p:cNvPicPr>
            <a:picLocks noChangeAspect="1"/>
          </p:cNvPicPr>
          <p:nvPr/>
        </p:nvPicPr>
        <p:blipFill>
          <a:blip r:embed="rId6"/>
          <a:stretch>
            <a:fillRect/>
          </a:stretch>
        </p:blipFill>
        <p:spPr>
          <a:xfrm>
            <a:off x="534811" y="6217213"/>
            <a:ext cx="1801495" cy="397654"/>
          </a:xfrm>
          <a:prstGeom prst="rect">
            <a:avLst/>
          </a:prstGeom>
        </p:spPr>
      </p:pic>
      <p:pic>
        <p:nvPicPr>
          <p:cNvPr id="8" name="Picture 7" descr="short orange tower">
            <a:extLst>
              <a:ext uri="{FF2B5EF4-FFF2-40B4-BE49-F238E27FC236}">
                <a16:creationId xmlns:a16="http://schemas.microsoft.com/office/drawing/2014/main" id="{78EB2A95-97EB-1CFD-FE5D-95E887EE7F06}"/>
              </a:ext>
            </a:extLst>
          </p:cNvPr>
          <p:cNvPicPr>
            <a:picLocks noChangeAspect="1"/>
          </p:cNvPicPr>
          <p:nvPr/>
        </p:nvPicPr>
        <p:blipFill>
          <a:blip r:embed="rId7"/>
          <a:srcRect/>
          <a:stretch/>
        </p:blipFill>
        <p:spPr>
          <a:xfrm>
            <a:off x="11084876" y="5363376"/>
            <a:ext cx="548323" cy="1494624"/>
          </a:xfrm>
          <a:prstGeom prst="rect">
            <a:avLst/>
          </a:prstGeom>
        </p:spPr>
      </p:pic>
    </p:spTree>
    <p:extLst>
      <p:ext uri="{BB962C8B-B14F-4D97-AF65-F5344CB8AC3E}">
        <p14:creationId xmlns:p14="http://schemas.microsoft.com/office/powerpoint/2010/main" val="3806755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Literature Review by Ridley - Cover Image"/>
          <p:cNvPicPr>
            <a:picLocks noChangeAspect="1"/>
          </p:cNvPicPr>
          <p:nvPr/>
        </p:nvPicPr>
        <p:blipFill>
          <a:blip r:embed="rId3"/>
          <a:stretch>
            <a:fillRect/>
          </a:stretch>
        </p:blipFill>
        <p:spPr>
          <a:xfrm>
            <a:off x="7575970" y="1702374"/>
            <a:ext cx="2520000" cy="3592340"/>
          </a:xfrm>
          <a:prstGeom prst="rect">
            <a:avLst/>
          </a:prstGeom>
          <a:ln w="9525">
            <a:solidFill>
              <a:schemeClr val="tx1"/>
            </a:solidFill>
          </a:ln>
        </p:spPr>
      </p:pic>
      <p:sp>
        <p:nvSpPr>
          <p:cNvPr id="2" name="Title 1">
            <a:extLst>
              <a:ext uri="{FF2B5EF4-FFF2-40B4-BE49-F238E27FC236}">
                <a16:creationId xmlns:a16="http://schemas.microsoft.com/office/drawing/2014/main" id="{81A0553B-0FF1-43CA-8390-C67312402514}"/>
              </a:ext>
            </a:extLst>
          </p:cNvPr>
          <p:cNvSpPr>
            <a:spLocks noGrp="1"/>
          </p:cNvSpPr>
          <p:nvPr>
            <p:ph type="title"/>
          </p:nvPr>
        </p:nvSpPr>
        <p:spPr>
          <a:prstGeom prst="rect">
            <a:avLst/>
          </a:prstGeom>
        </p:spPr>
        <p:txBody>
          <a:bodyPr/>
          <a:lstStyle/>
          <a:p>
            <a:r>
              <a:rPr lang="en-GB" dirty="0"/>
              <a:t>BUS7C4: Learning Resources</a:t>
            </a:r>
          </a:p>
        </p:txBody>
      </p:sp>
      <p:sp>
        <p:nvSpPr>
          <p:cNvPr id="4" name="Content Placeholder 3">
            <a:extLst>
              <a:ext uri="{FF2B5EF4-FFF2-40B4-BE49-F238E27FC236}">
                <a16:creationId xmlns:a16="http://schemas.microsoft.com/office/drawing/2014/main" id="{C0CA3CEB-7B48-47FB-9B9B-0C583A2F42B5}"/>
              </a:ext>
            </a:extLst>
          </p:cNvPr>
          <p:cNvSpPr>
            <a:spLocks noGrp="1"/>
          </p:cNvSpPr>
          <p:nvPr>
            <p:ph idx="1"/>
          </p:nvPr>
        </p:nvSpPr>
        <p:spPr>
          <a:xfrm>
            <a:off x="1981200" y="1600201"/>
            <a:ext cx="4984044" cy="4525963"/>
          </a:xfrm>
          <a:prstGeom prst="rect">
            <a:avLst/>
          </a:prstGeom>
        </p:spPr>
        <p:txBody>
          <a:bodyPr>
            <a:noAutofit/>
          </a:bodyPr>
          <a:lstStyle/>
          <a:p>
            <a:pPr marL="457200" indent="-457200">
              <a:lnSpc>
                <a:spcPct val="150000"/>
              </a:lnSpc>
            </a:pPr>
            <a:r>
              <a:rPr lang="en-GB" dirty="0"/>
              <a:t>Ridley, D. (2012), </a:t>
            </a:r>
            <a:r>
              <a:rPr lang="en-GB" i="1" dirty="0"/>
              <a:t>The Literature Review: A Step-By-Step Guide For Students</a:t>
            </a:r>
            <a:r>
              <a:rPr lang="en-GB" dirty="0"/>
              <a:t>. 2nd Ed. London: Sage.</a:t>
            </a:r>
          </a:p>
          <a:p>
            <a:pPr marL="0" indent="0" algn="ctr">
              <a:lnSpc>
                <a:spcPct val="150000"/>
              </a:lnSpc>
              <a:buNone/>
            </a:pPr>
            <a:r>
              <a:rPr lang="en-GB" sz="3200" dirty="0"/>
              <a:t>001.4 RID</a:t>
            </a:r>
          </a:p>
        </p:txBody>
      </p:sp>
      <p:sp>
        <p:nvSpPr>
          <p:cNvPr id="5" name="Lightning Bolt 4"/>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Lightning Bolt 5"/>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Navy Footer Strip" descr="Footer navy">
            <a:extLst>
              <a:ext uri="{FF2B5EF4-FFF2-40B4-BE49-F238E27FC236}">
                <a16:creationId xmlns:a16="http://schemas.microsoft.com/office/drawing/2014/main" id="{E0E05F72-9B7D-329E-80DC-93692D797A05}"/>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Small White Logo" descr="Small WU logo">
            <a:extLst>
              <a:ext uri="{FF2B5EF4-FFF2-40B4-BE49-F238E27FC236}">
                <a16:creationId xmlns:a16="http://schemas.microsoft.com/office/drawing/2014/main" id="{B12377BD-612E-98A4-6352-48EC75F2309A}"/>
              </a:ext>
            </a:extLst>
          </p:cNvPr>
          <p:cNvPicPr>
            <a:picLocks noChangeAspect="1"/>
          </p:cNvPicPr>
          <p:nvPr/>
        </p:nvPicPr>
        <p:blipFill>
          <a:blip r:embed="rId4"/>
          <a:stretch>
            <a:fillRect/>
          </a:stretch>
        </p:blipFill>
        <p:spPr>
          <a:xfrm>
            <a:off x="534811" y="6217213"/>
            <a:ext cx="1801495" cy="397654"/>
          </a:xfrm>
          <a:prstGeom prst="rect">
            <a:avLst/>
          </a:prstGeom>
        </p:spPr>
      </p:pic>
      <p:pic>
        <p:nvPicPr>
          <p:cNvPr id="9" name="Picture 8" descr="short orange tower">
            <a:extLst>
              <a:ext uri="{FF2B5EF4-FFF2-40B4-BE49-F238E27FC236}">
                <a16:creationId xmlns:a16="http://schemas.microsoft.com/office/drawing/2014/main" id="{5D5B24CA-A9FC-242D-18CC-7C9716E809AC}"/>
              </a:ext>
            </a:extLst>
          </p:cNvPr>
          <p:cNvPicPr>
            <a:picLocks noChangeAspect="1"/>
          </p:cNvPicPr>
          <p:nvPr/>
        </p:nvPicPr>
        <p:blipFill>
          <a:blip r:embed="rId5"/>
          <a:srcRect/>
          <a:stretch/>
        </p:blipFill>
        <p:spPr>
          <a:xfrm>
            <a:off x="11084876" y="5363376"/>
            <a:ext cx="548323" cy="1494624"/>
          </a:xfrm>
          <a:prstGeom prst="rect">
            <a:avLst/>
          </a:prstGeom>
        </p:spPr>
      </p:pic>
    </p:spTree>
    <p:extLst>
      <p:ext uri="{BB962C8B-B14F-4D97-AF65-F5344CB8AC3E}">
        <p14:creationId xmlns:p14="http://schemas.microsoft.com/office/powerpoint/2010/main" val="2696226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0553B-0FF1-43CA-8390-C67312402514}"/>
              </a:ext>
            </a:extLst>
          </p:cNvPr>
          <p:cNvSpPr>
            <a:spLocks noGrp="1"/>
          </p:cNvSpPr>
          <p:nvPr>
            <p:ph type="title"/>
          </p:nvPr>
        </p:nvSpPr>
        <p:spPr>
          <a:prstGeom prst="rect">
            <a:avLst/>
          </a:prstGeom>
        </p:spPr>
        <p:txBody>
          <a:bodyPr>
            <a:normAutofit/>
          </a:bodyPr>
          <a:lstStyle/>
          <a:p>
            <a:r>
              <a:rPr lang="en-GB" dirty="0"/>
              <a:t>Formative Submission: Draft dissertation submission opportunity 1</a:t>
            </a:r>
          </a:p>
        </p:txBody>
      </p:sp>
      <p:sp>
        <p:nvSpPr>
          <p:cNvPr id="4" name="Content Placeholder 3">
            <a:extLst>
              <a:ext uri="{FF2B5EF4-FFF2-40B4-BE49-F238E27FC236}">
                <a16:creationId xmlns:a16="http://schemas.microsoft.com/office/drawing/2014/main" id="{C0CA3CEB-7B48-47FB-9B9B-0C583A2F42B5}"/>
              </a:ext>
            </a:extLst>
          </p:cNvPr>
          <p:cNvSpPr>
            <a:spLocks noGrp="1"/>
          </p:cNvSpPr>
          <p:nvPr>
            <p:ph idx="1"/>
          </p:nvPr>
        </p:nvSpPr>
        <p:spPr>
          <a:xfrm>
            <a:off x="1981200" y="2119745"/>
            <a:ext cx="8229600" cy="3740728"/>
          </a:xfrm>
          <a:prstGeom prst="rect">
            <a:avLst/>
          </a:prstGeom>
        </p:spPr>
        <p:txBody>
          <a:bodyPr>
            <a:normAutofit/>
          </a:bodyPr>
          <a:lstStyle/>
          <a:p>
            <a:pPr marL="457200" indent="-457200">
              <a:spcBef>
                <a:spcPts val="2400"/>
              </a:spcBef>
            </a:pPr>
            <a:r>
              <a:rPr lang="en-GB" dirty="0"/>
              <a:t>No mark - formative submission</a:t>
            </a:r>
          </a:p>
          <a:p>
            <a:pPr marL="457200" indent="-457200">
              <a:spcBef>
                <a:spcPts val="2400"/>
              </a:spcBef>
            </a:pPr>
            <a:r>
              <a:rPr lang="en-GB" dirty="0"/>
              <a:t>Review feedback received and work on this </a:t>
            </a:r>
          </a:p>
          <a:p>
            <a:pPr marL="457200" indent="-457200">
              <a:spcBef>
                <a:spcPts val="2400"/>
              </a:spcBef>
            </a:pPr>
            <a:r>
              <a:rPr lang="en-GB" dirty="0"/>
              <a:t>There is no resubmission of this draft but do ask if you are unclear as to what you need to do to improve the chapter, after you have read the feedback.</a:t>
            </a:r>
          </a:p>
        </p:txBody>
      </p:sp>
      <p:sp>
        <p:nvSpPr>
          <p:cNvPr id="3" name="Lightning Bolt 2"/>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Lightning Bolt 4"/>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Navy Footer Strip" descr="Footer navy">
            <a:extLst>
              <a:ext uri="{FF2B5EF4-FFF2-40B4-BE49-F238E27FC236}">
                <a16:creationId xmlns:a16="http://schemas.microsoft.com/office/drawing/2014/main" id="{9ED24E91-2064-07A1-8E80-C28C81A9A91C}"/>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Small White Logo" descr="Small WU logo">
            <a:extLst>
              <a:ext uri="{FF2B5EF4-FFF2-40B4-BE49-F238E27FC236}">
                <a16:creationId xmlns:a16="http://schemas.microsoft.com/office/drawing/2014/main" id="{55ED70F2-99CF-185A-90CC-6C8F97AC7A93}"/>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8" name="Picture 7" descr="short orange tower">
            <a:extLst>
              <a:ext uri="{FF2B5EF4-FFF2-40B4-BE49-F238E27FC236}">
                <a16:creationId xmlns:a16="http://schemas.microsoft.com/office/drawing/2014/main" id="{206E0770-CBBF-8EF3-CD5A-48791EFA30E2}"/>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4187376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9869-BA26-486A-A74A-F8AC2F9C75FF}"/>
              </a:ext>
            </a:extLst>
          </p:cNvPr>
          <p:cNvSpPr>
            <a:spLocks noGrp="1"/>
          </p:cNvSpPr>
          <p:nvPr>
            <p:ph type="ctrTitle"/>
          </p:nvPr>
        </p:nvSpPr>
        <p:spPr>
          <a:xfrm>
            <a:off x="2209800" y="2386585"/>
            <a:ext cx="7772400" cy="1777429"/>
          </a:xfrm>
        </p:spPr>
        <p:txBody>
          <a:bodyPr>
            <a:normAutofit/>
          </a:bodyPr>
          <a:lstStyle/>
          <a:p>
            <a:r>
              <a:rPr lang="en-GB" sz="7000" i="1" dirty="0"/>
              <a:t>Literature</a:t>
            </a:r>
          </a:p>
        </p:txBody>
      </p:sp>
      <p:sp>
        <p:nvSpPr>
          <p:cNvPr id="4" name="Lightning Bolt 3"/>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Lightning Bolt 4"/>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Lightning Bolt 7"/>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Lightning Bolt 10"/>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Lightning Bolt 11"/>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Lightning Bolt 2"/>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Lightning Bolt 5"/>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Lightning Bolt 8"/>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Lightning Bolt 9"/>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Navy Footer Strip" descr="Footer navy">
            <a:extLst>
              <a:ext uri="{FF2B5EF4-FFF2-40B4-BE49-F238E27FC236}">
                <a16:creationId xmlns:a16="http://schemas.microsoft.com/office/drawing/2014/main" id="{52AF0E18-F26D-5B57-A33D-19238CFEB515}"/>
              </a:ext>
            </a:extLst>
          </p:cNvPr>
          <p:cNvSpPr/>
          <p:nvPr/>
        </p:nvSpPr>
        <p:spPr>
          <a:xfrm>
            <a:off x="0" y="5802923"/>
            <a:ext cx="12192000" cy="1055077"/>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Small White Logo" descr="Small WU logo">
            <a:extLst>
              <a:ext uri="{FF2B5EF4-FFF2-40B4-BE49-F238E27FC236}">
                <a16:creationId xmlns:a16="http://schemas.microsoft.com/office/drawing/2014/main" id="{9FCD54B8-D69F-974A-8B78-4F3631981D83}"/>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15" name="Picture 14" descr="short orange tower">
            <a:extLst>
              <a:ext uri="{FF2B5EF4-FFF2-40B4-BE49-F238E27FC236}">
                <a16:creationId xmlns:a16="http://schemas.microsoft.com/office/drawing/2014/main" id="{F524159B-2E7B-7851-5E81-B5088A67E6CC}"/>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3336229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0553B-0FF1-43CA-8390-C67312402514}"/>
              </a:ext>
            </a:extLst>
          </p:cNvPr>
          <p:cNvSpPr>
            <a:spLocks noGrp="1"/>
          </p:cNvSpPr>
          <p:nvPr>
            <p:ph type="title"/>
          </p:nvPr>
        </p:nvSpPr>
        <p:spPr>
          <a:prstGeom prst="rect">
            <a:avLst/>
          </a:prstGeom>
        </p:spPr>
        <p:txBody>
          <a:bodyPr/>
          <a:lstStyle/>
          <a:p>
            <a:r>
              <a:rPr lang="en-GB" dirty="0"/>
              <a:t>Learning Outcome</a:t>
            </a:r>
          </a:p>
        </p:txBody>
      </p:sp>
      <p:graphicFrame>
        <p:nvGraphicFramePr>
          <p:cNvPr id="4" name="Table 3">
            <a:extLst>
              <a:ext uri="{FF2B5EF4-FFF2-40B4-BE49-F238E27FC236}">
                <a16:creationId xmlns:a16="http://schemas.microsoft.com/office/drawing/2014/main" id="{E471C53E-5422-499E-BAF7-E6B99C34DE91}"/>
              </a:ext>
            </a:extLst>
          </p:cNvPr>
          <p:cNvGraphicFramePr>
            <a:graphicFrameLocks noGrp="1"/>
          </p:cNvGraphicFramePr>
          <p:nvPr>
            <p:extLst>
              <p:ext uri="{D42A27DB-BD31-4B8C-83A1-F6EECF244321}">
                <p14:modId xmlns:p14="http://schemas.microsoft.com/office/powerpoint/2010/main" val="1107452008"/>
              </p:ext>
            </p:extLst>
          </p:nvPr>
        </p:nvGraphicFramePr>
        <p:xfrm>
          <a:off x="1866000" y="1824693"/>
          <a:ext cx="8460000" cy="3649835"/>
        </p:xfrm>
        <a:graphic>
          <a:graphicData uri="http://schemas.openxmlformats.org/drawingml/2006/table">
            <a:tbl>
              <a:tblPr firstRow="1" firstCol="1" bandRow="1"/>
              <a:tblGrid>
                <a:gridCol w="745838">
                  <a:extLst>
                    <a:ext uri="{9D8B030D-6E8A-4147-A177-3AD203B41FA5}">
                      <a16:colId xmlns:a16="http://schemas.microsoft.com/office/drawing/2014/main" val="3611080146"/>
                    </a:ext>
                  </a:extLst>
                </a:gridCol>
                <a:gridCol w="7714162">
                  <a:extLst>
                    <a:ext uri="{9D8B030D-6E8A-4147-A177-3AD203B41FA5}">
                      <a16:colId xmlns:a16="http://schemas.microsoft.com/office/drawing/2014/main" val="2225585407"/>
                    </a:ext>
                  </a:extLst>
                </a:gridCol>
              </a:tblGrid>
              <a:tr h="1209881">
                <a:tc gridSpan="2">
                  <a:txBody>
                    <a:bodyPr/>
                    <a:lstStyle/>
                    <a:p>
                      <a:pPr marL="522605" marR="630555" lvl="1" algn="l">
                        <a:lnSpc>
                          <a:spcPct val="107000"/>
                        </a:lnSpc>
                        <a:spcAft>
                          <a:spcPts val="0"/>
                        </a:spcAft>
                      </a:pPr>
                      <a:r>
                        <a:rPr lang="en-GB" sz="3000" b="0" dirty="0">
                          <a:solidFill>
                            <a:srgbClr val="000000"/>
                          </a:solidFill>
                          <a:effectLst/>
                          <a:latin typeface="+mn-lt"/>
                          <a:ea typeface="Arial" panose="020B0604020202020204" pitchFamily="34" charset="0"/>
                          <a:cs typeface="Arabic Typesetting"/>
                        </a:rPr>
                        <a:t>At the end of </a:t>
                      </a:r>
                      <a:r>
                        <a:rPr lang="en-GB" sz="3000" b="0" dirty="0">
                          <a:solidFill>
                            <a:schemeClr val="tx2"/>
                          </a:solidFill>
                          <a:effectLst/>
                          <a:latin typeface="+mn-lt"/>
                          <a:ea typeface="Arial" panose="020B0604020202020204" pitchFamily="34" charset="0"/>
                          <a:cs typeface="Arabic Typesetting"/>
                        </a:rPr>
                        <a:t>BUS7C4</a:t>
                      </a:r>
                      <a:r>
                        <a:rPr lang="en-GB" sz="3000" b="0" dirty="0">
                          <a:solidFill>
                            <a:srgbClr val="000000"/>
                          </a:solidFill>
                          <a:effectLst/>
                          <a:latin typeface="+mn-lt"/>
                          <a:ea typeface="Arial" panose="020B0604020202020204" pitchFamily="34" charset="0"/>
                          <a:cs typeface="Arabic Typesetting"/>
                        </a:rPr>
                        <a:t>, you will be able to…</a:t>
                      </a:r>
                      <a:endParaRPr lang="en-GB" sz="3000" b="1" dirty="0">
                        <a:solidFill>
                          <a:srgbClr val="000000"/>
                        </a:solidFill>
                        <a:effectLst/>
                        <a:latin typeface="+mn-lt"/>
                        <a:ea typeface="Arial" panose="020B0604020202020204" pitchFamily="34" charset="0"/>
                        <a:cs typeface="Arabic Typesetting"/>
                      </a:endParaRPr>
                    </a:p>
                  </a:txBody>
                  <a:tcPr marL="0" marR="58420" marT="25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491244021"/>
                  </a:ext>
                </a:extLst>
              </a:tr>
              <a:tr h="2439954">
                <a:tc>
                  <a:txBody>
                    <a:bodyPr/>
                    <a:lstStyle/>
                    <a:p>
                      <a:pPr marL="164465" marR="630555" lvl="0" indent="0" algn="l" defTabSz="457200" rtl="0" eaLnBrk="1" fontAlgn="auto" latinLnBrk="0" hangingPunct="1">
                        <a:lnSpc>
                          <a:spcPct val="107000"/>
                        </a:lnSpc>
                        <a:spcBef>
                          <a:spcPts val="0"/>
                        </a:spcBef>
                        <a:spcAft>
                          <a:spcPts val="0"/>
                        </a:spcAft>
                        <a:buClrTx/>
                        <a:buSzTx/>
                        <a:buFontTx/>
                        <a:buNone/>
                        <a:tabLst/>
                        <a:defRPr/>
                      </a:pPr>
                      <a:r>
                        <a:rPr lang="en-GB" sz="2600" b="0" dirty="0">
                          <a:solidFill>
                            <a:srgbClr val="000000"/>
                          </a:solidFill>
                          <a:effectLst/>
                          <a:latin typeface="+mn-lt"/>
                          <a:ea typeface="Arial" panose="020B0604020202020204" pitchFamily="34" charset="0"/>
                          <a:cs typeface="Arabic Typesetting" panose="03020402040406030203" pitchFamily="66" charset="-78"/>
                        </a:rPr>
                        <a:t>2</a:t>
                      </a:r>
                      <a:endParaRPr lang="en-GB" sz="2600" b="1" dirty="0">
                        <a:solidFill>
                          <a:srgbClr val="000000"/>
                        </a:solidFill>
                        <a:effectLst/>
                        <a:latin typeface="+mn-lt"/>
                        <a:ea typeface="Arial" panose="020B0604020202020204" pitchFamily="34" charset="0"/>
                        <a:cs typeface="Arabic Typesetting" panose="03020402040406030203" pitchFamily="66" charset="-78"/>
                      </a:endParaRPr>
                    </a:p>
                  </a:txBody>
                  <a:tcPr marL="0" marR="58420" marT="25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1">
                        <a:lnSpc>
                          <a:spcPct val="100000"/>
                        </a:lnSpc>
                        <a:spcBef>
                          <a:spcPts val="0"/>
                        </a:spcBef>
                        <a:spcAft>
                          <a:spcPts val="0"/>
                        </a:spcAft>
                      </a:pPr>
                      <a:r>
                        <a:rPr lang="en-GB" sz="2400" noProof="0" dirty="0"/>
                        <a:t>Search literature relating to the proposed </a:t>
                      </a:r>
                      <a:r>
                        <a:rPr lang="en-GB" sz="2400" b="0" noProof="0" dirty="0"/>
                        <a:t>research/project topic in a systematic manner and synthesise and critically evaluate the </a:t>
                      </a:r>
                      <a:r>
                        <a:rPr lang="en-GB" sz="2400" noProof="0" dirty="0"/>
                        <a:t>literature to produce a narrative collating the review findings in support of a specific research/project question/problem.</a:t>
                      </a:r>
                    </a:p>
                  </a:txBody>
                  <a:tcPr marL="0" marR="58420" marT="25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3869834"/>
                  </a:ext>
                </a:extLst>
              </a:tr>
            </a:tbl>
          </a:graphicData>
        </a:graphic>
      </p:graphicFrame>
      <p:sp>
        <p:nvSpPr>
          <p:cNvPr id="5" name="Lightning Bolt 4"/>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6" name="Lightning Bolt 5"/>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 name="Lightning Bolt 7"/>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9" name="Lightning Bolt 8"/>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0" name="Lightning Bolt 9"/>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1" name="Lightning Bolt 10"/>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Lightning Bolt 11"/>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Lightning Bolt 12"/>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Lightning Bolt 13"/>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Navy Footer Strip" descr="Footer navy">
            <a:extLst>
              <a:ext uri="{FF2B5EF4-FFF2-40B4-BE49-F238E27FC236}">
                <a16:creationId xmlns:a16="http://schemas.microsoft.com/office/drawing/2014/main" id="{532EF59A-E593-8DEB-0C97-464D68FFEE45}"/>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Small White Logo" descr="Small WU logo">
            <a:extLst>
              <a:ext uri="{FF2B5EF4-FFF2-40B4-BE49-F238E27FC236}">
                <a16:creationId xmlns:a16="http://schemas.microsoft.com/office/drawing/2014/main" id="{9983E352-1AC3-9BC2-A2C9-BF6CA73B377E}"/>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16" name="Picture 15" descr="short orange tower">
            <a:extLst>
              <a:ext uri="{FF2B5EF4-FFF2-40B4-BE49-F238E27FC236}">
                <a16:creationId xmlns:a16="http://schemas.microsoft.com/office/drawing/2014/main" id="{499B8E69-E07B-65A0-110F-D3EB7485CDD0}"/>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1829641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56C18D-0A8E-4D34-9AD2-CE112BBCF356}"/>
              </a:ext>
            </a:extLst>
          </p:cNvPr>
          <p:cNvSpPr>
            <a:spLocks noGrp="1"/>
          </p:cNvSpPr>
          <p:nvPr>
            <p:ph type="title"/>
          </p:nvPr>
        </p:nvSpPr>
        <p:spPr>
          <a:xfrm>
            <a:off x="1981200" y="433388"/>
            <a:ext cx="8229600" cy="1890712"/>
          </a:xfrm>
        </p:spPr>
        <p:txBody>
          <a:bodyPr>
            <a:noAutofit/>
          </a:bodyPr>
          <a:lstStyle/>
          <a:p>
            <a:r>
              <a:rPr lang="en-GB" altLang="en-US" dirty="0"/>
              <a:t>Final Dissertation Marking Criteria: </a:t>
            </a:r>
            <a:r>
              <a:rPr lang="en-GB" altLang="en-US" b="1" dirty="0">
                <a:highlight>
                  <a:srgbClr val="00FF00"/>
                </a:highlight>
              </a:rPr>
              <a:t>Empirical</a:t>
            </a:r>
            <a:r>
              <a:rPr lang="en-GB" altLang="en-US" dirty="0">
                <a:highlight>
                  <a:srgbClr val="00FF00"/>
                </a:highlight>
              </a:rPr>
              <a:t>-Based</a:t>
            </a:r>
            <a:r>
              <a:rPr lang="en-GB" altLang="en-US" dirty="0"/>
              <a:t> Research Studies </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2689099759"/>
              </p:ext>
            </p:extLst>
          </p:nvPr>
        </p:nvGraphicFramePr>
        <p:xfrm>
          <a:off x="1776000" y="2614613"/>
          <a:ext cx="8640000" cy="2853944"/>
        </p:xfrm>
        <a:graphic>
          <a:graphicData uri="http://schemas.openxmlformats.org/drawingml/2006/table">
            <a:tbl>
              <a:tblPr firstRow="1" firstCol="1" bandRow="1">
                <a:tableStyleId>{5940675A-B579-460E-94D1-54222C63F5DA}</a:tableStyleId>
              </a:tblPr>
              <a:tblGrid>
                <a:gridCol w="2847880">
                  <a:extLst>
                    <a:ext uri="{9D8B030D-6E8A-4147-A177-3AD203B41FA5}">
                      <a16:colId xmlns:a16="http://schemas.microsoft.com/office/drawing/2014/main" val="3049011634"/>
                    </a:ext>
                  </a:extLst>
                </a:gridCol>
                <a:gridCol w="1448030">
                  <a:extLst>
                    <a:ext uri="{9D8B030D-6E8A-4147-A177-3AD203B41FA5}">
                      <a16:colId xmlns:a16="http://schemas.microsoft.com/office/drawing/2014/main" val="951846352"/>
                    </a:ext>
                  </a:extLst>
                </a:gridCol>
                <a:gridCol w="1448030">
                  <a:extLst>
                    <a:ext uri="{9D8B030D-6E8A-4147-A177-3AD203B41FA5}">
                      <a16:colId xmlns:a16="http://schemas.microsoft.com/office/drawing/2014/main" val="344541693"/>
                    </a:ext>
                  </a:extLst>
                </a:gridCol>
                <a:gridCol w="1448030">
                  <a:extLst>
                    <a:ext uri="{9D8B030D-6E8A-4147-A177-3AD203B41FA5}">
                      <a16:colId xmlns:a16="http://schemas.microsoft.com/office/drawing/2014/main" val="2073772948"/>
                    </a:ext>
                  </a:extLst>
                </a:gridCol>
                <a:gridCol w="1448030">
                  <a:extLst>
                    <a:ext uri="{9D8B030D-6E8A-4147-A177-3AD203B41FA5}">
                      <a16:colId xmlns:a16="http://schemas.microsoft.com/office/drawing/2014/main" val="4172117357"/>
                    </a:ext>
                  </a:extLst>
                </a:gridCol>
              </a:tblGrid>
              <a:tr h="238379">
                <a:tc>
                  <a:txBody>
                    <a:bodyPr/>
                    <a:lstStyle/>
                    <a:p>
                      <a:pPr marR="21590" algn="ctr">
                        <a:lnSpc>
                          <a:spcPct val="107000"/>
                        </a:lnSpc>
                        <a:spcAft>
                          <a:spcPts val="0"/>
                        </a:spcAft>
                      </a:pPr>
                      <a:r>
                        <a:rPr lang="en-GB" sz="2000" dirty="0">
                          <a:effectLst/>
                        </a:rPr>
                        <a:t>Section</a:t>
                      </a:r>
                      <a:endParaRPr lang="en-GB"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975" marR="53975" marT="53975" marB="53975" anchor="ctr"/>
                </a:tc>
                <a:tc gridSpan="2">
                  <a:txBody>
                    <a:bodyPr/>
                    <a:lstStyle/>
                    <a:p>
                      <a:pPr marR="22860" algn="ctr">
                        <a:lnSpc>
                          <a:spcPct val="107000"/>
                        </a:lnSpc>
                        <a:spcAft>
                          <a:spcPts val="0"/>
                        </a:spcAft>
                      </a:pPr>
                      <a:r>
                        <a:rPr lang="en-GB" sz="2000" dirty="0">
                          <a:effectLst/>
                        </a:rPr>
                        <a:t>40 – 59%</a:t>
                      </a:r>
                      <a:endParaRPr lang="en-GB"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975" marR="53975" marT="53975" marB="53975" anchor="ctr"/>
                </a:tc>
                <a:tc hMerge="1">
                  <a:txBody>
                    <a:bodyPr/>
                    <a:lstStyle/>
                    <a:p>
                      <a:endParaRPr lang="en-GB"/>
                    </a:p>
                  </a:txBody>
                  <a:tcPr/>
                </a:tc>
                <a:tc gridSpan="2">
                  <a:txBody>
                    <a:bodyPr/>
                    <a:lstStyle/>
                    <a:p>
                      <a:pPr marR="21590" algn="ctr">
                        <a:lnSpc>
                          <a:spcPct val="107000"/>
                        </a:lnSpc>
                        <a:spcAft>
                          <a:spcPts val="0"/>
                        </a:spcAft>
                      </a:pPr>
                      <a:r>
                        <a:rPr lang="en-GB" sz="2000" dirty="0">
                          <a:effectLst/>
                        </a:rPr>
                        <a:t>70% and over</a:t>
                      </a:r>
                      <a:endParaRPr lang="en-GB"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975" marR="53975" marT="53975" marB="53975" anchor="ctr"/>
                </a:tc>
                <a:tc hMerge="1">
                  <a:txBody>
                    <a:bodyPr/>
                    <a:lstStyle/>
                    <a:p>
                      <a:endParaRPr lang="en-GB"/>
                    </a:p>
                  </a:txBody>
                  <a:tcPr/>
                </a:tc>
                <a:extLst>
                  <a:ext uri="{0D108BD9-81ED-4DB2-BD59-A6C34878D82A}">
                    <a16:rowId xmlns:a16="http://schemas.microsoft.com/office/drawing/2014/main" val="1377037771"/>
                  </a:ext>
                </a:extLst>
              </a:tr>
              <a:tr h="1080000">
                <a:tc>
                  <a:txBody>
                    <a:bodyPr/>
                    <a:lstStyle/>
                    <a:p>
                      <a:pPr>
                        <a:lnSpc>
                          <a:spcPct val="100000"/>
                        </a:lnSpc>
                        <a:spcBef>
                          <a:spcPts val="0"/>
                        </a:spcBef>
                        <a:spcAft>
                          <a:spcPts val="600"/>
                        </a:spcAft>
                      </a:pPr>
                      <a:r>
                        <a:rPr lang="en-US" sz="2000" dirty="0">
                          <a:effectLst/>
                        </a:rPr>
                        <a:t>Literature Review</a:t>
                      </a:r>
                    </a:p>
                  </a:txBody>
                  <a:tcPr marL="108000" marR="53975" marT="53975" marB="53975" anchor="ctr"/>
                </a:tc>
                <a:tc gridSpan="2">
                  <a:txBody>
                    <a:bodyPr/>
                    <a:lstStyle/>
                    <a:p>
                      <a:pPr marR="8890">
                        <a:lnSpc>
                          <a:spcPct val="100000"/>
                        </a:lnSpc>
                        <a:spcBef>
                          <a:spcPts val="0"/>
                        </a:spcBef>
                        <a:spcAft>
                          <a:spcPts val="600"/>
                        </a:spcAft>
                      </a:pPr>
                      <a:r>
                        <a:rPr lang="en-US" sz="2000" dirty="0">
                          <a:effectLst/>
                        </a:rPr>
                        <a:t>Adequate literature search conducted using a range of academic sources including current journals but limited critical review. </a:t>
                      </a:r>
                      <a:endParaRPr lang="en-GB"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8000" marR="53975" marT="53975" marB="53975" anchor="ctr"/>
                </a:tc>
                <a:tc hMerge="1">
                  <a:txBody>
                    <a:bodyPr/>
                    <a:lstStyle/>
                    <a:p>
                      <a:endParaRPr lang="en-GB"/>
                    </a:p>
                  </a:txBody>
                  <a:tcPr/>
                </a:tc>
                <a:tc gridSpan="2">
                  <a:txBody>
                    <a:bodyPr/>
                    <a:lstStyle/>
                    <a:p>
                      <a:pPr>
                        <a:lnSpc>
                          <a:spcPct val="100000"/>
                        </a:lnSpc>
                        <a:spcBef>
                          <a:spcPts val="0"/>
                        </a:spcBef>
                        <a:spcAft>
                          <a:spcPts val="600"/>
                        </a:spcAft>
                      </a:pPr>
                      <a:r>
                        <a:rPr lang="en-GB" sz="2000" dirty="0">
                          <a:effectLst/>
                        </a:rPr>
                        <a:t>Comprehensive literature search conducted using an extensive range of academically recognised sources with critical evaluation and synthesis. </a:t>
                      </a:r>
                      <a:endParaRPr lang="en-GB"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8000" marR="53975" marT="53975" marB="53975" anchor="ctr"/>
                </a:tc>
                <a:tc hMerge="1">
                  <a:txBody>
                    <a:bodyPr/>
                    <a:lstStyle/>
                    <a:p>
                      <a:endParaRPr lang="en-GB"/>
                    </a:p>
                  </a:txBody>
                  <a:tcPr/>
                </a:tc>
                <a:extLst>
                  <a:ext uri="{0D108BD9-81ED-4DB2-BD59-A6C34878D82A}">
                    <a16:rowId xmlns:a16="http://schemas.microsoft.com/office/drawing/2014/main" val="1935551569"/>
                  </a:ext>
                </a:extLst>
              </a:tr>
              <a:tr h="499237">
                <a:tc>
                  <a:txBody>
                    <a:bodyPr/>
                    <a:lstStyle/>
                    <a:p>
                      <a:pPr marR="22225" algn="ctr">
                        <a:lnSpc>
                          <a:spcPct val="107000"/>
                        </a:lnSpc>
                        <a:spcAft>
                          <a:spcPts val="0"/>
                        </a:spcAft>
                      </a:pPr>
                      <a:r>
                        <a:rPr lang="en-GB" sz="2000" dirty="0">
                          <a:effectLst/>
                        </a:rPr>
                        <a:t>20 Marks</a:t>
                      </a:r>
                      <a:endParaRPr lang="en-GB"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975" marR="53975" marT="53975" marB="53975" anchor="ctr"/>
                </a:tc>
                <a:tc>
                  <a:txBody>
                    <a:bodyPr/>
                    <a:lstStyle/>
                    <a:p>
                      <a:pPr marL="18415" algn="ctr">
                        <a:lnSpc>
                          <a:spcPct val="107000"/>
                        </a:lnSpc>
                        <a:spcAft>
                          <a:spcPts val="0"/>
                        </a:spcAft>
                      </a:pPr>
                      <a:r>
                        <a:rPr lang="en-GB" sz="2000" dirty="0">
                          <a:effectLst/>
                        </a:rPr>
                        <a:t> </a:t>
                      </a:r>
                      <a:endParaRPr lang="en-GB"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975" marR="53975" marT="53975" marB="53975" anchor="ctr"/>
                </a:tc>
                <a:tc>
                  <a:txBody>
                    <a:bodyPr/>
                    <a:lstStyle/>
                    <a:p>
                      <a:pPr marR="23495" algn="ctr">
                        <a:lnSpc>
                          <a:spcPct val="107000"/>
                        </a:lnSpc>
                        <a:spcAft>
                          <a:spcPts val="0"/>
                        </a:spcAft>
                      </a:pPr>
                      <a:r>
                        <a:rPr lang="en-GB" sz="2000" dirty="0">
                          <a:effectLst/>
                        </a:rPr>
                        <a:t>8-12</a:t>
                      </a:r>
                      <a:endParaRPr lang="en-GB"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975" marR="53975" marT="53975" marB="53975" anchor="ctr"/>
                </a:tc>
                <a:tc>
                  <a:txBody>
                    <a:bodyPr/>
                    <a:lstStyle/>
                    <a:p>
                      <a:pPr marL="18415" algn="ctr">
                        <a:lnSpc>
                          <a:spcPct val="107000"/>
                        </a:lnSpc>
                        <a:spcAft>
                          <a:spcPts val="0"/>
                        </a:spcAft>
                      </a:pPr>
                      <a:endParaRPr lang="en-GB"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975" marR="53975" marT="53975" marB="53975" anchor="ctr"/>
                </a:tc>
                <a:tc>
                  <a:txBody>
                    <a:bodyPr/>
                    <a:lstStyle/>
                    <a:p>
                      <a:pPr marR="21590" algn="ctr">
                        <a:lnSpc>
                          <a:spcPct val="107000"/>
                        </a:lnSpc>
                        <a:spcAft>
                          <a:spcPts val="0"/>
                        </a:spcAft>
                      </a:pPr>
                      <a:r>
                        <a:rPr lang="en-GB" sz="2000" dirty="0">
                          <a:effectLst/>
                        </a:rPr>
                        <a:t>14-20</a:t>
                      </a:r>
                      <a:endParaRPr lang="en-GB"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975" marR="53975" marT="53975" marB="53975" anchor="ctr"/>
                </a:tc>
                <a:extLst>
                  <a:ext uri="{0D108BD9-81ED-4DB2-BD59-A6C34878D82A}">
                    <a16:rowId xmlns:a16="http://schemas.microsoft.com/office/drawing/2014/main" val="1788844916"/>
                  </a:ext>
                </a:extLst>
              </a:tr>
            </a:tbl>
          </a:graphicData>
        </a:graphic>
      </p:graphicFrame>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Lightning Bolt 7"/>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Lightning Bolt 2"/>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Lightning Bolt 5"/>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Navy Footer Strip" descr="Footer navy">
            <a:extLst>
              <a:ext uri="{FF2B5EF4-FFF2-40B4-BE49-F238E27FC236}">
                <a16:creationId xmlns:a16="http://schemas.microsoft.com/office/drawing/2014/main" id="{B01C997B-9F67-2792-F045-3B6CDB7E9EB1}"/>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Small White Logo" descr="Small WU logo">
            <a:extLst>
              <a:ext uri="{FF2B5EF4-FFF2-40B4-BE49-F238E27FC236}">
                <a16:creationId xmlns:a16="http://schemas.microsoft.com/office/drawing/2014/main" id="{9BE3863B-740D-3E08-3B0F-89C14E2F6BA7}"/>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10" name="Picture 9" descr="short orange tower">
            <a:extLst>
              <a:ext uri="{FF2B5EF4-FFF2-40B4-BE49-F238E27FC236}">
                <a16:creationId xmlns:a16="http://schemas.microsoft.com/office/drawing/2014/main" id="{4A2B93D3-DFC5-A3A0-E36E-BD532F26D0A3}"/>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1191126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56C18D-0A8E-4D34-9AD2-CE112BBCF356}"/>
              </a:ext>
            </a:extLst>
          </p:cNvPr>
          <p:cNvSpPr>
            <a:spLocks noGrp="1"/>
          </p:cNvSpPr>
          <p:nvPr>
            <p:ph type="title"/>
          </p:nvPr>
        </p:nvSpPr>
        <p:spPr>
          <a:xfrm>
            <a:off x="1704000" y="433388"/>
            <a:ext cx="8784000" cy="1143000"/>
          </a:xfrm>
        </p:spPr>
        <p:txBody>
          <a:bodyPr>
            <a:noAutofit/>
          </a:bodyPr>
          <a:lstStyle/>
          <a:p>
            <a:r>
              <a:rPr lang="en-GB" altLang="en-US" sz="4000" dirty="0"/>
              <a:t>Literature Review: Content Guidelines</a:t>
            </a:r>
            <a:br>
              <a:rPr lang="en-GB" altLang="en-US" sz="4000" dirty="0"/>
            </a:br>
            <a:r>
              <a:rPr lang="en-GB" altLang="en-US" sz="3000" dirty="0"/>
              <a:t>(</a:t>
            </a:r>
            <a:r>
              <a:rPr lang="en-GB" altLang="en-US" sz="3000" b="1" dirty="0">
                <a:highlight>
                  <a:srgbClr val="00FF00"/>
                </a:highlight>
              </a:rPr>
              <a:t>Empirical</a:t>
            </a:r>
            <a:r>
              <a:rPr lang="en-GB" altLang="en-US" sz="3000" dirty="0">
                <a:highlight>
                  <a:srgbClr val="00FF00"/>
                </a:highlight>
              </a:rPr>
              <a:t>-Based Research Studies</a:t>
            </a:r>
            <a:r>
              <a:rPr lang="en-GB" altLang="en-US" sz="3000" dirty="0"/>
              <a:t>)</a:t>
            </a:r>
            <a:endParaRPr lang="en-GB" sz="3000" dirty="0"/>
          </a:p>
        </p:txBody>
      </p:sp>
      <p:sp>
        <p:nvSpPr>
          <p:cNvPr id="2" name="Content Placeholder 1"/>
          <p:cNvSpPr>
            <a:spLocks noGrp="1"/>
          </p:cNvSpPr>
          <p:nvPr>
            <p:ph idx="1"/>
          </p:nvPr>
        </p:nvSpPr>
        <p:spPr>
          <a:xfrm>
            <a:off x="1981200" y="1600201"/>
            <a:ext cx="8229600" cy="4717473"/>
          </a:xfrm>
        </p:spPr>
        <p:txBody>
          <a:bodyPr>
            <a:noAutofit/>
          </a:bodyPr>
          <a:lstStyle/>
          <a:p>
            <a:pPr marL="0" indent="0">
              <a:spcBef>
                <a:spcPts val="1200"/>
              </a:spcBef>
              <a:buNone/>
            </a:pPr>
            <a:r>
              <a:rPr lang="en-US" dirty="0"/>
              <a:t>Draft chapter – first half:</a:t>
            </a:r>
          </a:p>
          <a:p>
            <a:pPr>
              <a:spcBef>
                <a:spcPts val="1200"/>
              </a:spcBef>
            </a:pPr>
            <a:r>
              <a:rPr lang="en-US" dirty="0"/>
              <a:t>Introduction</a:t>
            </a:r>
            <a:r>
              <a:rPr lang="en-US" sz="2600" dirty="0"/>
              <a:t> </a:t>
            </a:r>
          </a:p>
          <a:p>
            <a:pPr lvl="1">
              <a:spcBef>
                <a:spcPts val="1200"/>
              </a:spcBef>
            </a:pPr>
            <a:r>
              <a:rPr lang="en-US" sz="2200" dirty="0"/>
              <a:t>setting out your (scope) review question…</a:t>
            </a:r>
          </a:p>
          <a:p>
            <a:pPr marL="762000" lvl="2" indent="0">
              <a:spcBef>
                <a:spcPts val="600"/>
              </a:spcBef>
              <a:buNone/>
            </a:pPr>
            <a:r>
              <a:rPr lang="en-US" sz="2200" i="1" dirty="0"/>
              <a:t>‘This review will examine the literature that considers [your topic/research question].’</a:t>
            </a:r>
          </a:p>
          <a:p>
            <a:pPr marL="803275" lvl="1" indent="-342900">
              <a:spcBef>
                <a:spcPts val="1200"/>
              </a:spcBef>
            </a:pPr>
            <a:r>
              <a:rPr lang="en-US" sz="2200" i="1" dirty="0"/>
              <a:t>search strategy</a:t>
            </a:r>
          </a:p>
          <a:p>
            <a:pPr>
              <a:spcBef>
                <a:spcPts val="1200"/>
              </a:spcBef>
            </a:pPr>
            <a:r>
              <a:rPr lang="en-US" dirty="0"/>
              <a:t>Start with a broad background</a:t>
            </a:r>
          </a:p>
          <a:p>
            <a:pPr>
              <a:spcBef>
                <a:spcPts val="1200"/>
              </a:spcBef>
            </a:pPr>
            <a:r>
              <a:rPr lang="en-US" dirty="0"/>
              <a:t>Include definitions </a:t>
            </a:r>
          </a:p>
          <a:p>
            <a:pPr>
              <a:spcBef>
                <a:spcPts val="1200"/>
              </a:spcBef>
            </a:pPr>
            <a:r>
              <a:rPr lang="en-US" dirty="0"/>
              <a:t>Discuss the historic seminal papers</a:t>
            </a:r>
          </a:p>
        </p:txBody>
      </p:sp>
      <p:sp>
        <p:nvSpPr>
          <p:cNvPr id="3" name="Lightning Bolt 2"/>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Lightning Bolt 5"/>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 name="Lightning Bolt 3"/>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Lightning Bolt 7"/>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Lightning Bolt 8"/>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Lightning Bolt 9"/>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Lightning Bolt 10"/>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Navy Footer Strip" descr="Footer navy">
            <a:extLst>
              <a:ext uri="{FF2B5EF4-FFF2-40B4-BE49-F238E27FC236}">
                <a16:creationId xmlns:a16="http://schemas.microsoft.com/office/drawing/2014/main" id="{77813E58-B662-C95C-AF37-D57C52738AD9}"/>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Small White Logo" descr="Small WU logo">
            <a:extLst>
              <a:ext uri="{FF2B5EF4-FFF2-40B4-BE49-F238E27FC236}">
                <a16:creationId xmlns:a16="http://schemas.microsoft.com/office/drawing/2014/main" id="{FF55333D-6E00-B972-15D0-E888E905693C}"/>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14" name="Picture 13" descr="short orange tower">
            <a:extLst>
              <a:ext uri="{FF2B5EF4-FFF2-40B4-BE49-F238E27FC236}">
                <a16:creationId xmlns:a16="http://schemas.microsoft.com/office/drawing/2014/main" id="{6FA2BE39-F94D-F400-1060-B3681C619F64}"/>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2406142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56C18D-0A8E-4D34-9AD2-CE112BBCF356}"/>
              </a:ext>
            </a:extLst>
          </p:cNvPr>
          <p:cNvSpPr>
            <a:spLocks noGrp="1"/>
          </p:cNvSpPr>
          <p:nvPr>
            <p:ph type="title"/>
          </p:nvPr>
        </p:nvSpPr>
        <p:spPr>
          <a:xfrm>
            <a:off x="1704000" y="433388"/>
            <a:ext cx="8784000" cy="1143000"/>
          </a:xfrm>
        </p:spPr>
        <p:txBody>
          <a:bodyPr>
            <a:noAutofit/>
          </a:bodyPr>
          <a:lstStyle/>
          <a:p>
            <a:r>
              <a:rPr lang="en-GB" altLang="en-US" sz="4000" dirty="0"/>
              <a:t>Literature Review: Content Guidelines</a:t>
            </a:r>
            <a:br>
              <a:rPr lang="en-GB" altLang="en-US" sz="4000" dirty="0"/>
            </a:br>
            <a:r>
              <a:rPr lang="en-GB" altLang="en-US" sz="3000" dirty="0"/>
              <a:t>(</a:t>
            </a:r>
            <a:r>
              <a:rPr lang="en-GB" altLang="en-US" sz="3000" b="1" dirty="0">
                <a:highlight>
                  <a:srgbClr val="00FF00"/>
                </a:highlight>
              </a:rPr>
              <a:t>Empirical</a:t>
            </a:r>
            <a:r>
              <a:rPr lang="en-GB" altLang="en-US" sz="3000" dirty="0">
                <a:highlight>
                  <a:srgbClr val="00FF00"/>
                </a:highlight>
              </a:rPr>
              <a:t>-Based Research Studies</a:t>
            </a:r>
            <a:r>
              <a:rPr lang="en-GB" altLang="en-US" sz="3000" dirty="0"/>
              <a:t>)</a:t>
            </a:r>
            <a:endParaRPr lang="en-GB" sz="3000" dirty="0"/>
          </a:p>
        </p:txBody>
      </p:sp>
      <p:sp>
        <p:nvSpPr>
          <p:cNvPr id="2" name="Content Placeholder 1"/>
          <p:cNvSpPr>
            <a:spLocks noGrp="1"/>
          </p:cNvSpPr>
          <p:nvPr>
            <p:ph idx="1"/>
          </p:nvPr>
        </p:nvSpPr>
        <p:spPr/>
        <p:txBody>
          <a:bodyPr>
            <a:noAutofit/>
          </a:bodyPr>
          <a:lstStyle/>
          <a:p>
            <a:pPr marL="0" indent="0">
              <a:spcBef>
                <a:spcPts val="1200"/>
              </a:spcBef>
              <a:buNone/>
            </a:pPr>
            <a:r>
              <a:rPr lang="en-US" dirty="0"/>
              <a:t>Draft chapter – second half:</a:t>
            </a:r>
          </a:p>
          <a:p>
            <a:pPr>
              <a:spcBef>
                <a:spcPts val="1200"/>
              </a:spcBef>
            </a:pPr>
            <a:r>
              <a:rPr lang="en-US" dirty="0"/>
              <a:t>Move to more focused, more contemporary research</a:t>
            </a:r>
          </a:p>
          <a:p>
            <a:pPr>
              <a:spcBef>
                <a:spcPts val="1200"/>
              </a:spcBef>
            </a:pPr>
            <a:r>
              <a:rPr lang="en-US" dirty="0"/>
              <a:t>Note any gaps in the literature and specific calls for more research on your topic </a:t>
            </a:r>
          </a:p>
          <a:p>
            <a:pPr>
              <a:spcBef>
                <a:spcPts val="1200"/>
              </a:spcBef>
            </a:pPr>
            <a:r>
              <a:rPr lang="en-US" dirty="0"/>
              <a:t>Conclusion</a:t>
            </a:r>
          </a:p>
          <a:p>
            <a:pPr lvl="1">
              <a:spcBef>
                <a:spcPts val="1200"/>
              </a:spcBef>
            </a:pPr>
            <a:r>
              <a:rPr lang="en-US" sz="2200" dirty="0"/>
              <a:t>summary </a:t>
            </a:r>
          </a:p>
          <a:p>
            <a:pPr lvl="1">
              <a:spcBef>
                <a:spcPts val="1200"/>
              </a:spcBef>
            </a:pPr>
            <a:r>
              <a:rPr lang="en-US" sz="2200" dirty="0"/>
              <a:t>state what the research question you will take forward is </a:t>
            </a:r>
          </a:p>
          <a:p>
            <a:pPr>
              <a:spcBef>
                <a:spcPts val="1200"/>
              </a:spcBef>
            </a:pPr>
            <a:endParaRPr lang="en-GB" sz="2600" dirty="0"/>
          </a:p>
        </p:txBody>
      </p:sp>
      <p:sp>
        <p:nvSpPr>
          <p:cNvPr id="3" name="Lightning Bolt 2"/>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Lightning Bolt 5"/>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 name="Lightning Bolt 3"/>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Lightning Bolt 7"/>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Lightning Bolt 8"/>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Lightning Bolt 9"/>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Lightning Bolt 10"/>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Navy Footer Strip" descr="Footer navy">
            <a:extLst>
              <a:ext uri="{FF2B5EF4-FFF2-40B4-BE49-F238E27FC236}">
                <a16:creationId xmlns:a16="http://schemas.microsoft.com/office/drawing/2014/main" id="{55479BA5-1636-255C-674D-B0383A5CAE2D}"/>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Small White Logo" descr="Small WU logo">
            <a:extLst>
              <a:ext uri="{FF2B5EF4-FFF2-40B4-BE49-F238E27FC236}">
                <a16:creationId xmlns:a16="http://schemas.microsoft.com/office/drawing/2014/main" id="{B1B7277D-7399-7A24-8CFC-E3714E5EBFCB}"/>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14" name="Picture 13" descr="short orange tower">
            <a:extLst>
              <a:ext uri="{FF2B5EF4-FFF2-40B4-BE49-F238E27FC236}">
                <a16:creationId xmlns:a16="http://schemas.microsoft.com/office/drawing/2014/main" id="{622B10B3-5D7D-FBFA-1DB8-ADDE8CD451A8}"/>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1399693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037C8-A7AB-BD87-2F3D-918884CDA59C}"/>
              </a:ext>
            </a:extLst>
          </p:cNvPr>
          <p:cNvSpPr>
            <a:spLocks noGrp="1"/>
          </p:cNvSpPr>
          <p:nvPr>
            <p:ph type="title"/>
          </p:nvPr>
        </p:nvSpPr>
        <p:spPr/>
        <p:txBody>
          <a:bodyPr/>
          <a:lstStyle/>
          <a:p>
            <a:r>
              <a:rPr lang="en-GB" dirty="0"/>
              <a:t>Final Dissertation Marking Criteria:</a:t>
            </a:r>
            <a:br>
              <a:rPr lang="en-GB" dirty="0"/>
            </a:br>
            <a:r>
              <a:rPr lang="en-GB" dirty="0">
                <a:highlight>
                  <a:srgbClr val="00FFFF"/>
                </a:highlight>
              </a:rPr>
              <a:t>Project Based Research Studies</a:t>
            </a:r>
          </a:p>
        </p:txBody>
      </p:sp>
      <p:sp>
        <p:nvSpPr>
          <p:cNvPr id="4" name="Navy Footer Strip" descr="Footer navy">
            <a:extLst>
              <a:ext uri="{FF2B5EF4-FFF2-40B4-BE49-F238E27FC236}">
                <a16:creationId xmlns:a16="http://schemas.microsoft.com/office/drawing/2014/main" id="{C381814B-6EC8-8ED6-E035-6BE368FFF5E6}"/>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short orange tower">
            <a:extLst>
              <a:ext uri="{FF2B5EF4-FFF2-40B4-BE49-F238E27FC236}">
                <a16:creationId xmlns:a16="http://schemas.microsoft.com/office/drawing/2014/main" id="{F4C0CF7C-0180-9B54-AF84-1DAA749FFA19}"/>
              </a:ext>
            </a:extLst>
          </p:cNvPr>
          <p:cNvPicPr>
            <a:picLocks noChangeAspect="1"/>
          </p:cNvPicPr>
          <p:nvPr/>
        </p:nvPicPr>
        <p:blipFill>
          <a:blip r:embed="rId2"/>
          <a:srcRect/>
          <a:stretch/>
        </p:blipFill>
        <p:spPr>
          <a:xfrm>
            <a:off x="11084876" y="5363376"/>
            <a:ext cx="548323" cy="1494624"/>
          </a:xfrm>
          <a:prstGeom prst="rect">
            <a:avLst/>
          </a:prstGeom>
        </p:spPr>
      </p:pic>
      <p:pic>
        <p:nvPicPr>
          <p:cNvPr id="7" name="Small White Logo" descr="Small WU logo">
            <a:extLst>
              <a:ext uri="{FF2B5EF4-FFF2-40B4-BE49-F238E27FC236}">
                <a16:creationId xmlns:a16="http://schemas.microsoft.com/office/drawing/2014/main" id="{4FCBCF7A-B176-F51B-9108-1BD970B5EC13}"/>
              </a:ext>
            </a:extLst>
          </p:cNvPr>
          <p:cNvPicPr>
            <a:picLocks noChangeAspect="1"/>
          </p:cNvPicPr>
          <p:nvPr/>
        </p:nvPicPr>
        <p:blipFill>
          <a:blip r:embed="rId3"/>
          <a:stretch>
            <a:fillRect/>
          </a:stretch>
        </p:blipFill>
        <p:spPr>
          <a:xfrm>
            <a:off x="534811" y="6217213"/>
            <a:ext cx="1801495" cy="397654"/>
          </a:xfrm>
          <a:prstGeom prst="rect">
            <a:avLst/>
          </a:prstGeom>
        </p:spPr>
      </p:pic>
      <p:graphicFrame>
        <p:nvGraphicFramePr>
          <p:cNvPr id="11" name="Content Placeholder 10">
            <a:extLst>
              <a:ext uri="{FF2B5EF4-FFF2-40B4-BE49-F238E27FC236}">
                <a16:creationId xmlns:a16="http://schemas.microsoft.com/office/drawing/2014/main" id="{259F4E7A-6028-8BC1-E168-0FF8A49233FA}"/>
              </a:ext>
            </a:extLst>
          </p:cNvPr>
          <p:cNvGraphicFramePr>
            <a:graphicFrameLocks noGrp="1"/>
          </p:cNvGraphicFramePr>
          <p:nvPr>
            <p:ph idx="1"/>
            <p:extLst>
              <p:ext uri="{D42A27DB-BD31-4B8C-83A1-F6EECF244321}">
                <p14:modId xmlns:p14="http://schemas.microsoft.com/office/powerpoint/2010/main" val="2051645238"/>
              </p:ext>
            </p:extLst>
          </p:nvPr>
        </p:nvGraphicFramePr>
        <p:xfrm>
          <a:off x="838200" y="1590747"/>
          <a:ext cx="10134600" cy="4140200"/>
        </p:xfrm>
        <a:graphic>
          <a:graphicData uri="http://schemas.openxmlformats.org/drawingml/2006/table">
            <a:tbl>
              <a:tblPr firstRow="1" firstCol="1" bandRow="1">
                <a:tableStyleId>{5C22544A-7EE6-4342-B048-85BDC9FD1C3A}</a:tableStyleId>
              </a:tblPr>
              <a:tblGrid>
                <a:gridCol w="1767828">
                  <a:extLst>
                    <a:ext uri="{9D8B030D-6E8A-4147-A177-3AD203B41FA5}">
                      <a16:colId xmlns:a16="http://schemas.microsoft.com/office/drawing/2014/main" val="531226215"/>
                    </a:ext>
                  </a:extLst>
                </a:gridCol>
                <a:gridCol w="1672543">
                  <a:extLst>
                    <a:ext uri="{9D8B030D-6E8A-4147-A177-3AD203B41FA5}">
                      <a16:colId xmlns:a16="http://schemas.microsoft.com/office/drawing/2014/main" val="8160742"/>
                    </a:ext>
                  </a:extLst>
                </a:gridCol>
                <a:gridCol w="1674571">
                  <a:extLst>
                    <a:ext uri="{9D8B030D-6E8A-4147-A177-3AD203B41FA5}">
                      <a16:colId xmlns:a16="http://schemas.microsoft.com/office/drawing/2014/main" val="1304286946"/>
                    </a:ext>
                  </a:extLst>
                </a:gridCol>
                <a:gridCol w="1674571">
                  <a:extLst>
                    <a:ext uri="{9D8B030D-6E8A-4147-A177-3AD203B41FA5}">
                      <a16:colId xmlns:a16="http://schemas.microsoft.com/office/drawing/2014/main" val="3451310805"/>
                    </a:ext>
                  </a:extLst>
                </a:gridCol>
                <a:gridCol w="1674571">
                  <a:extLst>
                    <a:ext uri="{9D8B030D-6E8A-4147-A177-3AD203B41FA5}">
                      <a16:colId xmlns:a16="http://schemas.microsoft.com/office/drawing/2014/main" val="3699138625"/>
                    </a:ext>
                  </a:extLst>
                </a:gridCol>
                <a:gridCol w="1670516">
                  <a:extLst>
                    <a:ext uri="{9D8B030D-6E8A-4147-A177-3AD203B41FA5}">
                      <a16:colId xmlns:a16="http://schemas.microsoft.com/office/drawing/2014/main" val="2007173894"/>
                    </a:ext>
                  </a:extLst>
                </a:gridCol>
              </a:tblGrid>
              <a:tr h="580383">
                <a:tc>
                  <a:txBody>
                    <a:bodyPr/>
                    <a:lstStyle/>
                    <a:p>
                      <a:pPr marR="24765" algn="ctr">
                        <a:lnSpc>
                          <a:spcPct val="115000"/>
                        </a:lnSpc>
                        <a:spcAft>
                          <a:spcPts val="1000"/>
                        </a:spcAft>
                      </a:pPr>
                      <a:r>
                        <a:rPr lang="en-GB" sz="1800" dirty="0">
                          <a:effectLst/>
                        </a:rPr>
                        <a:t>Learning Outcome 2</a:t>
                      </a:r>
                      <a:endParaRPr lang="en-GB"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71755" marR="71755" marT="36195" marB="36195" anchor="ctr"/>
                </a:tc>
                <a:tc>
                  <a:txBody>
                    <a:bodyPr/>
                    <a:lstStyle/>
                    <a:p>
                      <a:pPr marR="24765" algn="ctr">
                        <a:lnSpc>
                          <a:spcPct val="115000"/>
                        </a:lnSpc>
                        <a:spcAft>
                          <a:spcPts val="1000"/>
                        </a:spcAft>
                      </a:pPr>
                      <a:r>
                        <a:rPr lang="en-GB" sz="1800">
                          <a:effectLst/>
                        </a:rPr>
                        <a:t>Under 30%</a:t>
                      </a:r>
                      <a:endParaRPr lang="en-GB"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71755" marR="71755" marT="36195" marB="36195" anchor="ctr"/>
                </a:tc>
                <a:tc>
                  <a:txBody>
                    <a:bodyPr/>
                    <a:lstStyle/>
                    <a:p>
                      <a:pPr marR="22860" algn="ctr">
                        <a:lnSpc>
                          <a:spcPct val="115000"/>
                        </a:lnSpc>
                        <a:spcAft>
                          <a:spcPts val="1000"/>
                        </a:spcAft>
                      </a:pPr>
                      <a:r>
                        <a:rPr lang="en-GB" sz="1800">
                          <a:effectLst/>
                        </a:rPr>
                        <a:t>30 – 39%</a:t>
                      </a:r>
                      <a:endParaRPr lang="en-GB"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71755" marR="71755" marT="36195" marB="36195" anchor="ctr"/>
                </a:tc>
                <a:tc>
                  <a:txBody>
                    <a:bodyPr/>
                    <a:lstStyle/>
                    <a:p>
                      <a:pPr marR="22860" algn="ctr">
                        <a:lnSpc>
                          <a:spcPct val="115000"/>
                        </a:lnSpc>
                        <a:spcAft>
                          <a:spcPts val="1000"/>
                        </a:spcAft>
                      </a:pPr>
                      <a:r>
                        <a:rPr lang="en-GB" sz="1800">
                          <a:effectLst/>
                        </a:rPr>
                        <a:t>40 – 59%</a:t>
                      </a:r>
                      <a:endParaRPr lang="en-GB"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71755" marR="71755" marT="36195" marB="36195" anchor="ctr"/>
                </a:tc>
                <a:tc>
                  <a:txBody>
                    <a:bodyPr/>
                    <a:lstStyle/>
                    <a:p>
                      <a:pPr marR="22225" algn="ctr">
                        <a:lnSpc>
                          <a:spcPct val="115000"/>
                        </a:lnSpc>
                        <a:spcAft>
                          <a:spcPts val="1000"/>
                        </a:spcAft>
                      </a:pPr>
                      <a:r>
                        <a:rPr lang="en-GB" sz="1800">
                          <a:effectLst/>
                        </a:rPr>
                        <a:t>60 – 69%</a:t>
                      </a:r>
                      <a:endParaRPr lang="en-GB"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71755" marR="71755" marT="36195" marB="36195" anchor="ctr"/>
                </a:tc>
                <a:tc>
                  <a:txBody>
                    <a:bodyPr/>
                    <a:lstStyle/>
                    <a:p>
                      <a:pPr marR="22860" algn="ctr">
                        <a:lnSpc>
                          <a:spcPct val="115000"/>
                        </a:lnSpc>
                        <a:spcAft>
                          <a:spcPts val="1000"/>
                        </a:spcAft>
                      </a:pPr>
                      <a:r>
                        <a:rPr lang="en-GB" sz="1800">
                          <a:effectLst/>
                        </a:rPr>
                        <a:t>70% and over</a:t>
                      </a:r>
                      <a:endParaRPr lang="en-GB"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71755" marR="71755" marT="36195" marB="36195" anchor="ctr"/>
                </a:tc>
                <a:extLst>
                  <a:ext uri="{0D108BD9-81ED-4DB2-BD59-A6C34878D82A}">
                    <a16:rowId xmlns:a16="http://schemas.microsoft.com/office/drawing/2014/main" val="2236590476"/>
                  </a:ext>
                </a:extLst>
              </a:tr>
              <a:tr h="1737179">
                <a:tc>
                  <a:txBody>
                    <a:bodyPr/>
                    <a:lstStyle/>
                    <a:p>
                      <a:pPr>
                        <a:lnSpc>
                          <a:spcPct val="115000"/>
                        </a:lnSpc>
                        <a:spcAft>
                          <a:spcPts val="1000"/>
                        </a:spcAft>
                      </a:pPr>
                      <a:r>
                        <a:rPr lang="en-GB" sz="1800" dirty="0">
                          <a:effectLst/>
                        </a:rPr>
                        <a:t>Literature Review (or Background and Context)</a:t>
                      </a:r>
                    </a:p>
                    <a:p>
                      <a:pPr algn="ctr">
                        <a:lnSpc>
                          <a:spcPct val="115000"/>
                        </a:lnSpc>
                        <a:spcAft>
                          <a:spcPts val="1000"/>
                        </a:spcAft>
                      </a:pPr>
                      <a:r>
                        <a:rPr lang="en-GB" sz="1800" dirty="0">
                          <a:effectLst/>
                        </a:rPr>
                        <a:t>Total 10 marks </a:t>
                      </a:r>
                      <a:endParaRPr lang="en-GB"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71755" marR="71755" marT="36195" marB="36195" anchor="ctr"/>
                </a:tc>
                <a:tc>
                  <a:txBody>
                    <a:bodyPr/>
                    <a:lstStyle/>
                    <a:p>
                      <a:pPr>
                        <a:lnSpc>
                          <a:spcPct val="115000"/>
                        </a:lnSpc>
                        <a:spcAft>
                          <a:spcPts val="600"/>
                        </a:spcAft>
                      </a:pPr>
                      <a:r>
                        <a:rPr lang="en-GB" sz="1800" dirty="0">
                          <a:effectLst/>
                        </a:rPr>
                        <a:t>Literature search seriously inadequate, possibly using poor quality websites as sources.</a:t>
                      </a:r>
                      <a:endParaRPr lang="en-GB"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71755" marR="71755" marT="36195" marB="36195" anchor="ctr"/>
                </a:tc>
                <a:tc>
                  <a:txBody>
                    <a:bodyPr/>
                    <a:lstStyle/>
                    <a:p>
                      <a:pPr>
                        <a:lnSpc>
                          <a:spcPct val="115000"/>
                        </a:lnSpc>
                        <a:spcAft>
                          <a:spcPts val="600"/>
                        </a:spcAft>
                      </a:pPr>
                      <a:r>
                        <a:rPr lang="en-GB" sz="1800" dirty="0">
                          <a:effectLst/>
                        </a:rPr>
                        <a:t>Literature search   has some deficiencies and limited range of sources, may lack clear citations. </a:t>
                      </a:r>
                      <a:endParaRPr lang="en-GB"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45085" marT="3810" marB="0" anchor="ctr"/>
                </a:tc>
                <a:tc>
                  <a:txBody>
                    <a:bodyPr/>
                    <a:lstStyle/>
                    <a:p>
                      <a:pPr>
                        <a:lnSpc>
                          <a:spcPct val="115000"/>
                        </a:lnSpc>
                        <a:spcAft>
                          <a:spcPts val="600"/>
                        </a:spcAft>
                      </a:pPr>
                      <a:r>
                        <a:rPr lang="en-GB" sz="1800" dirty="0">
                          <a:effectLst/>
                        </a:rPr>
                        <a:t>Adequate literature search conducted using a range of academic sources including current journals but limited critical review. </a:t>
                      </a:r>
                      <a:endParaRPr lang="en-GB"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45085" marT="3810" marB="0" anchor="ctr"/>
                </a:tc>
                <a:tc>
                  <a:txBody>
                    <a:bodyPr/>
                    <a:lstStyle/>
                    <a:p>
                      <a:pPr>
                        <a:lnSpc>
                          <a:spcPct val="115000"/>
                        </a:lnSpc>
                        <a:spcAft>
                          <a:spcPts val="600"/>
                        </a:spcAft>
                      </a:pPr>
                      <a:r>
                        <a:rPr lang="en-GB" sz="1800" dirty="0">
                          <a:effectLst/>
                        </a:rPr>
                        <a:t>Good literature search conducted using a broad range of academically recognised sources supported with some critical review. </a:t>
                      </a:r>
                      <a:endParaRPr lang="en-GB"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45085" marT="3810" marB="0" anchor="ctr"/>
                </a:tc>
                <a:tc>
                  <a:txBody>
                    <a:bodyPr/>
                    <a:lstStyle/>
                    <a:p>
                      <a:pPr>
                        <a:lnSpc>
                          <a:spcPct val="115000"/>
                        </a:lnSpc>
                        <a:spcAft>
                          <a:spcPts val="1000"/>
                        </a:spcAft>
                      </a:pPr>
                      <a:r>
                        <a:rPr lang="en-GB" sz="1800" dirty="0">
                          <a:effectLst/>
                        </a:rPr>
                        <a:t>Comprehensive literature search conducted using an extensive range of academically recognised sources with critical evaluation and synthesis. </a:t>
                      </a:r>
                      <a:endParaRPr lang="en-GB"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45085" marT="3810" marB="0" anchor="ctr"/>
                </a:tc>
                <a:extLst>
                  <a:ext uri="{0D108BD9-81ED-4DB2-BD59-A6C34878D82A}">
                    <a16:rowId xmlns:a16="http://schemas.microsoft.com/office/drawing/2014/main" val="603542988"/>
                  </a:ext>
                </a:extLst>
              </a:tr>
            </a:tbl>
          </a:graphicData>
        </a:graphic>
      </p:graphicFrame>
    </p:spTree>
    <p:extLst>
      <p:ext uri="{BB962C8B-B14F-4D97-AF65-F5344CB8AC3E}">
        <p14:creationId xmlns:p14="http://schemas.microsoft.com/office/powerpoint/2010/main" val="2778031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Draft chapter: Aims</a:t>
            </a:r>
          </a:p>
        </p:txBody>
      </p:sp>
      <p:sp>
        <p:nvSpPr>
          <p:cNvPr id="3" name="Content Placeholder 2"/>
          <p:cNvSpPr>
            <a:spLocks noGrp="1"/>
          </p:cNvSpPr>
          <p:nvPr>
            <p:ph idx="1"/>
          </p:nvPr>
        </p:nvSpPr>
        <p:spPr>
          <a:xfrm>
            <a:off x="1981200" y="2000251"/>
            <a:ext cx="8229600" cy="3992563"/>
          </a:xfrm>
        </p:spPr>
        <p:txBody>
          <a:bodyPr lIns="91440" tIns="45720" rIns="91440" bIns="45720" anchor="t">
            <a:normAutofit/>
          </a:bodyPr>
          <a:lstStyle/>
          <a:p>
            <a:pPr>
              <a:lnSpc>
                <a:spcPct val="150000"/>
              </a:lnSpc>
            </a:pPr>
            <a:r>
              <a:rPr lang="en-GB" dirty="0"/>
              <a:t>Focused and specific</a:t>
            </a:r>
          </a:p>
          <a:p>
            <a:pPr>
              <a:lnSpc>
                <a:spcPct val="150000"/>
              </a:lnSpc>
            </a:pPr>
            <a:r>
              <a:rPr lang="en-GB" dirty="0"/>
              <a:t>Range of academic literature</a:t>
            </a:r>
          </a:p>
          <a:p>
            <a:pPr>
              <a:lnSpc>
                <a:spcPct val="150000"/>
              </a:lnSpc>
            </a:pPr>
            <a:r>
              <a:rPr lang="en-GB" dirty="0"/>
              <a:t>Wrexham Harvard referencing</a:t>
            </a:r>
            <a:endParaRPr lang="en-GB" dirty="0">
              <a:cs typeface="Calibri"/>
            </a:endParaRPr>
          </a:p>
          <a:p>
            <a:pPr>
              <a:lnSpc>
                <a:spcPct val="150000"/>
              </a:lnSpc>
            </a:pPr>
            <a:r>
              <a:rPr lang="en-GB" dirty="0"/>
              <a:t>Third person</a:t>
            </a:r>
          </a:p>
          <a:p>
            <a:pPr marL="0" indent="0">
              <a:lnSpc>
                <a:spcPct val="150000"/>
              </a:lnSpc>
              <a:buNone/>
            </a:pPr>
            <a:endParaRPr lang="en-GB" dirty="0"/>
          </a:p>
        </p:txBody>
      </p:sp>
      <p:sp>
        <p:nvSpPr>
          <p:cNvPr id="4" name="Navy Footer Strip" descr="Footer navy">
            <a:extLst>
              <a:ext uri="{FF2B5EF4-FFF2-40B4-BE49-F238E27FC236}">
                <a16:creationId xmlns:a16="http://schemas.microsoft.com/office/drawing/2014/main" id="{E7D87635-DB25-B6FA-826D-FB49B052EE88}"/>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mall White Logo" descr="Small WU logo">
            <a:extLst>
              <a:ext uri="{FF2B5EF4-FFF2-40B4-BE49-F238E27FC236}">
                <a16:creationId xmlns:a16="http://schemas.microsoft.com/office/drawing/2014/main" id="{B4BAC98C-64C7-F92C-C637-C100E6445C30}"/>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6" name="Picture 5" descr="short orange tower">
            <a:extLst>
              <a:ext uri="{FF2B5EF4-FFF2-40B4-BE49-F238E27FC236}">
                <a16:creationId xmlns:a16="http://schemas.microsoft.com/office/drawing/2014/main" id="{BDB47D55-223D-71EC-6D63-F85223763983}"/>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2572208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0553B-0FF1-43CA-8390-C67312402514}"/>
              </a:ext>
            </a:extLst>
          </p:cNvPr>
          <p:cNvSpPr>
            <a:spLocks noGrp="1"/>
          </p:cNvSpPr>
          <p:nvPr>
            <p:ph type="title"/>
          </p:nvPr>
        </p:nvSpPr>
        <p:spPr/>
        <p:txBody>
          <a:bodyPr>
            <a:noAutofit/>
          </a:bodyPr>
          <a:lstStyle/>
          <a:p>
            <a:r>
              <a:rPr lang="en-GB" dirty="0"/>
              <a:t>Question to the group</a:t>
            </a:r>
          </a:p>
        </p:txBody>
      </p:sp>
      <p:sp>
        <p:nvSpPr>
          <p:cNvPr id="3" name="Content Placeholder 2">
            <a:extLst>
              <a:ext uri="{FF2B5EF4-FFF2-40B4-BE49-F238E27FC236}">
                <a16:creationId xmlns:a16="http://schemas.microsoft.com/office/drawing/2014/main" id="{5FCFC9C7-1F5A-45C4-B555-EB3A3EF02864}"/>
              </a:ext>
            </a:extLst>
          </p:cNvPr>
          <p:cNvSpPr>
            <a:spLocks noGrp="1"/>
          </p:cNvSpPr>
          <p:nvPr>
            <p:ph idx="1"/>
          </p:nvPr>
        </p:nvSpPr>
        <p:spPr>
          <a:xfrm>
            <a:off x="1981200" y="1812175"/>
            <a:ext cx="8229600" cy="3956858"/>
          </a:xfrm>
        </p:spPr>
        <p:txBody>
          <a:bodyPr>
            <a:noAutofit/>
          </a:bodyPr>
          <a:lstStyle/>
          <a:p>
            <a:pPr>
              <a:spcBef>
                <a:spcPts val="1200"/>
              </a:spcBef>
              <a:spcAft>
                <a:spcPts val="1200"/>
              </a:spcAft>
            </a:pPr>
            <a:r>
              <a:rPr lang="en-US" sz="3000" dirty="0"/>
              <a:t>Do you have any questions about your literature searching strategy?</a:t>
            </a:r>
          </a:p>
          <a:p>
            <a:pPr>
              <a:spcBef>
                <a:spcPts val="1200"/>
              </a:spcBef>
              <a:spcAft>
                <a:spcPts val="1200"/>
              </a:spcAft>
            </a:pPr>
            <a:r>
              <a:rPr lang="en-US" sz="3000" dirty="0"/>
              <a:t>Are you happy with your progress on your literature search so far?</a:t>
            </a:r>
          </a:p>
          <a:p>
            <a:pPr>
              <a:spcBef>
                <a:spcPts val="1200"/>
              </a:spcBef>
              <a:spcAft>
                <a:spcPts val="1200"/>
              </a:spcAft>
            </a:pPr>
            <a:r>
              <a:rPr lang="en-US" sz="3000" dirty="0"/>
              <a:t>Do you have any concerns or are you unclear about what you need to do to be able to submit your draft on time?</a:t>
            </a:r>
            <a:endParaRPr lang="en-GB" sz="3000" dirty="0"/>
          </a:p>
        </p:txBody>
      </p:sp>
      <p:sp>
        <p:nvSpPr>
          <p:cNvPr id="4" name="Lightning Bolt 3"/>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Lightning Bolt 4"/>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Lightning Bolt 5"/>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Navy Footer Strip" descr="Footer navy">
            <a:extLst>
              <a:ext uri="{FF2B5EF4-FFF2-40B4-BE49-F238E27FC236}">
                <a16:creationId xmlns:a16="http://schemas.microsoft.com/office/drawing/2014/main" id="{BAE1766E-6D52-4DF8-AF77-36D56E2052ED}"/>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Small White Logo" descr="Small WU logo">
            <a:extLst>
              <a:ext uri="{FF2B5EF4-FFF2-40B4-BE49-F238E27FC236}">
                <a16:creationId xmlns:a16="http://schemas.microsoft.com/office/drawing/2014/main" id="{D8895B0B-24DA-A990-3BE1-4AA0D01133BA}"/>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10" name="Picture 9" descr="short orange tower">
            <a:extLst>
              <a:ext uri="{FF2B5EF4-FFF2-40B4-BE49-F238E27FC236}">
                <a16:creationId xmlns:a16="http://schemas.microsoft.com/office/drawing/2014/main" id="{E20DD232-CC6F-0F3B-B42B-2BDCFCD2685D}"/>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2824185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0553B-0FF1-43CA-8390-C67312402514}"/>
              </a:ext>
            </a:extLst>
          </p:cNvPr>
          <p:cNvSpPr>
            <a:spLocks noGrp="1"/>
          </p:cNvSpPr>
          <p:nvPr>
            <p:ph type="title"/>
          </p:nvPr>
        </p:nvSpPr>
        <p:spPr/>
        <p:txBody>
          <a:bodyPr>
            <a:noAutofit/>
          </a:bodyPr>
          <a:lstStyle/>
          <a:p>
            <a:r>
              <a:rPr lang="en-GB" dirty="0">
                <a:highlight>
                  <a:srgbClr val="00FF00"/>
                </a:highlight>
              </a:rPr>
              <a:t>Empirical Research Students - </a:t>
            </a:r>
            <a:r>
              <a:rPr lang="en-GB" sz="2800" dirty="0"/>
              <a:t>Activity 1 to be undertaken ahead of your next supervision session: Literature</a:t>
            </a:r>
          </a:p>
        </p:txBody>
      </p:sp>
      <p:sp>
        <p:nvSpPr>
          <p:cNvPr id="3" name="Content Placeholder 2">
            <a:extLst>
              <a:ext uri="{FF2B5EF4-FFF2-40B4-BE49-F238E27FC236}">
                <a16:creationId xmlns:a16="http://schemas.microsoft.com/office/drawing/2014/main" id="{5FCFC9C7-1F5A-45C4-B555-EB3A3EF02864}"/>
              </a:ext>
            </a:extLst>
          </p:cNvPr>
          <p:cNvSpPr>
            <a:spLocks noGrp="1"/>
          </p:cNvSpPr>
          <p:nvPr>
            <p:ph idx="1"/>
          </p:nvPr>
        </p:nvSpPr>
        <p:spPr>
          <a:xfrm>
            <a:off x="733530" y="1537417"/>
            <a:ext cx="10440237" cy="4955458"/>
          </a:xfrm>
        </p:spPr>
        <p:txBody>
          <a:bodyPr>
            <a:noAutofit/>
          </a:bodyPr>
          <a:lstStyle/>
          <a:p>
            <a:pPr lvl="1">
              <a:spcBef>
                <a:spcPts val="1200"/>
              </a:spcBef>
              <a:spcAft>
                <a:spcPts val="1200"/>
              </a:spcAft>
            </a:pPr>
            <a:r>
              <a:rPr lang="en-US" sz="2600" dirty="0"/>
              <a:t>What progress you have made so far with your literature searching? Provide your supervisor with a slide including your Search strategy.</a:t>
            </a:r>
          </a:p>
          <a:p>
            <a:pPr lvl="1">
              <a:spcBef>
                <a:spcPts val="1200"/>
              </a:spcBef>
              <a:spcAft>
                <a:spcPts val="1200"/>
              </a:spcAft>
            </a:pPr>
            <a:r>
              <a:rPr lang="en-US" sz="2600" dirty="0"/>
              <a:t>How many articles is your search strategy identifying?</a:t>
            </a:r>
          </a:p>
          <a:p>
            <a:pPr lvl="1">
              <a:spcBef>
                <a:spcPts val="1200"/>
              </a:spcBef>
              <a:spcAft>
                <a:spcPts val="1200"/>
              </a:spcAft>
            </a:pPr>
            <a:r>
              <a:rPr lang="en-US" sz="2600" dirty="0"/>
              <a:t>How will you decide which articles to include in your review ( empirical) or to take forward for analysis ( literature based study)</a:t>
            </a:r>
          </a:p>
          <a:p>
            <a:pPr lvl="1">
              <a:spcBef>
                <a:spcPts val="1200"/>
              </a:spcBef>
              <a:spcAft>
                <a:spcPts val="1200"/>
              </a:spcAft>
            </a:pPr>
            <a:r>
              <a:rPr lang="en-US" sz="2600" dirty="0"/>
              <a:t>Complete the 3 slides for your supervision session and submit via the assessment point on Module – note slide 1 is common to both dissertation routes but slides 2 and 3 are different for empirical and literature based studies.</a:t>
            </a:r>
          </a:p>
        </p:txBody>
      </p:sp>
      <p:sp>
        <p:nvSpPr>
          <p:cNvPr id="4" name="Lightning Bolt 3"/>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Lightning Bolt 4"/>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Navy Footer Strip" descr="Footer navy">
            <a:extLst>
              <a:ext uri="{FF2B5EF4-FFF2-40B4-BE49-F238E27FC236}">
                <a16:creationId xmlns:a16="http://schemas.microsoft.com/office/drawing/2014/main" id="{FD562A14-E583-E2D5-66F5-6C508A3E8BB5}"/>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Small White Logo" descr="Small WU logo">
            <a:extLst>
              <a:ext uri="{FF2B5EF4-FFF2-40B4-BE49-F238E27FC236}">
                <a16:creationId xmlns:a16="http://schemas.microsoft.com/office/drawing/2014/main" id="{29522418-7B9C-77A4-34C7-8B921EEB1DAC}"/>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8" name="Picture 7" descr="short orange tower">
            <a:extLst>
              <a:ext uri="{FF2B5EF4-FFF2-40B4-BE49-F238E27FC236}">
                <a16:creationId xmlns:a16="http://schemas.microsoft.com/office/drawing/2014/main" id="{0A840DC1-6A80-99FD-ADA9-39CC7C3C14A2}"/>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380343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234A8-0BB6-3630-CE5A-D67E2BE9B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4E0BF-A67A-D96D-BA2F-1CDA067ACF9A}"/>
              </a:ext>
            </a:extLst>
          </p:cNvPr>
          <p:cNvSpPr>
            <a:spLocks noGrp="1"/>
          </p:cNvSpPr>
          <p:nvPr>
            <p:ph type="title"/>
          </p:nvPr>
        </p:nvSpPr>
        <p:spPr>
          <a:xfrm>
            <a:off x="838200" y="365125"/>
            <a:ext cx="11460982" cy="1325563"/>
          </a:xfrm>
        </p:spPr>
        <p:txBody>
          <a:bodyPr/>
          <a:lstStyle/>
          <a:p>
            <a:r>
              <a:rPr lang="en-GB" dirty="0"/>
              <a:t>Supervision Slide 1 – Literature Search Strategy</a:t>
            </a:r>
            <a:br>
              <a:rPr lang="en-GB" dirty="0"/>
            </a:br>
            <a:r>
              <a:rPr lang="en-GB" dirty="0"/>
              <a:t>All empirical students to complete</a:t>
            </a:r>
          </a:p>
        </p:txBody>
      </p:sp>
      <p:sp>
        <p:nvSpPr>
          <p:cNvPr id="3" name="Content Placeholder 2">
            <a:extLst>
              <a:ext uri="{FF2B5EF4-FFF2-40B4-BE49-F238E27FC236}">
                <a16:creationId xmlns:a16="http://schemas.microsoft.com/office/drawing/2014/main" id="{3B78325E-5CEF-CE60-B54B-A0B5ADB312E3}"/>
              </a:ext>
            </a:extLst>
          </p:cNvPr>
          <p:cNvSpPr>
            <a:spLocks noGrp="1"/>
          </p:cNvSpPr>
          <p:nvPr>
            <p:ph idx="1"/>
          </p:nvPr>
        </p:nvSpPr>
        <p:spPr/>
        <p:txBody>
          <a:bodyPr lIns="91440" tIns="45720" rIns="91440" bIns="45720" anchor="t">
            <a:normAutofit/>
          </a:bodyPr>
          <a:lstStyle/>
          <a:p>
            <a:r>
              <a:rPr lang="en-GB" dirty="0">
                <a:solidFill>
                  <a:schemeClr val="accent1">
                    <a:lumMod val="60000"/>
                    <a:lumOff val="40000"/>
                  </a:schemeClr>
                </a:solidFill>
              </a:rPr>
              <a:t>Summary of Key Words, search sentences used and Boolean strings</a:t>
            </a:r>
          </a:p>
          <a:p>
            <a:r>
              <a:rPr lang="en-GB" dirty="0">
                <a:solidFill>
                  <a:schemeClr val="accent1">
                    <a:lumMod val="60000"/>
                    <a:lumOff val="40000"/>
                  </a:schemeClr>
                </a:solidFill>
              </a:rPr>
              <a:t>Summary of bibliographic data bases used for searching</a:t>
            </a:r>
          </a:p>
          <a:p>
            <a:r>
              <a:rPr lang="en-GB" dirty="0">
                <a:solidFill>
                  <a:schemeClr val="accent1">
                    <a:lumMod val="60000"/>
                    <a:lumOff val="40000"/>
                  </a:schemeClr>
                </a:solidFill>
              </a:rPr>
              <a:t>Progress to date – how many of your searches have you completed.</a:t>
            </a:r>
          </a:p>
          <a:p>
            <a:r>
              <a:rPr lang="en-GB" dirty="0">
                <a:solidFill>
                  <a:schemeClr val="accent1">
                    <a:lumMod val="60000"/>
                    <a:lumOff val="40000"/>
                  </a:schemeClr>
                </a:solidFill>
              </a:rPr>
              <a:t>Indication of number of articles located through these initial searches</a:t>
            </a:r>
          </a:p>
        </p:txBody>
      </p:sp>
      <p:sp>
        <p:nvSpPr>
          <p:cNvPr id="4" name="Navy Footer Strip" descr="Footer navy">
            <a:extLst>
              <a:ext uri="{FF2B5EF4-FFF2-40B4-BE49-F238E27FC236}">
                <a16:creationId xmlns:a16="http://schemas.microsoft.com/office/drawing/2014/main" id="{7165C667-ED90-479F-025A-E8A01632AA0F}"/>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mall White Logo" descr="Small WU logo">
            <a:extLst>
              <a:ext uri="{FF2B5EF4-FFF2-40B4-BE49-F238E27FC236}">
                <a16:creationId xmlns:a16="http://schemas.microsoft.com/office/drawing/2014/main" id="{CA637810-D3A4-AECC-71BE-97DEBFB08AB3}"/>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6" name="Picture 5" descr="short orange tower">
            <a:extLst>
              <a:ext uri="{FF2B5EF4-FFF2-40B4-BE49-F238E27FC236}">
                <a16:creationId xmlns:a16="http://schemas.microsoft.com/office/drawing/2014/main" id="{C687D4A5-1CF2-BC99-A46E-68B44EC5D8C6}"/>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4259380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8D442-5AD9-CEE2-A6BC-C8FE35C036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1AA73-6C26-A966-5F53-F2FE7C2E138B}"/>
              </a:ext>
            </a:extLst>
          </p:cNvPr>
          <p:cNvSpPr>
            <a:spLocks noGrp="1"/>
          </p:cNvSpPr>
          <p:nvPr>
            <p:ph type="title"/>
          </p:nvPr>
        </p:nvSpPr>
        <p:spPr>
          <a:xfrm>
            <a:off x="838200" y="365125"/>
            <a:ext cx="11460982" cy="1325563"/>
          </a:xfrm>
        </p:spPr>
        <p:txBody>
          <a:bodyPr/>
          <a:lstStyle/>
          <a:p>
            <a:r>
              <a:rPr lang="en-GB" dirty="0"/>
              <a:t>Supervision Slide 2 – Literature Search Strategy</a:t>
            </a:r>
            <a:br>
              <a:rPr lang="en-GB" dirty="0"/>
            </a:br>
            <a:r>
              <a:rPr lang="en-GB" dirty="0"/>
              <a:t>Empirical Research Students only</a:t>
            </a:r>
          </a:p>
        </p:txBody>
      </p:sp>
      <p:sp>
        <p:nvSpPr>
          <p:cNvPr id="3" name="Content Placeholder 2">
            <a:extLst>
              <a:ext uri="{FF2B5EF4-FFF2-40B4-BE49-F238E27FC236}">
                <a16:creationId xmlns:a16="http://schemas.microsoft.com/office/drawing/2014/main" id="{94E5262D-5E01-E94B-B765-F211BF6480DA}"/>
              </a:ext>
            </a:extLst>
          </p:cNvPr>
          <p:cNvSpPr>
            <a:spLocks noGrp="1"/>
          </p:cNvSpPr>
          <p:nvPr>
            <p:ph idx="1"/>
          </p:nvPr>
        </p:nvSpPr>
        <p:spPr/>
        <p:txBody>
          <a:bodyPr lIns="91440" tIns="45720" rIns="91440" bIns="45720" anchor="t">
            <a:normAutofit/>
          </a:bodyPr>
          <a:lstStyle/>
          <a:p>
            <a:r>
              <a:rPr lang="en-GB" dirty="0">
                <a:solidFill>
                  <a:schemeClr val="accent1">
                    <a:lumMod val="60000"/>
                    <a:lumOff val="40000"/>
                  </a:schemeClr>
                </a:solidFill>
              </a:rPr>
              <a:t>From your initial searches, what are the key academic theories relevant to your topic</a:t>
            </a:r>
          </a:p>
          <a:p>
            <a:r>
              <a:rPr lang="en-GB" dirty="0">
                <a:solidFill>
                  <a:schemeClr val="accent1">
                    <a:lumMod val="60000"/>
                    <a:lumOff val="40000"/>
                  </a:schemeClr>
                </a:solidFill>
              </a:rPr>
              <a:t>What definitions are you using for areas within your research?</a:t>
            </a:r>
          </a:p>
          <a:p>
            <a:endParaRPr lang="en-GB" dirty="0">
              <a:solidFill>
                <a:schemeClr val="accent1">
                  <a:lumMod val="60000"/>
                  <a:lumOff val="40000"/>
                </a:schemeClr>
              </a:solidFill>
            </a:endParaRPr>
          </a:p>
        </p:txBody>
      </p:sp>
      <p:sp>
        <p:nvSpPr>
          <p:cNvPr id="4" name="Navy Footer Strip" descr="Footer navy">
            <a:extLst>
              <a:ext uri="{FF2B5EF4-FFF2-40B4-BE49-F238E27FC236}">
                <a16:creationId xmlns:a16="http://schemas.microsoft.com/office/drawing/2014/main" id="{9FCBABEF-E106-0031-DE70-04BC280EB42D}"/>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mall White Logo" descr="Small WU logo">
            <a:extLst>
              <a:ext uri="{FF2B5EF4-FFF2-40B4-BE49-F238E27FC236}">
                <a16:creationId xmlns:a16="http://schemas.microsoft.com/office/drawing/2014/main" id="{D56CD4CD-2FD1-BC38-EE40-51A535821B49}"/>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6" name="Picture 5" descr="short orange tower">
            <a:extLst>
              <a:ext uri="{FF2B5EF4-FFF2-40B4-BE49-F238E27FC236}">
                <a16:creationId xmlns:a16="http://schemas.microsoft.com/office/drawing/2014/main" id="{E5623C47-4136-2ACB-C143-7CF1AA4BFCAE}"/>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718278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57A8D-640A-8DCB-00DD-2BCD79E8F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711E2-F775-3F64-621C-88A2EA4718A6}"/>
              </a:ext>
            </a:extLst>
          </p:cNvPr>
          <p:cNvSpPr>
            <a:spLocks noGrp="1"/>
          </p:cNvSpPr>
          <p:nvPr>
            <p:ph type="title"/>
          </p:nvPr>
        </p:nvSpPr>
        <p:spPr>
          <a:xfrm>
            <a:off x="838200" y="365125"/>
            <a:ext cx="11460982" cy="1325563"/>
          </a:xfrm>
        </p:spPr>
        <p:txBody>
          <a:bodyPr/>
          <a:lstStyle/>
          <a:p>
            <a:r>
              <a:rPr lang="en-GB" dirty="0"/>
              <a:t>Supervision Slide 3 – Literature Search Strategy</a:t>
            </a:r>
            <a:br>
              <a:rPr lang="en-GB" dirty="0"/>
            </a:br>
            <a:r>
              <a:rPr lang="en-GB" dirty="0"/>
              <a:t>Empirical Research Students only</a:t>
            </a:r>
          </a:p>
        </p:txBody>
      </p:sp>
      <p:sp>
        <p:nvSpPr>
          <p:cNvPr id="3" name="Content Placeholder 2">
            <a:extLst>
              <a:ext uri="{FF2B5EF4-FFF2-40B4-BE49-F238E27FC236}">
                <a16:creationId xmlns:a16="http://schemas.microsoft.com/office/drawing/2014/main" id="{B12B8EA1-9127-C5AD-40B6-CE7C0A20B390}"/>
              </a:ext>
            </a:extLst>
          </p:cNvPr>
          <p:cNvSpPr>
            <a:spLocks noGrp="1"/>
          </p:cNvSpPr>
          <p:nvPr>
            <p:ph idx="1"/>
          </p:nvPr>
        </p:nvSpPr>
        <p:spPr/>
        <p:txBody>
          <a:bodyPr lIns="91440" tIns="45720" rIns="91440" bIns="45720" anchor="t">
            <a:normAutofit/>
          </a:bodyPr>
          <a:lstStyle/>
          <a:p>
            <a:r>
              <a:rPr lang="en-GB" dirty="0">
                <a:solidFill>
                  <a:schemeClr val="accent1">
                    <a:lumMod val="60000"/>
                    <a:lumOff val="40000"/>
                  </a:schemeClr>
                </a:solidFill>
              </a:rPr>
              <a:t>Have you identified a gap in knowledge from your literature searched?</a:t>
            </a:r>
          </a:p>
          <a:p>
            <a:r>
              <a:rPr lang="en-GB" dirty="0">
                <a:solidFill>
                  <a:schemeClr val="accent1">
                    <a:lumMod val="60000"/>
                    <a:lumOff val="40000"/>
                  </a:schemeClr>
                </a:solidFill>
              </a:rPr>
              <a:t>What is this gap?</a:t>
            </a:r>
          </a:p>
          <a:p>
            <a:r>
              <a:rPr lang="en-GB" dirty="0">
                <a:solidFill>
                  <a:schemeClr val="accent1">
                    <a:lumMod val="60000"/>
                    <a:lumOff val="40000"/>
                  </a:schemeClr>
                </a:solidFill>
              </a:rPr>
              <a:t>How does that gap relate to your research question?</a:t>
            </a:r>
          </a:p>
          <a:p>
            <a:r>
              <a:rPr lang="en-GB" dirty="0">
                <a:solidFill>
                  <a:schemeClr val="accent1">
                    <a:lumMod val="60000"/>
                    <a:lumOff val="40000"/>
                  </a:schemeClr>
                </a:solidFill>
              </a:rPr>
              <a:t>Will you now refine your research question based on what you have found out from your searches?</a:t>
            </a:r>
          </a:p>
        </p:txBody>
      </p:sp>
      <p:sp>
        <p:nvSpPr>
          <p:cNvPr id="4" name="Navy Footer Strip" descr="Footer navy">
            <a:extLst>
              <a:ext uri="{FF2B5EF4-FFF2-40B4-BE49-F238E27FC236}">
                <a16:creationId xmlns:a16="http://schemas.microsoft.com/office/drawing/2014/main" id="{C0B56855-FA04-B45D-4BD6-1198C355965F}"/>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mall White Logo" descr="Small WU logo">
            <a:extLst>
              <a:ext uri="{FF2B5EF4-FFF2-40B4-BE49-F238E27FC236}">
                <a16:creationId xmlns:a16="http://schemas.microsoft.com/office/drawing/2014/main" id="{31061EB5-4442-DAA3-E926-17099BCB5F12}"/>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6" name="Picture 5" descr="short orange tower">
            <a:extLst>
              <a:ext uri="{FF2B5EF4-FFF2-40B4-BE49-F238E27FC236}">
                <a16:creationId xmlns:a16="http://schemas.microsoft.com/office/drawing/2014/main" id="{DC258C33-6CAB-F97E-52D6-DBF229F03B8C}"/>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1266438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Next on-line lecture session</a:t>
            </a:r>
          </a:p>
        </p:txBody>
      </p:sp>
      <p:sp>
        <p:nvSpPr>
          <p:cNvPr id="3" name="Content Placeholder 2"/>
          <p:cNvSpPr>
            <a:spLocks noGrp="1"/>
          </p:cNvSpPr>
          <p:nvPr>
            <p:ph idx="1"/>
          </p:nvPr>
        </p:nvSpPr>
        <p:spPr>
          <a:xfrm>
            <a:off x="737717" y="1027906"/>
            <a:ext cx="10515600" cy="4351338"/>
          </a:xfrm>
        </p:spPr>
        <p:txBody>
          <a:bodyPr lIns="91440" tIns="45720" rIns="91440" bIns="45720" anchor="t">
            <a:normAutofit/>
          </a:bodyPr>
          <a:lstStyle/>
          <a:p>
            <a:pPr marL="0" indent="0">
              <a:buNone/>
            </a:pPr>
            <a:endParaRPr lang="en-GB" dirty="0"/>
          </a:p>
          <a:p>
            <a:pPr marL="0" indent="0">
              <a:buNone/>
            </a:pPr>
            <a:endParaRPr lang="en-GB" dirty="0"/>
          </a:p>
          <a:p>
            <a:pPr marL="0" indent="0">
              <a:buNone/>
            </a:pPr>
            <a:r>
              <a:rPr lang="en-GB" dirty="0"/>
              <a:t>This will take place at the beginning of April 2025 and will cover:</a:t>
            </a:r>
          </a:p>
          <a:p>
            <a:r>
              <a:rPr lang="en-GB" dirty="0"/>
              <a:t>Your </a:t>
            </a:r>
            <a:r>
              <a:rPr lang="en-GB" b="1" dirty="0"/>
              <a:t>analysis</a:t>
            </a:r>
            <a:r>
              <a:rPr lang="en-GB" dirty="0"/>
              <a:t> </a:t>
            </a:r>
          </a:p>
          <a:p>
            <a:r>
              <a:rPr lang="en-GB" dirty="0"/>
              <a:t>Your </a:t>
            </a:r>
            <a:r>
              <a:rPr lang="en-GB" b="1" dirty="0"/>
              <a:t>results/findings and discussion </a:t>
            </a:r>
          </a:p>
          <a:p>
            <a:r>
              <a:rPr lang="en-GB" dirty="0"/>
              <a:t>Your </a:t>
            </a:r>
            <a:r>
              <a:rPr lang="en-GB" b="1" dirty="0"/>
              <a:t>conclusion</a:t>
            </a:r>
            <a:r>
              <a:rPr lang="en-GB" dirty="0"/>
              <a:t> chapter</a:t>
            </a:r>
          </a:p>
          <a:p>
            <a:pPr marL="0" indent="0">
              <a:buNone/>
            </a:pPr>
            <a:endParaRPr lang="en-GB" dirty="0"/>
          </a:p>
        </p:txBody>
      </p:sp>
      <p:sp>
        <p:nvSpPr>
          <p:cNvPr id="4" name="Navy Footer Strip" descr="Footer navy">
            <a:extLst>
              <a:ext uri="{FF2B5EF4-FFF2-40B4-BE49-F238E27FC236}">
                <a16:creationId xmlns:a16="http://schemas.microsoft.com/office/drawing/2014/main" id="{8E8E5D6E-A0E0-16B9-C951-98431E5AB5CB}"/>
              </a:ext>
            </a:extLst>
          </p:cNvPr>
          <p:cNvSpPr/>
          <p:nvPr/>
        </p:nvSpPr>
        <p:spPr>
          <a:xfrm>
            <a:off x="0" y="5974080"/>
            <a:ext cx="12192000" cy="883920"/>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mall White Logo" descr="Small WU logo">
            <a:extLst>
              <a:ext uri="{FF2B5EF4-FFF2-40B4-BE49-F238E27FC236}">
                <a16:creationId xmlns:a16="http://schemas.microsoft.com/office/drawing/2014/main" id="{F4534A0B-4958-8171-DA2E-AB043FA12D81}"/>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6" name="Picture 5" descr="short orange tower">
            <a:extLst>
              <a:ext uri="{FF2B5EF4-FFF2-40B4-BE49-F238E27FC236}">
                <a16:creationId xmlns:a16="http://schemas.microsoft.com/office/drawing/2014/main" id="{3DE21C1A-9123-7F37-5BAB-384EA8862CDC}"/>
              </a:ext>
            </a:extLst>
          </p:cNvPr>
          <p:cNvPicPr>
            <a:picLocks noChangeAspect="1"/>
          </p:cNvPicPr>
          <p:nvPr/>
        </p:nvPicPr>
        <p:blipFill>
          <a:blip r:embed="rId4"/>
          <a:srcRect/>
          <a:stretch/>
        </p:blipFill>
        <p:spPr>
          <a:xfrm>
            <a:off x="11084876" y="5363376"/>
            <a:ext cx="548323" cy="1494624"/>
          </a:xfrm>
          <a:prstGeom prst="rect">
            <a:avLst/>
          </a:prstGeom>
        </p:spPr>
      </p:pic>
    </p:spTree>
    <p:extLst>
      <p:ext uri="{BB962C8B-B14F-4D97-AF65-F5344CB8AC3E}">
        <p14:creationId xmlns:p14="http://schemas.microsoft.com/office/powerpoint/2010/main" val="797093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9869-BA26-486A-A74A-F8AC2F9C75FF}"/>
              </a:ext>
            </a:extLst>
          </p:cNvPr>
          <p:cNvSpPr>
            <a:spLocks noGrp="1"/>
          </p:cNvSpPr>
          <p:nvPr>
            <p:ph type="ctrTitle"/>
          </p:nvPr>
        </p:nvSpPr>
        <p:spPr>
          <a:xfrm>
            <a:off x="95903" y="385382"/>
            <a:ext cx="7772400" cy="1777429"/>
          </a:xfrm>
        </p:spPr>
        <p:txBody>
          <a:bodyPr>
            <a:normAutofit fontScale="90000"/>
          </a:bodyPr>
          <a:lstStyle/>
          <a:p>
            <a:r>
              <a:rPr lang="en-GB" sz="7000" i="1" dirty="0"/>
              <a:t>Attendance</a:t>
            </a:r>
            <a:br>
              <a:rPr lang="en-GB" sz="7000" i="1" dirty="0"/>
            </a:br>
            <a:r>
              <a:rPr lang="en-GB" sz="3100" i="1" dirty="0"/>
              <a:t>To record your attendance please scan the QR code or enter the https: link into your browser and then record your student details</a:t>
            </a:r>
            <a:br>
              <a:rPr lang="en-GB" sz="4000" i="1" dirty="0"/>
            </a:br>
            <a:br>
              <a:rPr lang="en-GB" sz="4000" i="1" dirty="0"/>
            </a:br>
            <a:endParaRPr lang="en-GB" sz="3600" b="1" dirty="0"/>
          </a:p>
        </p:txBody>
      </p:sp>
      <p:sp>
        <p:nvSpPr>
          <p:cNvPr id="4" name="Lightning Bolt 3"/>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Lightning Bolt 4"/>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Lightning Bolt 6"/>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Lightning Bolt 7"/>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Lightning Bolt 10"/>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Lightning Bolt 11"/>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Lightning Bolt 2"/>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Lightning Bolt 5"/>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Lightning Bolt 8"/>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Lightning Bolt 9"/>
          <p:cNvSpPr/>
          <p:nvPr/>
        </p:nvSpPr>
        <p:spPr>
          <a:xfrm>
            <a:off x="1524000" y="0"/>
            <a:ext cx="0" cy="0"/>
          </a:xfrm>
          <a:prstGeom prst="lightningBolt">
            <a:avLst/>
          </a:prstGeom>
          <a:gradFill flip="none" rotWithShape="1">
            <a:gsLst>
              <a:gs pos="0">
                <a:schemeClr val="accent5"/>
              </a:gs>
              <a:gs pos="100000">
                <a:schemeClr val="accent1">
                  <a:tint val="50000"/>
                  <a:shade val="100000"/>
                  <a:satMod val="35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Navy Footer Strip" descr="Footer navy">
            <a:extLst>
              <a:ext uri="{FF2B5EF4-FFF2-40B4-BE49-F238E27FC236}">
                <a16:creationId xmlns:a16="http://schemas.microsoft.com/office/drawing/2014/main" id="{300DD31A-08A7-479F-E414-AE15C37B5B2D}"/>
              </a:ext>
            </a:extLst>
          </p:cNvPr>
          <p:cNvSpPr/>
          <p:nvPr/>
        </p:nvSpPr>
        <p:spPr>
          <a:xfrm>
            <a:off x="0" y="5811253"/>
            <a:ext cx="12192000" cy="1028299"/>
          </a:xfrm>
          <a:prstGeom prst="rect">
            <a:avLst/>
          </a:prstGeom>
          <a:solidFill>
            <a:srgbClr val="141F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Small White Logo" descr="Small WU logo">
            <a:extLst>
              <a:ext uri="{FF2B5EF4-FFF2-40B4-BE49-F238E27FC236}">
                <a16:creationId xmlns:a16="http://schemas.microsoft.com/office/drawing/2014/main" id="{0413F86C-84D9-4575-9DCF-E40ECC53784D}"/>
              </a:ext>
            </a:extLst>
          </p:cNvPr>
          <p:cNvPicPr>
            <a:picLocks noChangeAspect="1"/>
          </p:cNvPicPr>
          <p:nvPr/>
        </p:nvPicPr>
        <p:blipFill>
          <a:blip r:embed="rId3"/>
          <a:stretch>
            <a:fillRect/>
          </a:stretch>
        </p:blipFill>
        <p:spPr>
          <a:xfrm>
            <a:off x="534811" y="6217213"/>
            <a:ext cx="1801495" cy="397654"/>
          </a:xfrm>
          <a:prstGeom prst="rect">
            <a:avLst/>
          </a:prstGeom>
        </p:spPr>
      </p:pic>
      <p:pic>
        <p:nvPicPr>
          <p:cNvPr id="15" name="Picture 14" descr="short orange tower">
            <a:extLst>
              <a:ext uri="{FF2B5EF4-FFF2-40B4-BE49-F238E27FC236}">
                <a16:creationId xmlns:a16="http://schemas.microsoft.com/office/drawing/2014/main" id="{DEEDDB4A-2126-AB99-1030-7790B00686D5}"/>
              </a:ext>
            </a:extLst>
          </p:cNvPr>
          <p:cNvPicPr>
            <a:picLocks noChangeAspect="1"/>
          </p:cNvPicPr>
          <p:nvPr/>
        </p:nvPicPr>
        <p:blipFill>
          <a:blip r:embed="rId4"/>
          <a:srcRect/>
          <a:stretch/>
        </p:blipFill>
        <p:spPr>
          <a:xfrm>
            <a:off x="11084876" y="5363376"/>
            <a:ext cx="548323" cy="1494624"/>
          </a:xfrm>
          <a:prstGeom prst="rect">
            <a:avLst/>
          </a:prstGeom>
        </p:spPr>
      </p:pic>
      <p:sp>
        <p:nvSpPr>
          <p:cNvPr id="18" name="TextBox 17">
            <a:extLst>
              <a:ext uri="{FF2B5EF4-FFF2-40B4-BE49-F238E27FC236}">
                <a16:creationId xmlns:a16="http://schemas.microsoft.com/office/drawing/2014/main" id="{402BC520-0BE5-9086-50AC-BCA824D34472}"/>
              </a:ext>
            </a:extLst>
          </p:cNvPr>
          <p:cNvSpPr txBox="1"/>
          <p:nvPr/>
        </p:nvSpPr>
        <p:spPr>
          <a:xfrm>
            <a:off x="421984" y="3276600"/>
            <a:ext cx="7120237" cy="584775"/>
          </a:xfrm>
          <a:prstGeom prst="rect">
            <a:avLst/>
          </a:prstGeom>
          <a:noFill/>
        </p:spPr>
        <p:txBody>
          <a:bodyPr wrap="square">
            <a:spAutoFit/>
          </a:bodyPr>
          <a:lstStyle/>
          <a:p>
            <a:r>
              <a:rPr lang="en-GB" sz="3200" dirty="0"/>
              <a:t>https://forms.office.com/e/RWg0pBRcNA</a:t>
            </a:r>
          </a:p>
        </p:txBody>
      </p:sp>
      <p:pic>
        <p:nvPicPr>
          <p:cNvPr id="21" name="Picture 20" descr="A qr code on a blue background&#10;&#10;AI-generated content may be incorrect.">
            <a:extLst>
              <a:ext uri="{FF2B5EF4-FFF2-40B4-BE49-F238E27FC236}">
                <a16:creationId xmlns:a16="http://schemas.microsoft.com/office/drawing/2014/main" id="{E81FEF77-D5B4-3FD8-7B82-2C37B2A17EF2}"/>
              </a:ext>
            </a:extLst>
          </p:cNvPr>
          <p:cNvPicPr>
            <a:picLocks noChangeAspect="1"/>
          </p:cNvPicPr>
          <p:nvPr/>
        </p:nvPicPr>
        <p:blipFill>
          <a:blip r:embed="rId5"/>
          <a:stretch>
            <a:fillRect/>
          </a:stretch>
        </p:blipFill>
        <p:spPr>
          <a:xfrm>
            <a:off x="7542221" y="970280"/>
            <a:ext cx="4465320" cy="4465320"/>
          </a:xfrm>
          <a:prstGeom prst="rect">
            <a:avLst/>
          </a:prstGeom>
        </p:spPr>
      </p:pic>
    </p:spTree>
    <p:extLst>
      <p:ext uri="{BB962C8B-B14F-4D97-AF65-F5344CB8AC3E}">
        <p14:creationId xmlns:p14="http://schemas.microsoft.com/office/powerpoint/2010/main" val="11902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12aec8b-b971-4cee-b4cb-85f2f22e26b6">
      <UserInfo>
        <DisplayName>Janakan Sothinathan</DisplayName>
        <AccountId>21</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45E4877B5403049B20E8D2FD788F1E2" ma:contentTypeVersion="6" ma:contentTypeDescription="Create a new document." ma:contentTypeScope="" ma:versionID="c20ef877c2cf2831fd3dcb247018c149">
  <xsd:schema xmlns:xsd="http://www.w3.org/2001/XMLSchema" xmlns:xs="http://www.w3.org/2001/XMLSchema" xmlns:p="http://schemas.microsoft.com/office/2006/metadata/properties" xmlns:ns2="0e0d316d-6232-4db7-8be8-2c3673700e62" xmlns:ns3="812aec8b-b971-4cee-b4cb-85f2f22e26b6" targetNamespace="http://schemas.microsoft.com/office/2006/metadata/properties" ma:root="true" ma:fieldsID="ee92f5a19dc8768d57c8c662f98bd51d" ns2:_="" ns3:_="">
    <xsd:import namespace="0e0d316d-6232-4db7-8be8-2c3673700e62"/>
    <xsd:import namespace="812aec8b-b971-4cee-b4cb-85f2f22e26b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0d316d-6232-4db7-8be8-2c3673700e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12aec8b-b971-4cee-b4cb-85f2f22e26b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110C7F6-B3F4-41D8-AEE7-063A9836610A}">
  <ds:schemaRefs>
    <ds:schemaRef ds:uri="http://schemas.microsoft.com/office/2006/metadata/properties"/>
    <ds:schemaRef ds:uri="http://schemas.microsoft.com/office/infopath/2007/PartnerControls"/>
    <ds:schemaRef ds:uri="812aec8b-b971-4cee-b4cb-85f2f22e26b6"/>
  </ds:schemaRefs>
</ds:datastoreItem>
</file>

<file path=customXml/itemProps2.xml><?xml version="1.0" encoding="utf-8"?>
<ds:datastoreItem xmlns:ds="http://schemas.openxmlformats.org/officeDocument/2006/customXml" ds:itemID="{3A8C5712-83D7-4238-97E3-2BEA21504D03}">
  <ds:schemaRefs>
    <ds:schemaRef ds:uri="http://schemas.microsoft.com/sharepoint/v3/contenttype/forms"/>
  </ds:schemaRefs>
</ds:datastoreItem>
</file>

<file path=customXml/itemProps3.xml><?xml version="1.0" encoding="utf-8"?>
<ds:datastoreItem xmlns:ds="http://schemas.openxmlformats.org/officeDocument/2006/customXml" ds:itemID="{ADA19E0C-D404-4C62-BE31-07BF7ADD20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0d316d-6232-4db7-8be8-2c3673700e62"/>
    <ds:schemaRef ds:uri="812aec8b-b971-4cee-b4cb-85f2f22e26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406</TotalTime>
  <Words>3774</Words>
  <Application>Microsoft Office PowerPoint</Application>
  <PresentationFormat>Widescreen</PresentationFormat>
  <Paragraphs>254</Paragraphs>
  <Slides>24</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Times New Roman</vt:lpstr>
      <vt:lpstr>Arial</vt:lpstr>
      <vt:lpstr>Clash Display Medium</vt:lpstr>
      <vt:lpstr>Calibri</vt:lpstr>
      <vt:lpstr>Wingdings</vt:lpstr>
      <vt:lpstr>Courier New</vt:lpstr>
      <vt:lpstr>Office Theme</vt:lpstr>
      <vt:lpstr>Front Slide Option 1</vt:lpstr>
      <vt:lpstr>Research Study Options: </vt:lpstr>
      <vt:lpstr>Scheduled touch-points: BUS7C4</vt:lpstr>
      <vt:lpstr>Touch-point session three:  Literature review/collecting sources</vt:lpstr>
      <vt:lpstr>BUS7C4 Research Project  This month</vt:lpstr>
      <vt:lpstr>This month</vt:lpstr>
      <vt:lpstr>This month</vt:lpstr>
      <vt:lpstr>BUS7C4: Learning Resources</vt:lpstr>
      <vt:lpstr>BUS7C4: Learning Resources</vt:lpstr>
      <vt:lpstr>Formative Submission: Draft dissertation submission opportunity 1</vt:lpstr>
      <vt:lpstr>Literature</vt:lpstr>
      <vt:lpstr>Learning Outcome</vt:lpstr>
      <vt:lpstr>Final Dissertation Marking Criteria: Empirical-Based Research Studies </vt:lpstr>
      <vt:lpstr>Literature Review: Content Guidelines (Empirical-Based Research Studies)</vt:lpstr>
      <vt:lpstr>Literature Review: Content Guidelines (Empirical-Based Research Studies)</vt:lpstr>
      <vt:lpstr>Final Dissertation Marking Criteria: Project Based Research Studies</vt:lpstr>
      <vt:lpstr>Draft chapter: Aims</vt:lpstr>
      <vt:lpstr>Question to the group</vt:lpstr>
      <vt:lpstr>Empirical Research Students - Activity 1 to be undertaken ahead of your next supervision session: Literature</vt:lpstr>
      <vt:lpstr>Supervision Slide 1 – Literature Search Strategy All empirical students to complete</vt:lpstr>
      <vt:lpstr>Supervision Slide 2 – Literature Search Strategy Empirical Research Students only</vt:lpstr>
      <vt:lpstr>Supervision Slide 3 – Literature Search Strategy Empirical Research Students only</vt:lpstr>
      <vt:lpstr>Next on-line lecture session</vt:lpstr>
      <vt:lpstr>Attendance To record your attendance please scan the QR code or enter the https: link into your browser and then record your student details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2431</dc:creator>
  <cp:lastModifiedBy>Jill Newman</cp:lastModifiedBy>
  <cp:revision>75</cp:revision>
  <dcterms:created xsi:type="dcterms:W3CDTF">2023-04-21T12:16:35Z</dcterms:created>
  <dcterms:modified xsi:type="dcterms:W3CDTF">2025-10-22T20:59:20Z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0x010100F45E4877B5403049B20E8D2FD788F1E2</vt:lpwstr>
  </property>
</Properties>
</file>